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F172A"/>
                </a:solidFill>
                <a:latin typeface="Pretendard"/>
              </a:rPr>
              <a:t>triPilot 진행 공유 (팀명: A-COPilot)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154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155"/>
                </a:solidFill>
                <a:latin typeface="Pretendard"/>
              </a:rPr>
              <a:t>CI/CD · 유스케이스 · 공통 플로우 · 화면 목업  |  2026. 9. 28.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Pretendard"/>
              </a:rPr>
              <a:t>CI/CD: 합칠 때마다 자동 검사 — develop·main 두 관문 (GitHub Actions)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804672"/>
            <a:ext cx="1135684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2" y="411480"/>
            <a:ext cx="1316736" cy="2194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960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Pretendard"/>
              </a:rPr>
              <a:t>develop 관문 — 빠른 검사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21031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  <a:latin typeface="Pretendard"/>
              </a:rPr>
              <a:t>push / PR</a:t>
            </a:r>
          </a:p>
          <a:p>
            <a:r>
              <a:rPr sz="900" b="0">
                <a:solidFill>
                  <a:srgbClr val="0F172A"/>
                </a:solidFill>
                <a:latin typeface="Pretendard"/>
              </a:rPr>
              <a:t>develop 브랜치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06040" y="1627632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71800" y="1325880"/>
            <a:ext cx="2103120" cy="82296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  <a:latin typeface="Pretendard"/>
              </a:rPr>
              <a:t>ruff 린트</a:t>
            </a:r>
          </a:p>
          <a:p>
            <a:r>
              <a:rPr sz="900" b="0">
                <a:solidFill>
                  <a:srgbClr val="0F172A"/>
                </a:solidFill>
                <a:latin typeface="Pretendard"/>
              </a:rPr>
              <a:t>버그 규칙(F·E9)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120640" y="1627632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0" y="1325880"/>
            <a:ext cx="2743200" cy="82296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  <a:latin typeface="Pretendard"/>
              </a:rPr>
              <a:t>architecture·contract·unit 시험</a:t>
            </a:r>
          </a:p>
          <a:p>
            <a:r>
              <a:rPr sz="900" b="0">
                <a:solidFill>
                  <a:srgbClr val="0F172A"/>
                </a:solidFill>
                <a:latin typeface="Pretendard"/>
              </a:rPr>
              <a:t>PostgreSQL(pgvector) 컨테이너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Pretendard"/>
              </a:rPr>
              <a:t>main 관문 — 내보내기 전 전부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43200"/>
            <a:ext cx="21031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  <a:latin typeface="Pretendard"/>
              </a:rPr>
              <a:t>push / PR</a:t>
            </a:r>
          </a:p>
          <a:p>
            <a:r>
              <a:rPr sz="900" b="0">
                <a:solidFill>
                  <a:srgbClr val="0F172A"/>
                </a:solidFill>
                <a:latin typeface="Pretendard"/>
              </a:rPr>
              <a:t>main 브랜치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06040" y="3044952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71800" y="2743200"/>
            <a:ext cx="2103120" cy="822960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  <a:latin typeface="Pretendard"/>
              </a:rPr>
              <a:t>ruff 린트</a:t>
            </a:r>
          </a:p>
          <a:p>
            <a:r>
              <a:rPr sz="900" b="0">
                <a:solidFill>
                  <a:srgbClr val="0F172A"/>
                </a:solidFill>
                <a:latin typeface="Pretendard"/>
              </a:rPr>
              <a:t>+ 아키텍처 시험 먼저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20640" y="3044952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0" y="2743200"/>
            <a:ext cx="2743200" cy="822960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  <a:latin typeface="Pretendard"/>
              </a:rPr>
              <a:t>전체 시험(live 제외)</a:t>
            </a:r>
          </a:p>
          <a:p>
            <a:r>
              <a:rPr sz="900" b="0">
                <a:solidFill>
                  <a:srgbClr val="0F172A"/>
                </a:solidFill>
                <a:latin typeface="Pretendard"/>
              </a:rPr>
              <a:t>데모 데이터 시드 후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275320" y="3044952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41080" y="2743200"/>
            <a:ext cx="2194560" cy="82296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  <a:latin typeface="Pretendard"/>
              </a:rPr>
              <a:t>Docker 빌드</a:t>
            </a:r>
          </a:p>
          <a:p>
            <a:r>
              <a:rPr sz="900" b="0">
                <a:solidFill>
                  <a:srgbClr val="0F172A"/>
                </a:solidFill>
                <a:latin typeface="Pretendard"/>
              </a:rPr>
              <a:t>(이미지 push 없음)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retendard"/>
              </a:rPr>
              <a:t>• 정한 원칙: 누가 올려도 공용 브랜치가 깨지지 않게 — 검사 실패 시 병합하지 않는다</a:t>
            </a:r>
          </a:p>
          <a:p>
            <a:r>
              <a:rPr sz="1200" b="0">
                <a:solidFill>
                  <a:srgbClr val="475569"/>
                </a:solidFill>
                <a:latin typeface="Pretendard"/>
              </a:rPr>
              <a:t>• LLM 은 mock, 환경값은 전부 시험용 가짜 — 실제 키·서버 주소를 CI 에 넣지 않는다</a:t>
            </a:r>
          </a:p>
          <a:p>
            <a:r>
              <a:rPr sz="1200" b="0">
                <a:solidFill>
                  <a:srgbClr val="475569"/>
                </a:solidFill>
                <a:latin typeface="Pretendard"/>
              </a:rPr>
              <a:t>• 실제 LLM 시험(live)과 RAG 통합 시험(실제 임베딩 필요)은 CI 에서 빼고 로컬에서 돌린다</a:t>
            </a:r>
          </a:p>
          <a:p>
            <a:r>
              <a:rPr sz="1200" b="0">
                <a:solidFill>
                  <a:srgbClr val="475569"/>
                </a:solidFill>
                <a:latin typeface="Pretendard"/>
              </a:rPr>
              <a:t>• CD: 지금은 이미지 빌드까지 — MVP 는 로컬 실행이라 자동 배포 대상 서버가 없다(cs Dockerfile 은 다음 단계)</a:t>
            </a:r>
          </a:p>
          <a:p>
            <a:r>
              <a:rPr sz="1200" b="0">
                <a:solidFill>
                  <a:srgbClr val="475569"/>
                </a:solidFill>
                <a:latin typeface="Pretendard"/>
              </a:rPr>
              <a:t>• 도입 때 걸린 91건 정리(자동수정 74·수동 11), 깨끗한 환경 재현: develop 1,015 · main 1,400 통과(09-24)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Pretendard"/>
              </a:rPr>
              <a:t>유스케이스: 여행자·개인 에이전트 27개 · 개발·운영팀 18개 — 운영자는 없다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804672"/>
            <a:ext cx="1135684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2" y="411480"/>
            <a:ext cx="1316736" cy="2194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960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Pretendard"/>
              </a:rPr>
              <a:t>행위자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Pretendard"/>
              </a:rPr>
              <a:t>• 여행자 — 서울 자유여행 외국인, 최대 4인</a:t>
            </a:r>
          </a:p>
          <a:p>
            <a:r>
              <a:rPr sz="1100" b="0">
                <a:solidFill>
                  <a:srgbClr val="475569"/>
                </a:solidFill>
                <a:latin typeface="Pretendard"/>
              </a:rPr>
              <a:t>• 개인 에이전트 — REST /v1/trips · A2A</a:t>
            </a:r>
          </a:p>
          <a:p>
            <a:r>
              <a:rPr sz="1100" b="0">
                <a:solidFill>
                  <a:srgbClr val="475569"/>
                </a:solidFill>
                <a:latin typeface="Pretendard"/>
              </a:rPr>
              <a:t>• 시계 — 스케줄러 · 3분 감시</a:t>
            </a:r>
          </a:p>
          <a:p>
            <a:r>
              <a:rPr sz="1100" b="0">
                <a:solidFill>
                  <a:srgbClr val="475569"/>
                </a:solidFill>
                <a:latin typeface="Pretendard"/>
              </a:rPr>
              <a:t>• 외부 데이터 — 기상·대기·관광·교통·재난</a:t>
            </a:r>
          </a:p>
          <a:p>
            <a:r>
              <a:rPr sz="1100" b="0">
                <a:solidFill>
                  <a:srgbClr val="475569"/>
                </a:solidFill>
                <a:latin typeface="Pretendard"/>
              </a:rPr>
              <a:t>• 알림 채널 — 디스코드</a:t>
            </a:r>
          </a:p>
          <a:p>
            <a:r>
              <a:rPr sz="1100" b="0">
                <a:solidFill>
                  <a:srgbClr val="475569"/>
                </a:solidFill>
                <a:latin typeface="Pretendard"/>
              </a:rPr>
              <a:t>• 업체 — 지금은 Mock</a:t>
            </a:r>
          </a:p>
          <a:p>
            <a:r>
              <a:rPr sz="1100" b="0">
                <a:solidFill>
                  <a:srgbClr val="475569"/>
                </a:solidFill>
                <a:latin typeface="Pretendard"/>
              </a:rPr>
              <a:t>• 개발·운영팀 — 버그 대응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005840"/>
            <a:ext cx="256032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Pretendard"/>
              </a:rPr>
              <a:t>A 여행 전</a:t>
            </a:r>
          </a:p>
          <a:p>
            <a:r>
              <a:rPr sz="1000" b="0">
                <a:solidFill>
                  <a:srgbClr val="0F172A"/>
                </a:solidFill>
                <a:latin typeface="Pretendard"/>
              </a:rPr>
              <a:t>설문 · 초안 · 등록 · 사용자 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05840"/>
            <a:ext cx="256032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Pretendard"/>
              </a:rPr>
              <a:t>B 매일 안내</a:t>
            </a:r>
          </a:p>
          <a:p>
            <a:r>
              <a:rPr sz="1000" b="0">
                <a:solidFill>
                  <a:srgbClr val="0F172A"/>
                </a:solidFill>
                <a:latin typeface="Pretendard"/>
              </a:rPr>
              <a:t>① 하루 시작 ② 다음 일정 ③ 이동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005840"/>
            <a:ext cx="256032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Pretendard"/>
              </a:rPr>
              <a:t>C 시스템이 먼저</a:t>
            </a:r>
          </a:p>
          <a:p>
            <a:r>
              <a:rPr sz="1000" b="0">
                <a:solidFill>
                  <a:srgbClr val="0F172A"/>
                </a:solidFill>
                <a:latin typeface="Pretendard"/>
              </a:rPr>
              <a:t>변화 감지 · 적용 · 선택 요청 · 안전 알림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03120"/>
            <a:ext cx="256032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Pretendard"/>
              </a:rPr>
              <a:t>D 여행자가 먼저</a:t>
            </a:r>
          </a:p>
          <a:p>
            <a:r>
              <a:rPr sz="1000" b="0">
                <a:solidFill>
                  <a:srgbClr val="0F172A"/>
                </a:solidFill>
                <a:latin typeface="Pretendard"/>
              </a:rPr>
              <a:t>조회 · 선택 · 신고 · 대안 · 되돌리기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03120"/>
            <a:ext cx="256032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Pretendard"/>
              </a:rPr>
              <a:t>E 업체 예약</a:t>
            </a:r>
          </a:p>
          <a:p>
            <a:r>
              <a:rPr sz="1000" b="0">
                <a:solidFill>
                  <a:srgbClr val="0F172A"/>
                </a:solidFill>
                <a:latin typeface="Pretendard"/>
              </a:rPr>
              <a:t>MVP 다음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103120"/>
            <a:ext cx="2560320" cy="914400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Pretendard"/>
              </a:rPr>
              <a:t>F 치명 결함 대응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3200400"/>
            <a:ext cx="2560320" cy="914400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Pretendard"/>
              </a:rPr>
              <a:t>G 상시 실행 관리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2560320" cy="914400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Pretendard"/>
              </a:rPr>
              <a:t>H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3200400"/>
            <a:ext cx="2560320" cy="914400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Pretendard"/>
              </a:rPr>
              <a:t>I 데이터·배포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4348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Pretendard"/>
              </a:rPr>
              <a:t>• 판단은 여행자가 한다 — 사람(운영자)이 끼는 곳은 버그 대응뿐</a:t>
            </a:r>
          </a:p>
          <a:p>
            <a:r>
              <a:rPr sz="1100" b="0">
                <a:solidFill>
                  <a:srgbClr val="475569"/>
                </a:solidFill>
                <a:latin typeface="Pretendard"/>
              </a:rPr>
              <a:t>• 「먼저 물어봐줘」 여행은 여행자가 안을 고른다. 답이 없으면 원래 일정대로 간다</a:t>
            </a:r>
          </a:p>
          <a:p>
            <a:r>
              <a:rPr sz="1100" b="0">
                <a:solidFill>
                  <a:srgbClr val="475569"/>
                </a:solidFill>
                <a:latin typeface="Pretendard"/>
              </a:rPr>
              <a:t>• 알림 ①②③ 은 Case 를 만들지 않고 LLM 을 부르지 않는다. 같은 안내는 두 번 보내지 않는다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Pretendard"/>
              </a:rPr>
              <a:t>공통 플로우: 액티비티 &amp; 요식업 (CORE → Agent)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804672"/>
            <a:ext cx="1135684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2" y="411480"/>
            <a:ext cx="1316736" cy="21945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960120"/>
            <a:ext cx="11356848" cy="46315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598932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Pretendard"/>
              </a:rPr>
              <a:t>CORE: 하루 시작·종료 → 변경 필요 판단 → 조건 이동 / 외부 API 조회 → 대안 필요 시 Agent 로   |   Agent: 대체 장소 조회 → 1~3순위 후보 → 확인 필요 표시 → CORE 로 반영   (출처: 팀 FigJam 보드)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Pretendard"/>
              </a:rPr>
              <a:t>화면 목업: 09-23 목업을 기준선으로 사용자 웹 전환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804672"/>
            <a:ext cx="1135684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2" y="411480"/>
            <a:ext cx="1316736" cy="219456"/>
          </a:xfrm>
          <a:prstGeom prst="rect">
            <a:avLst/>
          </a:prstGeom>
        </p:spPr>
      </p:pic>
      <p:pic>
        <p:nvPicPr>
          <p:cNvPr id="6" name="Picture 5" descr="m_tripilot-intro-animated-nav-swi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05840"/>
            <a:ext cx="2109399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23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Pretendard"/>
              </a:rPr>
              <a:t>인트로</a:t>
            </a:r>
          </a:p>
        </p:txBody>
      </p:sp>
      <p:pic>
        <p:nvPicPr>
          <p:cNvPr id="8" name="Picture 7" descr="m_tripilot-mobile-onboar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1005840"/>
            <a:ext cx="2109399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80360" y="5623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Pretendard"/>
              </a:rPr>
              <a:t>온보딩(취향 설정)</a:t>
            </a:r>
          </a:p>
        </p:txBody>
      </p:sp>
      <p:pic>
        <p:nvPicPr>
          <p:cNvPr id="10" name="Picture 9" descr="m_tripilot-intake-wirefra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79" y="1005840"/>
            <a:ext cx="2109399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12079" y="5623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Pretendard"/>
              </a:rPr>
              <a:t>계획 등록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retendard"/>
              </a:rPr>
              <a:t>• 온보딩 → 계획 등록 → 검증 → 결과 → 여행 일정·지도·채팅</a:t>
            </a:r>
          </a:p>
          <a:p>
            <a:r>
              <a:rPr sz="1200" b="0">
                <a:solidFill>
                  <a:srgbClr val="475569"/>
                </a:solidFill>
                <a:latin typeface="Pretendard"/>
              </a:rPr>
              <a:t>• 모바일 402px 기준, PC 는 2~3열로 넓어진다</a:t>
            </a:r>
          </a:p>
          <a:p>
            <a:r>
              <a:rPr sz="1200" b="0">
                <a:solidFill>
                  <a:srgbClr val="475569"/>
                </a:solidFill>
                <a:latin typeface="Pretendard"/>
              </a:rPr>
              <a:t>• 09-27~28: 목업 흐름에 실제 서버 연결</a:t>
            </a:r>
          </a:p>
          <a:p>
            <a:r>
              <a:rPr sz="1200" b="0">
                <a:solidFill>
                  <a:srgbClr val="475569"/>
                </a:solidFill>
                <a:latin typeface="Pretendard"/>
              </a:rPr>
              <a:t>  - 글·사진·PDF 계획 접수 → 확인 화면 → 등록</a:t>
            </a:r>
          </a:p>
          <a:p>
            <a:r>
              <a:rPr sz="1200" b="0">
                <a:solidFill>
                  <a:srgbClr val="475569"/>
                </a:solidFill>
                <a:latin typeface="Pretendard"/>
              </a:rPr>
              <a:t>  - 여행 화면·채팅이 실제 여행 상담(Case)으로</a:t>
            </a:r>
          </a:p>
          <a:p>
            <a:r>
              <a:rPr sz="1200" b="0">
                <a:solidFill>
                  <a:srgbClr val="475569"/>
                </a:solidFill>
                <a:latin typeface="Pretendard"/>
              </a:rPr>
              <a:t>  - 「일정 짜 줘」 → 일정 생성기 → 등록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Pretendard"/>
              </a:rPr>
              <a:t>다음 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804672"/>
            <a:ext cx="1135684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2" y="411480"/>
            <a:ext cx="1316736" cy="2194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Pretendard"/>
              </a:rPr>
              <a:t>• CI/CD — cs Dockerfile 작성 후 main 관문이 그 이미지를 빌드, 배포 대상은 MVP 뒤 결정</a:t>
            </a:r>
          </a:p>
          <a:p>
            <a:r>
              <a:rPr sz="1400" b="0">
                <a:solidFill>
                  <a:srgbClr val="0F172A"/>
                </a:solidFill>
                <a:latin typeface="Pretendard"/>
              </a:rPr>
              <a:t>• 유스케이스 — 문서의 「코드 공백」 항목부터 구현, 알림 ③은 이동 시작 시각(출발 = 다음 일정 − 이동 − 여유 10분)으로 반영됨</a:t>
            </a:r>
          </a:p>
          <a:p>
            <a:r>
              <a:rPr sz="1400" b="0">
                <a:solidFill>
                  <a:srgbClr val="0F172A"/>
                </a:solidFill>
                <a:latin typeface="Pretendard"/>
              </a:rPr>
              <a:t>• 공통 플로우 — 액티비티·요식업 대체 장소 우선순위 규칙을 코드와 대조</a:t>
            </a:r>
          </a:p>
          <a:p>
            <a:r>
              <a:rPr sz="1400" b="0">
                <a:solidFill>
                  <a:srgbClr val="0F172A"/>
                </a:solidFill>
                <a:latin typeface="Pretendard"/>
              </a:rPr>
              <a:t>• 화면 — 확인 화면·여행 화면 실제 연결 검수, 평가셋 60건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