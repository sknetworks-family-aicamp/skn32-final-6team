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53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C35E8-0085-403C-BD31-509B0587F154}" type="datetimeFigureOut">
              <a:rPr lang="ko-KR" altLang="en-US" smtClean="0"/>
              <a:t>2026-09-28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B9491-855F-4BC9-877F-C5901D385696}" type="slidenum">
              <a:rPr lang="ko-KR" altLang="en-US" smtClean="0"/>
              <a:t>‹#›</a:t>
            </a:fld>
            <a:endParaRPr lang="ko-KR" altLang="en-US"/>
          </a:p>
        </p:txBody>
      </p:sp>
    </p:spTree>
    <p:extLst>
      <p:ext uri="{BB962C8B-B14F-4D97-AF65-F5344CB8AC3E}">
        <p14:creationId xmlns:p14="http://schemas.microsoft.com/office/powerpoint/2010/main" val="40735705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오늘은 triPilot의 구현 현황을 다섯 주제로 말씀드리겠습니다. 먼저 코드를 합칠 때 어떤 자동 검사를 하는지 보고, 유스케이스의 범위와 준비 상태를 살펴보겠습니다. 이어서 시스템이 변화를 감지할 때와 여행자가 요청할 때의 변경 흐름을 비교하겠습니다. 액티비티와 요식업의 공통 플로우, 여행 등록 목업도 보겠습니다. 마지막에는 다음에 할 일과 팀이 결정할 내용을 정리하겠습니다.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코드를 합칠 때 두 범위로 검사하며 배포는 빌드까지만 합니다. 09-24 재현에서 develop 1,015건과 main 1,400건이 각각 모두 통과했습니다. 두 yml에서 린트·시험·빌드는 병렬입니다. PostgreSQL 준비 뒤 시험하며 main은 구조 시험을 먼저 돌립니다. pgvector와 모의 모델을 쓰고 Dockerfile이 없으면 참고 구현체를 빌드합니다. 프롬프트 이력 시험은 이후 복구했습니다. 다음은 기능 범위입니다.</a:t>
            </a:r>
          </a:p>
          <a:p>
            <a:r>
              <a:t>근거: 커밋 53184c94, ce1f288c, e9095c6f.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여행자가 판단하고 개발·운영팀은 운영을 맡습니다. 09-24 문서에서 여행자·개인 에이전트는 27개, 개발·운영팀은 18개입니다. 서울 자유여행 외국인 최대 4인을 대상으로 개인 에이전트를 REST·A2A로 연결합니다. 외부 기상·교통·재난 정보 등을 받고 디스코드로 알립니다. D-020의 세 안내는 처리 건(Case)이나 언어 모델 없이 보냅니다. 치명 결함은 대체 소스로 대응하고 실패하면 서버를 끄는 사양이나 중단 구현은 미완입니다. 다음은 09-28 코드 대조 결과입니다.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점검한 열 항목 중 완료는 여섯 개입니다. 기준은 2026-09-28 코드 대조이며, 전체 유스케이스 수와는 다른 분모입니다. 설문 계약에 칸이 있어도 모든 답을 판정에 쓰는 것은 아닙니다. D-020에서 15번은 바로 적용할지 먼저 물을지를, 16번은 밀도 목표를 정합니다. 시험 18건은 tests/e2e/test_ask_first.py의 기록입니다. 식당 확인에는 호출 예산이 걸려 있습니다. 이 완료 상태와 별개로 세부 선택지와 숙소 출발 문구는 결정이 남았습니다. 다음 장에서 나머지 네 항목을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감지와 사용자 신고는 같은 적용 기준을 씁니다. D-020의 apply_or_ask와 pending.decide가 그 기준이고, 적용한 새 판은 itinerary_versions에 기록합니다. 먼저 물을 때는 대안 1·2·3을 보여 주며 새 판을 쓰지 않습니다. 사용자가 고정한 일정을 바꿔야 해도 묻습니다. 감지 쪽에서 먼저 묻기를 택한 여행의 지진·재난·경보는 안전 알림만 보냅니다. 직접 고른 교체·선택·되돌리기는 바로 적용합니다. 결과는 계획서 링크를 알리거나 처리 건(Case)을 닫고 답합니다. 다음은 공통 플로우입니다.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공통 플로우는 CORE의 변경 판단과 에이전트의 장소 탐색을 연결합니다. CORE는 여행 상태를 가진 우리 서버입니다. 팀 FigJam 보드의 2026-09-28 캡처에서 앞부분을 가져왔습니다. CORE는 하루 시작과 종료, 사용자 요청과 외부 정보를 보고 변경 필요를 판단합니다. 에이전트는 대체 장소를 찾고 우선순위와 확인 필요 여부를 돌려줍니다. 캡처에 뒷부분이 없어 전체 연결과 코드 구현의 일치 여부는 확인하지 못했습니다. 다음은 목업을 바탕으로 서버에 연결한 화면입니다.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09-23 목업을 바탕으로 웹 앱을 실제 서버에 연결했습니다. 09-27에는 글·파일 접수와 확인, 등록 뒤 여행 화면·채팅까지 연결했습니다. 09-28에는 확인 화면의 「일정 짜 줘」를 planner.plan_trip과 _create_trip에 연결했습니다. 같은 날 브라우저에서 각 1회 측정해 사진 받아쓰기 50.9초와 항목·장소 각 6/6 등록, 실제 모델의 3일 일정 등록을 기록했습니다. 반복 시험 결과는 아닙니다. 다음은 남은 작업입니다.</a:t>
            </a:r>
          </a:p>
          <a:p>
            <a:r>
              <a:t>근거: 커밋 257d239a, 9c0b80f7.</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다음에는 남은 연결을 구현하고 미정 규칙을 정하겠습니다. 서비스의 Dockerfile이 생기면 main이 해당 이미지를 빌드합니다. 밀도 초과의 대안 선택과 방문 직전 판정값 재사용을 연결하겠습니다. 공통 플로우의 우선순위와 대기시간 수집은 담당 팀과 맞추겠습니다. 실제 연결 화면은 1회 확인에서 반복 시험으로 늘리고 계획 읽기 평가셋 60건도 준비하겠습니다. D-020의 숙소 출발 문구와 지연 때 밀도 70%에서 할 행동, 담당 팀의 세부 테마 선택지는 결정이 필요합니다. 결정에 맞춰 진행하겠습니다.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20624" y="1874519"/>
            <a:ext cx="10972800" cy="777240"/>
          </a:xfrm>
          <a:prstGeom prst="rect">
            <a:avLst/>
          </a:prstGeom>
          <a:noFill/>
        </p:spPr>
        <p:txBody>
          <a:bodyPr wrap="square" lIns="18288" tIns="0" rIns="18288" bIns="0" anchor="t">
            <a:spAutoFit/>
          </a:bodyPr>
          <a:lstStyle/>
          <a:p>
            <a:pPr algn="l">
              <a:spcAft>
                <a:spcPts val="300"/>
              </a:spcAft>
            </a:pPr>
            <a:r>
              <a:rPr sz="4000" b="1">
                <a:solidFill>
                  <a:srgbClr val="0F172A"/>
                </a:solidFill>
                <a:latin typeface="Pretendard"/>
              </a:rPr>
              <a:t>triPilot 진행 공유</a:t>
            </a:r>
          </a:p>
        </p:txBody>
      </p:sp>
      <p:sp>
        <p:nvSpPr>
          <p:cNvPr id="4" name="TextBox 3"/>
          <p:cNvSpPr txBox="1"/>
          <p:nvPr/>
        </p:nvSpPr>
        <p:spPr>
          <a:xfrm>
            <a:off x="420624" y="2816352"/>
            <a:ext cx="10972800" cy="502920"/>
          </a:xfrm>
          <a:prstGeom prst="rect">
            <a:avLst/>
          </a:prstGeom>
          <a:noFill/>
        </p:spPr>
        <p:txBody>
          <a:bodyPr wrap="square" lIns="18288" tIns="0" rIns="18288" bIns="0" anchor="t">
            <a:spAutoFit/>
          </a:bodyPr>
          <a:lstStyle/>
          <a:p>
            <a:pPr algn="l">
              <a:spcAft>
                <a:spcPts val="300"/>
              </a:spcAft>
            </a:pPr>
            <a:r>
              <a:rPr sz="1800" b="0">
                <a:solidFill>
                  <a:srgbClr val="475569"/>
                </a:solidFill>
                <a:latin typeface="Pretendard"/>
              </a:rPr>
              <a:t>팀 A-COPilot · 2026. 9. 28.</a:t>
            </a:r>
          </a:p>
        </p:txBody>
      </p:sp>
      <p:sp>
        <p:nvSpPr>
          <p:cNvPr id="5" name="TextBox 4"/>
          <p:cNvSpPr txBox="1"/>
          <p:nvPr/>
        </p:nvSpPr>
        <p:spPr>
          <a:xfrm>
            <a:off x="420624" y="3401568"/>
            <a:ext cx="10972800" cy="411480"/>
          </a:xfrm>
          <a:prstGeom prst="rect">
            <a:avLst/>
          </a:prstGeom>
          <a:noFill/>
        </p:spPr>
        <p:txBody>
          <a:bodyPr wrap="square" lIns="18288" tIns="0" rIns="18288" bIns="0" anchor="t">
            <a:spAutoFit/>
          </a:bodyPr>
          <a:lstStyle/>
          <a:p>
            <a:pPr algn="l">
              <a:spcAft>
                <a:spcPts val="300"/>
              </a:spcAft>
            </a:pPr>
            <a:r>
              <a:rPr sz="1800" b="0">
                <a:solidFill>
                  <a:srgbClr val="475569"/>
                </a:solidFill>
                <a:latin typeface="Pretendard"/>
              </a:rPr>
              <a:t>여행 운영 서비스의 구현 현황</a:t>
            </a:r>
          </a:p>
        </p:txBody>
      </p:sp>
      <p:sp>
        <p:nvSpPr>
          <p:cNvPr id="6" name="Rounded Rectangle 5"/>
          <p:cNvSpPr/>
          <p:nvPr/>
        </p:nvSpPr>
        <p:spPr>
          <a:xfrm>
            <a:off x="420624" y="4224528"/>
            <a:ext cx="210312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자동 검사와 빌드</a:t>
            </a:r>
          </a:p>
        </p:txBody>
      </p:sp>
      <p:sp>
        <p:nvSpPr>
          <p:cNvPr id="7" name="Rounded Rectangle 6"/>
          <p:cNvSpPr/>
          <p:nvPr/>
        </p:nvSpPr>
        <p:spPr>
          <a:xfrm>
            <a:off x="2706624" y="4224528"/>
            <a:ext cx="210312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유스케이스</a:t>
            </a:r>
          </a:p>
        </p:txBody>
      </p:sp>
      <p:sp>
        <p:nvSpPr>
          <p:cNvPr id="8" name="Rounded Rectangle 7"/>
          <p:cNvSpPr/>
          <p:nvPr/>
        </p:nvSpPr>
        <p:spPr>
          <a:xfrm>
            <a:off x="4992624" y="4224528"/>
            <a:ext cx="210312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변경 흐름</a:t>
            </a:r>
          </a:p>
        </p:txBody>
      </p:sp>
      <p:sp>
        <p:nvSpPr>
          <p:cNvPr id="9" name="Rounded Rectangle 8"/>
          <p:cNvSpPr/>
          <p:nvPr/>
        </p:nvSpPr>
        <p:spPr>
          <a:xfrm>
            <a:off x="7278624" y="4224528"/>
            <a:ext cx="210312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공통 플로우</a:t>
            </a:r>
          </a:p>
        </p:txBody>
      </p:sp>
      <p:sp>
        <p:nvSpPr>
          <p:cNvPr id="10" name="Rounded Rectangle 9"/>
          <p:cNvSpPr/>
          <p:nvPr/>
        </p:nvSpPr>
        <p:spPr>
          <a:xfrm>
            <a:off x="9564624" y="4224528"/>
            <a:ext cx="210312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화면 목업</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457200"/>
          </a:xfrm>
          <a:prstGeom prst="rect">
            <a:avLst/>
          </a:prstGeom>
          <a:noFill/>
        </p:spPr>
        <p:txBody>
          <a:bodyPr wrap="square" lIns="18288" tIns="0" rIns="18288" bIns="0" anchor="t">
            <a:spAutoFit/>
          </a:bodyPr>
          <a:lstStyle/>
          <a:p>
            <a:pPr algn="l">
              <a:spcAft>
                <a:spcPts val="300"/>
              </a:spcAft>
            </a:pPr>
            <a:r>
              <a:rPr sz="2400" b="1">
                <a:solidFill>
                  <a:srgbClr val="0F172A"/>
                </a:solidFill>
                <a:latin typeface="Pretendard"/>
              </a:rPr>
              <a:t>검사부터 화면까지 다섯 주제를 짚는다</a:t>
            </a: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공유 순서</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2</a:t>
            </a:r>
          </a:p>
        </p:txBody>
      </p:sp>
      <p:sp>
        <p:nvSpPr>
          <p:cNvPr id="7" name="TextBox 6"/>
          <p:cNvSpPr txBox="1"/>
          <p:nvPr/>
        </p:nvSpPr>
        <p:spPr>
          <a:xfrm>
            <a:off x="548640" y="1234440"/>
            <a:ext cx="731520" cy="457200"/>
          </a:xfrm>
          <a:prstGeom prst="rect">
            <a:avLst/>
          </a:prstGeom>
          <a:noFill/>
        </p:spPr>
        <p:txBody>
          <a:bodyPr wrap="square" lIns="18288" tIns="0" rIns="18288" bIns="0" anchor="t">
            <a:spAutoFit/>
          </a:bodyPr>
          <a:lstStyle/>
          <a:p>
            <a:pPr algn="l">
              <a:spcAft>
                <a:spcPts val="300"/>
              </a:spcAft>
            </a:pPr>
            <a:r>
              <a:rPr sz="2400" b="1">
                <a:solidFill>
                  <a:srgbClr val="2563EB"/>
                </a:solidFill>
                <a:latin typeface="Pretendard"/>
              </a:rPr>
              <a:t>01</a:t>
            </a:r>
          </a:p>
        </p:txBody>
      </p:sp>
      <p:sp>
        <p:nvSpPr>
          <p:cNvPr id="8" name="TextBox 7"/>
          <p:cNvSpPr txBox="1"/>
          <p:nvPr/>
        </p:nvSpPr>
        <p:spPr>
          <a:xfrm>
            <a:off x="1463040" y="1234440"/>
            <a:ext cx="3291840" cy="457200"/>
          </a:xfrm>
          <a:prstGeom prst="rect">
            <a:avLst/>
          </a:prstGeom>
          <a:noFill/>
        </p:spPr>
        <p:txBody>
          <a:bodyPr wrap="square" lIns="18288" tIns="0" rIns="18288" bIns="0" anchor="t">
            <a:spAutoFit/>
          </a:bodyPr>
          <a:lstStyle/>
          <a:p>
            <a:pPr algn="l">
              <a:spcAft>
                <a:spcPts val="300"/>
              </a:spcAft>
            </a:pPr>
            <a:r>
              <a:rPr sz="1800" b="1">
                <a:solidFill>
                  <a:srgbClr val="0F172A"/>
                </a:solidFill>
                <a:latin typeface="Pretendard"/>
              </a:rPr>
              <a:t>자동 검사와 빌드</a:t>
            </a:r>
          </a:p>
        </p:txBody>
      </p:sp>
      <p:sp>
        <p:nvSpPr>
          <p:cNvPr id="9" name="TextBox 8"/>
          <p:cNvSpPr txBox="1"/>
          <p:nvPr/>
        </p:nvSpPr>
        <p:spPr>
          <a:xfrm>
            <a:off x="4754880" y="1271016"/>
            <a:ext cx="6949440" cy="457200"/>
          </a:xfrm>
          <a:prstGeom prst="rect">
            <a:avLst/>
          </a:prstGeom>
          <a:noFill/>
        </p:spPr>
        <p:txBody>
          <a:bodyPr wrap="square" lIns="18288" tIns="0" rIns="18288" bIns="0" anchor="t">
            <a:spAutoFit/>
          </a:bodyPr>
          <a:lstStyle/>
          <a:p>
            <a:pPr algn="l">
              <a:spcAft>
                <a:spcPts val="300"/>
              </a:spcAft>
            </a:pPr>
            <a:r>
              <a:rPr sz="1600" b="0">
                <a:solidFill>
                  <a:srgbClr val="475569"/>
                </a:solidFill>
                <a:latin typeface="Pretendard"/>
              </a:rPr>
              <a:t>코드를 합칠 때 두 범위로 검사한다</a:t>
            </a:r>
          </a:p>
        </p:txBody>
      </p:sp>
      <p:sp>
        <p:nvSpPr>
          <p:cNvPr id="10" name="TextBox 9"/>
          <p:cNvSpPr txBox="1"/>
          <p:nvPr/>
        </p:nvSpPr>
        <p:spPr>
          <a:xfrm>
            <a:off x="548640" y="2066544"/>
            <a:ext cx="731520" cy="457200"/>
          </a:xfrm>
          <a:prstGeom prst="rect">
            <a:avLst/>
          </a:prstGeom>
          <a:noFill/>
        </p:spPr>
        <p:txBody>
          <a:bodyPr wrap="square" lIns="18288" tIns="0" rIns="18288" bIns="0" anchor="t">
            <a:spAutoFit/>
          </a:bodyPr>
          <a:lstStyle/>
          <a:p>
            <a:pPr algn="l">
              <a:spcAft>
                <a:spcPts val="300"/>
              </a:spcAft>
            </a:pPr>
            <a:r>
              <a:rPr sz="2400" b="1">
                <a:solidFill>
                  <a:srgbClr val="2563EB"/>
                </a:solidFill>
                <a:latin typeface="Pretendard"/>
              </a:rPr>
              <a:t>02</a:t>
            </a:r>
          </a:p>
        </p:txBody>
      </p:sp>
      <p:sp>
        <p:nvSpPr>
          <p:cNvPr id="11" name="TextBox 10"/>
          <p:cNvSpPr txBox="1"/>
          <p:nvPr/>
        </p:nvSpPr>
        <p:spPr>
          <a:xfrm>
            <a:off x="1463040" y="2066544"/>
            <a:ext cx="3291840" cy="457200"/>
          </a:xfrm>
          <a:prstGeom prst="rect">
            <a:avLst/>
          </a:prstGeom>
          <a:noFill/>
        </p:spPr>
        <p:txBody>
          <a:bodyPr wrap="square" lIns="18288" tIns="0" rIns="18288" bIns="0" anchor="t">
            <a:spAutoFit/>
          </a:bodyPr>
          <a:lstStyle/>
          <a:p>
            <a:pPr algn="l">
              <a:spcAft>
                <a:spcPts val="300"/>
              </a:spcAft>
            </a:pPr>
            <a:r>
              <a:rPr sz="1800" b="1">
                <a:solidFill>
                  <a:srgbClr val="0F172A"/>
                </a:solidFill>
                <a:latin typeface="Pretendard"/>
              </a:rPr>
              <a:t>유스케이스</a:t>
            </a:r>
          </a:p>
        </p:txBody>
      </p:sp>
      <p:sp>
        <p:nvSpPr>
          <p:cNvPr id="12" name="TextBox 11"/>
          <p:cNvSpPr txBox="1"/>
          <p:nvPr/>
        </p:nvSpPr>
        <p:spPr>
          <a:xfrm>
            <a:off x="4754880" y="2103120"/>
            <a:ext cx="6949440" cy="457200"/>
          </a:xfrm>
          <a:prstGeom prst="rect">
            <a:avLst/>
          </a:prstGeom>
          <a:noFill/>
        </p:spPr>
        <p:txBody>
          <a:bodyPr wrap="square" lIns="18288" tIns="0" rIns="18288" bIns="0" anchor="t">
            <a:spAutoFit/>
          </a:bodyPr>
          <a:lstStyle/>
          <a:p>
            <a:pPr algn="l">
              <a:spcAft>
                <a:spcPts val="300"/>
              </a:spcAft>
            </a:pPr>
            <a:r>
              <a:rPr sz="1600" b="0">
                <a:solidFill>
                  <a:srgbClr val="475569"/>
                </a:solidFill>
                <a:latin typeface="Pretendard"/>
              </a:rPr>
              <a:t>점검한 10개 항목 중 6개를 완료했다</a:t>
            </a:r>
          </a:p>
        </p:txBody>
      </p:sp>
      <p:sp>
        <p:nvSpPr>
          <p:cNvPr id="13" name="TextBox 12"/>
          <p:cNvSpPr txBox="1"/>
          <p:nvPr/>
        </p:nvSpPr>
        <p:spPr>
          <a:xfrm>
            <a:off x="548640" y="2898648"/>
            <a:ext cx="731520" cy="457200"/>
          </a:xfrm>
          <a:prstGeom prst="rect">
            <a:avLst/>
          </a:prstGeom>
          <a:noFill/>
        </p:spPr>
        <p:txBody>
          <a:bodyPr wrap="square" lIns="18288" tIns="0" rIns="18288" bIns="0" anchor="t">
            <a:spAutoFit/>
          </a:bodyPr>
          <a:lstStyle/>
          <a:p>
            <a:pPr algn="l">
              <a:spcAft>
                <a:spcPts val="300"/>
              </a:spcAft>
            </a:pPr>
            <a:r>
              <a:rPr sz="2400" b="1">
                <a:solidFill>
                  <a:srgbClr val="2563EB"/>
                </a:solidFill>
                <a:latin typeface="Pretendard"/>
              </a:rPr>
              <a:t>03</a:t>
            </a:r>
          </a:p>
        </p:txBody>
      </p:sp>
      <p:sp>
        <p:nvSpPr>
          <p:cNvPr id="14" name="TextBox 13"/>
          <p:cNvSpPr txBox="1"/>
          <p:nvPr/>
        </p:nvSpPr>
        <p:spPr>
          <a:xfrm>
            <a:off x="1463040" y="2898648"/>
            <a:ext cx="3291840" cy="457200"/>
          </a:xfrm>
          <a:prstGeom prst="rect">
            <a:avLst/>
          </a:prstGeom>
          <a:noFill/>
        </p:spPr>
        <p:txBody>
          <a:bodyPr wrap="square" lIns="18288" tIns="0" rIns="18288" bIns="0" anchor="t">
            <a:spAutoFit/>
          </a:bodyPr>
          <a:lstStyle/>
          <a:p>
            <a:pPr algn="l">
              <a:spcAft>
                <a:spcPts val="300"/>
              </a:spcAft>
            </a:pPr>
            <a:r>
              <a:rPr sz="1800" b="1">
                <a:solidFill>
                  <a:srgbClr val="0F172A"/>
                </a:solidFill>
                <a:latin typeface="Pretendard"/>
              </a:rPr>
              <a:t>변경 흐름</a:t>
            </a:r>
          </a:p>
        </p:txBody>
      </p:sp>
      <p:sp>
        <p:nvSpPr>
          <p:cNvPr id="15" name="TextBox 14"/>
          <p:cNvSpPr txBox="1"/>
          <p:nvPr/>
        </p:nvSpPr>
        <p:spPr>
          <a:xfrm>
            <a:off x="4754880" y="2935224"/>
            <a:ext cx="6949440" cy="457200"/>
          </a:xfrm>
          <a:prstGeom prst="rect">
            <a:avLst/>
          </a:prstGeom>
          <a:noFill/>
        </p:spPr>
        <p:txBody>
          <a:bodyPr wrap="square" lIns="18288" tIns="0" rIns="18288" bIns="0" anchor="t">
            <a:spAutoFit/>
          </a:bodyPr>
          <a:lstStyle/>
          <a:p>
            <a:pPr algn="l">
              <a:spcAft>
                <a:spcPts val="300"/>
              </a:spcAft>
            </a:pPr>
            <a:r>
              <a:rPr sz="1600" b="0">
                <a:solidFill>
                  <a:srgbClr val="475569"/>
                </a:solidFill>
                <a:latin typeface="Pretendard"/>
              </a:rPr>
              <a:t>감지와 요청은 같은 기준으로 변경을 정한다</a:t>
            </a:r>
          </a:p>
        </p:txBody>
      </p:sp>
      <p:sp>
        <p:nvSpPr>
          <p:cNvPr id="16" name="TextBox 15"/>
          <p:cNvSpPr txBox="1"/>
          <p:nvPr/>
        </p:nvSpPr>
        <p:spPr>
          <a:xfrm>
            <a:off x="548640" y="3730752"/>
            <a:ext cx="731520" cy="457200"/>
          </a:xfrm>
          <a:prstGeom prst="rect">
            <a:avLst/>
          </a:prstGeom>
          <a:noFill/>
        </p:spPr>
        <p:txBody>
          <a:bodyPr wrap="square" lIns="18288" tIns="0" rIns="18288" bIns="0" anchor="t">
            <a:spAutoFit/>
          </a:bodyPr>
          <a:lstStyle/>
          <a:p>
            <a:pPr algn="l">
              <a:spcAft>
                <a:spcPts val="300"/>
              </a:spcAft>
            </a:pPr>
            <a:r>
              <a:rPr sz="2400" b="1">
                <a:solidFill>
                  <a:srgbClr val="2563EB"/>
                </a:solidFill>
                <a:latin typeface="Pretendard"/>
              </a:rPr>
              <a:t>04</a:t>
            </a:r>
          </a:p>
        </p:txBody>
      </p:sp>
      <p:sp>
        <p:nvSpPr>
          <p:cNvPr id="17" name="TextBox 16"/>
          <p:cNvSpPr txBox="1"/>
          <p:nvPr/>
        </p:nvSpPr>
        <p:spPr>
          <a:xfrm>
            <a:off x="1463040" y="3730752"/>
            <a:ext cx="3291840" cy="457200"/>
          </a:xfrm>
          <a:prstGeom prst="rect">
            <a:avLst/>
          </a:prstGeom>
          <a:noFill/>
        </p:spPr>
        <p:txBody>
          <a:bodyPr wrap="square" lIns="18288" tIns="0" rIns="18288" bIns="0" anchor="t">
            <a:spAutoFit/>
          </a:bodyPr>
          <a:lstStyle/>
          <a:p>
            <a:pPr algn="l">
              <a:spcAft>
                <a:spcPts val="300"/>
              </a:spcAft>
            </a:pPr>
            <a:r>
              <a:rPr sz="1800" b="1">
                <a:solidFill>
                  <a:srgbClr val="0F172A"/>
                </a:solidFill>
                <a:latin typeface="Pretendard"/>
              </a:rPr>
              <a:t>공통 플로우</a:t>
            </a:r>
          </a:p>
        </p:txBody>
      </p:sp>
      <p:sp>
        <p:nvSpPr>
          <p:cNvPr id="18" name="TextBox 17"/>
          <p:cNvSpPr txBox="1"/>
          <p:nvPr/>
        </p:nvSpPr>
        <p:spPr>
          <a:xfrm>
            <a:off x="4754880" y="3767328"/>
            <a:ext cx="6949440" cy="457200"/>
          </a:xfrm>
          <a:prstGeom prst="rect">
            <a:avLst/>
          </a:prstGeom>
          <a:noFill/>
        </p:spPr>
        <p:txBody>
          <a:bodyPr wrap="square" lIns="18288" tIns="0" rIns="18288" bIns="0" anchor="t">
            <a:spAutoFit/>
          </a:bodyPr>
          <a:lstStyle/>
          <a:p>
            <a:pPr algn="l">
              <a:spcAft>
                <a:spcPts val="300"/>
              </a:spcAft>
            </a:pPr>
            <a:r>
              <a:rPr sz="1600" b="0">
                <a:solidFill>
                  <a:srgbClr val="475569"/>
                </a:solidFill>
                <a:latin typeface="Pretendard"/>
              </a:rPr>
              <a:t>공통 플로우는 변경 판단과 장소 탐색을 잇는다</a:t>
            </a:r>
          </a:p>
        </p:txBody>
      </p:sp>
      <p:sp>
        <p:nvSpPr>
          <p:cNvPr id="19" name="TextBox 18"/>
          <p:cNvSpPr txBox="1"/>
          <p:nvPr/>
        </p:nvSpPr>
        <p:spPr>
          <a:xfrm>
            <a:off x="548640" y="4562856"/>
            <a:ext cx="731520" cy="457200"/>
          </a:xfrm>
          <a:prstGeom prst="rect">
            <a:avLst/>
          </a:prstGeom>
          <a:noFill/>
        </p:spPr>
        <p:txBody>
          <a:bodyPr wrap="square" lIns="18288" tIns="0" rIns="18288" bIns="0" anchor="t">
            <a:spAutoFit/>
          </a:bodyPr>
          <a:lstStyle/>
          <a:p>
            <a:pPr algn="l">
              <a:spcAft>
                <a:spcPts val="300"/>
              </a:spcAft>
            </a:pPr>
            <a:r>
              <a:rPr sz="2400" b="1">
                <a:solidFill>
                  <a:srgbClr val="2563EB"/>
                </a:solidFill>
                <a:latin typeface="Pretendard"/>
              </a:rPr>
              <a:t>05</a:t>
            </a:r>
          </a:p>
        </p:txBody>
      </p:sp>
      <p:sp>
        <p:nvSpPr>
          <p:cNvPr id="20" name="TextBox 19"/>
          <p:cNvSpPr txBox="1"/>
          <p:nvPr/>
        </p:nvSpPr>
        <p:spPr>
          <a:xfrm>
            <a:off x="1463040" y="4562856"/>
            <a:ext cx="3291840" cy="457200"/>
          </a:xfrm>
          <a:prstGeom prst="rect">
            <a:avLst/>
          </a:prstGeom>
          <a:noFill/>
        </p:spPr>
        <p:txBody>
          <a:bodyPr wrap="square" lIns="18288" tIns="0" rIns="18288" bIns="0" anchor="t">
            <a:spAutoFit/>
          </a:bodyPr>
          <a:lstStyle/>
          <a:p>
            <a:pPr algn="l">
              <a:spcAft>
                <a:spcPts val="300"/>
              </a:spcAft>
            </a:pPr>
            <a:r>
              <a:rPr sz="1800" b="1">
                <a:solidFill>
                  <a:srgbClr val="0F172A"/>
                </a:solidFill>
                <a:latin typeface="Pretendard"/>
              </a:rPr>
              <a:t>화면 목업</a:t>
            </a:r>
          </a:p>
        </p:txBody>
      </p:sp>
      <p:sp>
        <p:nvSpPr>
          <p:cNvPr id="21" name="TextBox 20"/>
          <p:cNvSpPr txBox="1"/>
          <p:nvPr/>
        </p:nvSpPr>
        <p:spPr>
          <a:xfrm>
            <a:off x="4754880" y="4599432"/>
            <a:ext cx="6949440" cy="457200"/>
          </a:xfrm>
          <a:prstGeom prst="rect">
            <a:avLst/>
          </a:prstGeom>
          <a:noFill/>
        </p:spPr>
        <p:txBody>
          <a:bodyPr wrap="square" lIns="18288" tIns="0" rIns="18288" bIns="0" anchor="t">
            <a:spAutoFit/>
          </a:bodyPr>
          <a:lstStyle/>
          <a:p>
            <a:pPr algn="l">
              <a:spcAft>
                <a:spcPts val="300"/>
              </a:spcAft>
            </a:pPr>
            <a:r>
              <a:rPr sz="1600" b="0">
                <a:solidFill>
                  <a:srgbClr val="475569"/>
                </a:solidFill>
                <a:latin typeface="Pretendard"/>
              </a:rPr>
              <a:t>목업을 바탕으로 등록 화면을 서버에 연결했다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457200"/>
          </a:xfrm>
          <a:prstGeom prst="rect">
            <a:avLst/>
          </a:prstGeom>
          <a:noFill/>
        </p:spPr>
        <p:txBody>
          <a:bodyPr wrap="square" lIns="18288" tIns="0" rIns="18288" bIns="0" anchor="t">
            <a:spAutoFit/>
          </a:bodyPr>
          <a:lstStyle/>
          <a:p>
            <a:pPr algn="l">
              <a:spcAft>
                <a:spcPts val="300"/>
              </a:spcAft>
            </a:pPr>
            <a:r>
              <a:rPr sz="2400" b="1">
                <a:solidFill>
                  <a:srgbClr val="0F172A"/>
                </a:solidFill>
                <a:latin typeface="Pretendard"/>
              </a:rPr>
              <a:t>코드를 합칠 때 두 범위로 검사한다</a:t>
            </a: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자동 검사</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3</a:t>
            </a:r>
          </a:p>
        </p:txBody>
      </p:sp>
      <p:sp>
        <p:nvSpPr>
          <p:cNvPr id="7" name="TextBox 6"/>
          <p:cNvSpPr txBox="1"/>
          <p:nvPr/>
        </p:nvSpPr>
        <p:spPr>
          <a:xfrm>
            <a:off x="502920" y="1024128"/>
            <a:ext cx="11155680" cy="411480"/>
          </a:xfrm>
          <a:prstGeom prst="rect">
            <a:avLst/>
          </a:prstGeom>
          <a:noFill/>
        </p:spPr>
        <p:txBody>
          <a:bodyPr wrap="square" lIns="18288" tIns="0" rIns="18288" bIns="0" anchor="t">
            <a:spAutoFit/>
          </a:bodyPr>
          <a:lstStyle/>
          <a:p>
            <a:pPr algn="l">
              <a:spcAft>
                <a:spcPts val="300"/>
              </a:spcAft>
            </a:pPr>
            <a:r>
              <a:rPr sz="1600" b="0">
                <a:solidFill>
                  <a:srgbClr val="0F172A"/>
                </a:solidFill>
                <a:latin typeface="Pretendard"/>
              </a:rPr>
              <a:t>자동 검사(CI)는 변경마다 돌고, 자동 배포(CD)는 빌드까지다.</a:t>
            </a:r>
          </a:p>
        </p:txBody>
      </p:sp>
      <p:sp>
        <p:nvSpPr>
          <p:cNvPr id="8" name="TextBox 7"/>
          <p:cNvSpPr txBox="1"/>
          <p:nvPr/>
        </p:nvSpPr>
        <p:spPr>
          <a:xfrm>
            <a:off x="502920" y="1572768"/>
            <a:ext cx="1828800" cy="320040"/>
          </a:xfrm>
          <a:prstGeom prst="rect">
            <a:avLst/>
          </a:prstGeom>
          <a:noFill/>
        </p:spPr>
        <p:txBody>
          <a:bodyPr wrap="square" lIns="18288" tIns="0" rIns="18288" bIns="0" anchor="t">
            <a:spAutoFit/>
          </a:bodyPr>
          <a:lstStyle/>
          <a:p>
            <a:pPr algn="l">
              <a:spcAft>
                <a:spcPts val="300"/>
              </a:spcAft>
            </a:pPr>
            <a:r>
              <a:rPr sz="1600" b="1">
                <a:solidFill>
                  <a:srgbClr val="0F172A"/>
                </a:solidFill>
                <a:latin typeface="Pretendard"/>
              </a:rPr>
              <a:t>develop</a:t>
            </a:r>
          </a:p>
        </p:txBody>
      </p:sp>
      <p:sp>
        <p:nvSpPr>
          <p:cNvPr id="9" name="Rounded Rectangle 8"/>
          <p:cNvSpPr/>
          <p:nvPr/>
        </p:nvSpPr>
        <p:spPr>
          <a:xfrm>
            <a:off x="457200" y="2011680"/>
            <a:ext cx="173736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13969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2103120"/>
            <a:ext cx="1389887"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코드 올리기</a:t>
            </a:r>
          </a:p>
          <a:p>
            <a:pPr algn="l">
              <a:spcAft>
                <a:spcPts val="300"/>
              </a:spcAft>
            </a:pPr>
            <a:r>
              <a:rPr sz="1200" b="0">
                <a:solidFill>
                  <a:srgbClr val="475569"/>
                </a:solidFill>
                <a:latin typeface="Pretendard"/>
              </a:rPr>
              <a:t>push / PR</a:t>
            </a:r>
          </a:p>
        </p:txBody>
      </p:sp>
      <p:sp>
        <p:nvSpPr>
          <p:cNvPr id="12" name="Rounded Rectangle 11"/>
          <p:cNvSpPr/>
          <p:nvPr/>
        </p:nvSpPr>
        <p:spPr>
          <a:xfrm>
            <a:off x="2788920" y="1572768"/>
            <a:ext cx="2743200" cy="59436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898648" y="170078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44952" y="1664208"/>
            <a:ext cx="2395727" cy="457200"/>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ruff 린트</a:t>
            </a:r>
          </a:p>
        </p:txBody>
      </p:sp>
      <p:sp>
        <p:nvSpPr>
          <p:cNvPr id="15" name="Rounded Rectangle 14"/>
          <p:cNvSpPr/>
          <p:nvPr/>
        </p:nvSpPr>
        <p:spPr>
          <a:xfrm>
            <a:off x="2788920" y="2350008"/>
            <a:ext cx="274320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98648" y="247802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44952" y="2441448"/>
            <a:ext cx="2395727" cy="5486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PostgreSQL 준비</a:t>
            </a:r>
          </a:p>
          <a:p>
            <a:pPr algn="l">
              <a:spcAft>
                <a:spcPts val="300"/>
              </a:spcAft>
            </a:pPr>
            <a:r>
              <a:rPr sz="1200" b="0">
                <a:solidFill>
                  <a:srgbClr val="475569"/>
                </a:solidFill>
                <a:latin typeface="Pretendard"/>
              </a:rPr>
              <a:t>스키마·프롬프트 등록</a:t>
            </a:r>
          </a:p>
        </p:txBody>
      </p:sp>
      <p:sp>
        <p:nvSpPr>
          <p:cNvPr id="18" name="Rounded Rectangle 17"/>
          <p:cNvSpPr/>
          <p:nvPr/>
        </p:nvSpPr>
        <p:spPr>
          <a:xfrm>
            <a:off x="5897880" y="2350008"/>
            <a:ext cx="306324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07608" y="247802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53912" y="2441448"/>
            <a:ext cx="2715768" cy="548640"/>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구조·계약·단위 시험</a:t>
            </a:r>
          </a:p>
        </p:txBody>
      </p:sp>
      <p:cxnSp>
        <p:nvCxnSpPr>
          <p:cNvPr id="21" name="Connector 20"/>
          <p:cNvCxnSpPr/>
          <p:nvPr/>
        </p:nvCxnSpPr>
        <p:spPr>
          <a:xfrm flipV="1">
            <a:off x="2212848" y="1865376"/>
            <a:ext cx="548640" cy="438912"/>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212848" y="2350008"/>
            <a:ext cx="548640" cy="338328"/>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559552" y="2688336"/>
            <a:ext cx="310896"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35440" y="2450592"/>
            <a:ext cx="2468880" cy="411480"/>
          </a:xfrm>
          <a:prstGeom prst="rect">
            <a:avLst/>
          </a:prstGeom>
          <a:noFill/>
        </p:spPr>
        <p:txBody>
          <a:bodyPr wrap="square" lIns="18288" tIns="0" rIns="18288" bIns="0" anchor="t">
            <a:spAutoFit/>
          </a:bodyPr>
          <a:lstStyle/>
          <a:p>
            <a:pPr algn="l">
              <a:spcAft>
                <a:spcPts val="300"/>
              </a:spcAft>
            </a:pPr>
            <a:r>
              <a:rPr sz="1400" b="1">
                <a:solidFill>
                  <a:srgbClr val="059669"/>
                </a:solidFill>
                <a:latin typeface="Pretendard"/>
              </a:rPr>
              <a:t>1,015건 모두 통과</a:t>
            </a:r>
          </a:p>
        </p:txBody>
      </p:sp>
      <p:sp>
        <p:nvSpPr>
          <p:cNvPr id="25" name="TextBox 24"/>
          <p:cNvSpPr txBox="1"/>
          <p:nvPr/>
        </p:nvSpPr>
        <p:spPr>
          <a:xfrm>
            <a:off x="502920" y="3319272"/>
            <a:ext cx="1828800" cy="320040"/>
          </a:xfrm>
          <a:prstGeom prst="rect">
            <a:avLst/>
          </a:prstGeom>
          <a:noFill/>
        </p:spPr>
        <p:txBody>
          <a:bodyPr wrap="square" lIns="18288" tIns="0" rIns="18288" bIns="0" anchor="t">
            <a:spAutoFit/>
          </a:bodyPr>
          <a:lstStyle/>
          <a:p>
            <a:pPr algn="l">
              <a:spcAft>
                <a:spcPts val="300"/>
              </a:spcAft>
            </a:pPr>
            <a:r>
              <a:rPr sz="1600" b="1">
                <a:solidFill>
                  <a:srgbClr val="0F172A"/>
                </a:solidFill>
                <a:latin typeface="Pretendard"/>
              </a:rPr>
              <a:t>main</a:t>
            </a:r>
          </a:p>
        </p:txBody>
      </p:sp>
      <p:sp>
        <p:nvSpPr>
          <p:cNvPr id="26" name="Rounded Rectangle 25"/>
          <p:cNvSpPr/>
          <p:nvPr/>
        </p:nvSpPr>
        <p:spPr>
          <a:xfrm>
            <a:off x="457200" y="3721608"/>
            <a:ext cx="173736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384962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3813048"/>
            <a:ext cx="1389887"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코드 올리기</a:t>
            </a:r>
          </a:p>
          <a:p>
            <a:pPr algn="l">
              <a:spcAft>
                <a:spcPts val="300"/>
              </a:spcAft>
            </a:pPr>
            <a:r>
              <a:rPr sz="1200" b="0">
                <a:solidFill>
                  <a:srgbClr val="475569"/>
                </a:solidFill>
                <a:latin typeface="Pretendard"/>
              </a:rPr>
              <a:t>push / PR</a:t>
            </a:r>
          </a:p>
        </p:txBody>
      </p:sp>
      <p:sp>
        <p:nvSpPr>
          <p:cNvPr id="29" name="Rounded Rectangle 28"/>
          <p:cNvSpPr/>
          <p:nvPr/>
        </p:nvSpPr>
        <p:spPr>
          <a:xfrm>
            <a:off x="2788920" y="3182112"/>
            <a:ext cx="2743200" cy="5486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898648" y="331012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44952" y="3273552"/>
            <a:ext cx="2395727" cy="411479"/>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ruff 린트</a:t>
            </a:r>
          </a:p>
        </p:txBody>
      </p:sp>
      <p:sp>
        <p:nvSpPr>
          <p:cNvPr id="32" name="Rounded Rectangle 31"/>
          <p:cNvSpPr/>
          <p:nvPr/>
        </p:nvSpPr>
        <p:spPr>
          <a:xfrm>
            <a:off x="2788920" y="3867912"/>
            <a:ext cx="274320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898648" y="399592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44952" y="3959352"/>
            <a:ext cx="2395727" cy="5486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PostgreSQL 준비</a:t>
            </a:r>
          </a:p>
          <a:p>
            <a:pPr algn="l">
              <a:spcAft>
                <a:spcPts val="300"/>
              </a:spcAft>
            </a:pPr>
            <a:r>
              <a:rPr sz="1200" b="0">
                <a:solidFill>
                  <a:srgbClr val="475569"/>
                </a:solidFill>
                <a:latin typeface="Pretendard"/>
              </a:rPr>
              <a:t>데모 데이터도 등록</a:t>
            </a:r>
          </a:p>
        </p:txBody>
      </p:sp>
      <p:sp>
        <p:nvSpPr>
          <p:cNvPr id="35" name="Rounded Rectangle 34"/>
          <p:cNvSpPr/>
          <p:nvPr/>
        </p:nvSpPr>
        <p:spPr>
          <a:xfrm>
            <a:off x="5897880" y="3867912"/>
            <a:ext cx="169164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007608" y="399592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53912" y="3959352"/>
            <a:ext cx="1344168" cy="548640"/>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구조 시험</a:t>
            </a:r>
          </a:p>
        </p:txBody>
      </p:sp>
      <p:sp>
        <p:nvSpPr>
          <p:cNvPr id="38" name="Rounded Rectangle 37"/>
          <p:cNvSpPr/>
          <p:nvPr/>
        </p:nvSpPr>
        <p:spPr>
          <a:xfrm>
            <a:off x="7955279" y="3867912"/>
            <a:ext cx="150876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65007" y="399592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11311" y="3959352"/>
            <a:ext cx="1161287" cy="548640"/>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전체 시험</a:t>
            </a:r>
          </a:p>
        </p:txBody>
      </p:sp>
      <p:sp>
        <p:nvSpPr>
          <p:cNvPr id="41" name="Rounded Rectangle 40"/>
          <p:cNvSpPr/>
          <p:nvPr/>
        </p:nvSpPr>
        <p:spPr>
          <a:xfrm>
            <a:off x="2788920" y="4690872"/>
            <a:ext cx="2743200" cy="5486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98648" y="481888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044952" y="4782312"/>
            <a:ext cx="2395727" cy="411479"/>
          </a:xfrm>
          <a:prstGeom prst="rect">
            <a:avLst/>
          </a:prstGeom>
          <a:noFill/>
        </p:spPr>
        <p:txBody>
          <a:bodyPr wrap="square" lIns="18288" tIns="0" rIns="18288" bIns="0" anchor="ctr">
            <a:spAutoFit/>
          </a:bodyPr>
          <a:lstStyle/>
          <a:p>
            <a:pPr algn="l">
              <a:spcAft>
                <a:spcPts val="300"/>
              </a:spcAft>
            </a:pPr>
            <a:r>
              <a:rPr sz="1400" b="1">
                <a:solidFill>
                  <a:srgbClr val="2563EB"/>
                </a:solidFill>
                <a:latin typeface="Pretendard"/>
              </a:rPr>
              <a:t>Docker 빌드</a:t>
            </a:r>
          </a:p>
        </p:txBody>
      </p:sp>
      <p:cxnSp>
        <p:nvCxnSpPr>
          <p:cNvPr id="44" name="Connector 43"/>
          <p:cNvCxnSpPr/>
          <p:nvPr/>
        </p:nvCxnSpPr>
        <p:spPr>
          <a:xfrm flipV="1">
            <a:off x="2212848" y="3456432"/>
            <a:ext cx="548640" cy="566928"/>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212848" y="4059936"/>
            <a:ext cx="548640" cy="146304"/>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212848" y="4096512"/>
            <a:ext cx="548640" cy="86868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59552" y="4206240"/>
            <a:ext cx="310896"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616952" y="4206240"/>
            <a:ext cx="310896"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46920" y="3931920"/>
            <a:ext cx="2103120" cy="566928"/>
          </a:xfrm>
          <a:prstGeom prst="rect">
            <a:avLst/>
          </a:prstGeom>
          <a:noFill/>
        </p:spPr>
        <p:txBody>
          <a:bodyPr wrap="square" lIns="18288" tIns="0" rIns="18288" bIns="0" anchor="t">
            <a:spAutoFit/>
          </a:bodyPr>
          <a:lstStyle/>
          <a:p>
            <a:pPr algn="l">
              <a:spcAft>
                <a:spcPts val="300"/>
              </a:spcAft>
            </a:pPr>
            <a:r>
              <a:rPr sz="1400" b="1">
                <a:solidFill>
                  <a:srgbClr val="059669"/>
                </a:solidFill>
                <a:latin typeface="Pretendard"/>
              </a:rPr>
              <a:t>1,400건 모두 통과</a:t>
            </a:r>
          </a:p>
        </p:txBody>
      </p:sp>
      <p:sp>
        <p:nvSpPr>
          <p:cNvPr id="50" name="TextBox 49"/>
          <p:cNvSpPr txBox="1"/>
          <p:nvPr/>
        </p:nvSpPr>
        <p:spPr>
          <a:xfrm>
            <a:off x="5897880" y="4690872"/>
            <a:ext cx="5760720" cy="530352"/>
          </a:xfrm>
          <a:prstGeom prst="rect">
            <a:avLst/>
          </a:prstGeom>
          <a:noFill/>
        </p:spPr>
        <p:txBody>
          <a:bodyPr wrap="square" lIns="18288" tIns="0" rIns="18288" bIns="0" anchor="t">
            <a:spAutoFit/>
          </a:bodyPr>
          <a:lstStyle/>
          <a:p>
            <a:pPr algn="l">
              <a:spcAft>
                <a:spcPts val="300"/>
              </a:spcAft>
            </a:pPr>
            <a:r>
              <a:rPr sz="1200" b="0">
                <a:solidFill>
                  <a:srgbClr val="475569"/>
                </a:solidFill>
                <a:latin typeface="Pretendard"/>
              </a:rPr>
              <a:t>전체 시험은 실제 모델·검색 통합 시험을 뺀다.
린트·시험·빌드는 병렬이며 이미지는 올리지 않는다.</a:t>
            </a:r>
          </a:p>
        </p:txBody>
      </p:sp>
      <p:sp>
        <p:nvSpPr>
          <p:cNvPr id="51" name="TextBox 50"/>
          <p:cNvSpPr txBox="1"/>
          <p:nvPr/>
        </p:nvSpPr>
        <p:spPr>
          <a:xfrm>
            <a:off x="502920" y="5349240"/>
            <a:ext cx="11064240" cy="320040"/>
          </a:xfrm>
          <a:prstGeom prst="rect">
            <a:avLst/>
          </a:prstGeom>
          <a:noFill/>
        </p:spPr>
        <p:txBody>
          <a:bodyPr wrap="square" lIns="18288" tIns="0" rIns="18288" bIns="0" anchor="t">
            <a:spAutoFit/>
          </a:bodyPr>
          <a:lstStyle/>
          <a:p>
            <a:pPr algn="l">
              <a:spcAft>
                <a:spcPts val="300"/>
              </a:spcAft>
            </a:pPr>
            <a:r>
              <a:rPr sz="1200" b="0">
                <a:solidFill>
                  <a:srgbClr val="475569"/>
                </a:solidFill>
                <a:latin typeface="Pretendard"/>
              </a:rPr>
              <a:t>2026-09-24 깨끗한 환경 재현 기록, 각 범위 실패 0건. 제외한 시험은 로컬에서 돌린다.</a:t>
            </a:r>
          </a:p>
        </p:txBody>
      </p:sp>
      <p:sp>
        <p:nvSpPr>
          <p:cNvPr id="52" name="Rounded Rectangle 51"/>
          <p:cNvSpPr/>
          <p:nvPr/>
        </p:nvSpPr>
        <p:spPr>
          <a:xfrm>
            <a:off x="457200" y="5687568"/>
            <a:ext cx="553212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66928" y="5815583"/>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13232" y="5779007"/>
            <a:ext cx="5184648" cy="5486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도입하며 린트 오류 91건을 정리했다</a:t>
            </a:r>
          </a:p>
          <a:p>
            <a:pPr algn="l">
              <a:spcAft>
                <a:spcPts val="300"/>
              </a:spcAft>
            </a:pPr>
            <a:r>
              <a:rPr sz="1200" b="0">
                <a:solidFill>
                  <a:srgbClr val="475569"/>
                </a:solidFill>
                <a:latin typeface="Pretendard"/>
              </a:rPr>
              <a:t>안 쓰는 import와 중복 줄 등을 정리했다.</a:t>
            </a:r>
          </a:p>
        </p:txBody>
      </p:sp>
      <p:sp>
        <p:nvSpPr>
          <p:cNvPr id="55" name="Rounded Rectangle 54"/>
          <p:cNvSpPr/>
          <p:nvPr/>
        </p:nvSpPr>
        <p:spPr>
          <a:xfrm>
            <a:off x="6217920" y="5687568"/>
            <a:ext cx="5532120" cy="6858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327648" y="5815583"/>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73952" y="5779007"/>
            <a:ext cx="5184648" cy="5486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배포용 이미지는 빌드만 한다</a:t>
            </a:r>
          </a:p>
          <a:p>
            <a:pPr algn="l">
              <a:spcAft>
                <a:spcPts val="300"/>
              </a:spcAft>
            </a:pPr>
            <a:r>
              <a:rPr sz="1200" b="0">
                <a:solidFill>
                  <a:srgbClr val="475569"/>
                </a:solidFill>
                <a:latin typeface="Pretendard"/>
              </a:rPr>
              <a:t>실제 키와 서버 주소를 넣지 않는다.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457200"/>
          </a:xfrm>
          <a:prstGeom prst="rect">
            <a:avLst/>
          </a:prstGeom>
          <a:noFill/>
        </p:spPr>
        <p:txBody>
          <a:bodyPr wrap="square" lIns="18288" tIns="0" rIns="18288" bIns="0" anchor="t">
            <a:spAutoFit/>
          </a:bodyPr>
          <a:lstStyle/>
          <a:p>
            <a:pPr algn="l">
              <a:spcAft>
                <a:spcPts val="300"/>
              </a:spcAft>
            </a:pPr>
            <a:r>
              <a:rPr sz="2400" b="1">
                <a:solidFill>
                  <a:srgbClr val="0F172A"/>
                </a:solidFill>
                <a:latin typeface="Pretendard"/>
              </a:rPr>
              <a:t>여행자가 판단하고 개발팀이 운영을 맡는다</a:t>
            </a: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07040" y="365760"/>
            <a:ext cx="1170432"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유스케이스</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4</a:t>
            </a:r>
          </a:p>
        </p:txBody>
      </p:sp>
      <p:sp>
        <p:nvSpPr>
          <p:cNvPr id="7" name="TextBox 6"/>
          <p:cNvSpPr txBox="1"/>
          <p:nvPr/>
        </p:nvSpPr>
        <p:spPr>
          <a:xfrm>
            <a:off x="502920" y="1024128"/>
            <a:ext cx="10972800" cy="365760"/>
          </a:xfrm>
          <a:prstGeom prst="rect">
            <a:avLst/>
          </a:prstGeom>
          <a:noFill/>
        </p:spPr>
        <p:txBody>
          <a:bodyPr wrap="square" lIns="18288" tIns="0" rIns="18288" bIns="0" anchor="t">
            <a:spAutoFit/>
          </a:bodyPr>
          <a:lstStyle/>
          <a:p>
            <a:pPr algn="l">
              <a:spcAft>
                <a:spcPts val="300"/>
              </a:spcAft>
            </a:pPr>
            <a:r>
              <a:rPr sz="1400" b="0">
                <a:solidFill>
                  <a:srgbClr val="0F172A"/>
                </a:solidFill>
                <a:latin typeface="Pretendard"/>
              </a:rPr>
              <a:t>2026-09-24 문서 기준: 여행자·개인 에이전트 27개, 개발·운영팀 18개</a:t>
            </a:r>
          </a:p>
        </p:txBody>
      </p:sp>
      <p:graphicFrame>
        <p:nvGraphicFramePr>
          <p:cNvPr id="8" name="Table 7"/>
          <p:cNvGraphicFramePr>
            <a:graphicFrameLocks noGrp="1"/>
          </p:cNvGraphicFramePr>
          <p:nvPr/>
        </p:nvGraphicFramePr>
        <p:xfrm>
          <a:off x="457200" y="1572768"/>
          <a:ext cx="11292840" cy="26974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539496">
                <a:tc>
                  <a:txBody>
                    <a:bodyPr/>
                    <a:lstStyle/>
                    <a:p>
                      <a:r>
                        <a:rPr sz="1200" b="1">
                          <a:solidFill>
                            <a:srgbClr val="FFFFFF"/>
                          </a:solidFill>
                          <a:latin typeface="Pretendard"/>
                        </a:rPr>
                        <a:t>행위자</a:t>
                      </a:r>
                    </a:p>
                  </a:txBody>
                  <a:tcPr marL="109728" marR="109728" marT="73152" marB="73152" anchor="ctr">
                    <a:solidFill>
                      <a:srgbClr val="0F172A"/>
                    </a:solidFill>
                  </a:tcPr>
                </a:tc>
                <a:tc>
                  <a:txBody>
                    <a:bodyPr/>
                    <a:lstStyle/>
                    <a:p>
                      <a:r>
                        <a:rPr sz="1200" b="1">
                          <a:solidFill>
                            <a:srgbClr val="FFFFFF"/>
                          </a:solidFill>
                          <a:latin typeface="Pretendard"/>
                        </a:rPr>
                        <a:t>기능 묶음</a:t>
                      </a:r>
                    </a:p>
                  </a:txBody>
                  <a:tcPr marL="109728" marR="109728" marT="73152" marB="73152" anchor="ctr">
                    <a:solidFill>
                      <a:srgbClr val="0F172A"/>
                    </a:solidFill>
                  </a:tcPr>
                </a:tc>
                <a:tc>
                  <a:txBody>
                    <a:bodyPr/>
                    <a:lstStyle/>
                    <a:p>
                      <a:r>
                        <a:rPr sz="1200" b="1">
                          <a:solidFill>
                            <a:srgbClr val="FFFFFF"/>
                          </a:solidFill>
                          <a:latin typeface="Pretendard"/>
                        </a:rPr>
                        <a:t>맡은 일</a:t>
                      </a:r>
                    </a:p>
                  </a:txBody>
                  <a:tcPr marL="109728" marR="109728" marT="73152" marB="73152" anchor="ctr">
                    <a:solidFill>
                      <a:srgbClr val="0F172A"/>
                    </a:solidFill>
                  </a:tcPr>
                </a:tc>
                <a:extLst>
                  <a:ext uri="{0D108BD9-81ED-4DB2-BD59-A6C34878D82A}">
                    <a16:rowId xmlns:a16="http://schemas.microsoft.com/office/drawing/2014/main" val="10000"/>
                  </a:ext>
                </a:extLst>
              </a:tr>
              <a:tr h="539496">
                <a:tc>
                  <a:txBody>
                    <a:bodyPr/>
                    <a:lstStyle/>
                    <a:p>
                      <a:r>
                        <a:rPr sz="1200" b="0">
                          <a:solidFill>
                            <a:srgbClr val="0F172A"/>
                          </a:solidFill>
                          <a:latin typeface="Pretendard"/>
                        </a:rPr>
                        <a:t>여행자·개인 에이전트</a:t>
                      </a:r>
                    </a:p>
                  </a:txBody>
                  <a:tcPr marL="109728" marR="109728" marT="73152" marB="73152" anchor="ctr">
                    <a:solidFill>
                      <a:srgbClr val="FFFFFF"/>
                    </a:solidFill>
                  </a:tcPr>
                </a:tc>
                <a:tc>
                  <a:txBody>
                    <a:bodyPr/>
                    <a:lstStyle/>
                    <a:p>
                      <a:r>
                        <a:rPr sz="1200" b="1">
                          <a:solidFill>
                            <a:srgbClr val="2563EB"/>
                          </a:solidFill>
                          <a:latin typeface="Pretendard"/>
                        </a:rPr>
                        <a:t>A 여행 전 / D 요청</a:t>
                      </a:r>
                    </a:p>
                  </a:txBody>
                  <a:tcPr marL="109728" marR="109728" marT="73152" marB="73152" anchor="ctr">
                    <a:solidFill>
                      <a:srgbClr val="DBEAFE"/>
                    </a:solidFill>
                  </a:tcPr>
                </a:tc>
                <a:tc>
                  <a:txBody>
                    <a:bodyPr/>
                    <a:lstStyle/>
                    <a:p>
                      <a:r>
                        <a:rPr sz="1200" b="0">
                          <a:solidFill>
                            <a:srgbClr val="0F172A"/>
                          </a:solidFill>
                          <a:latin typeface="Pretendard"/>
                        </a:rPr>
                        <a:t>설문과 초안을 받아 등록하고, 대안을 고르거나 되돌린다.</a:t>
                      </a:r>
                    </a:p>
                  </a:txBody>
                  <a:tcPr marL="109728" marR="109728" marT="73152" marB="73152" anchor="ctr">
                    <a:solidFill>
                      <a:srgbClr val="FFFFFF"/>
                    </a:solidFill>
                  </a:tcPr>
                </a:tc>
                <a:extLst>
                  <a:ext uri="{0D108BD9-81ED-4DB2-BD59-A6C34878D82A}">
                    <a16:rowId xmlns:a16="http://schemas.microsoft.com/office/drawing/2014/main" val="10001"/>
                  </a:ext>
                </a:extLst>
              </a:tr>
              <a:tr h="539496">
                <a:tc>
                  <a:txBody>
                    <a:bodyPr/>
                    <a:lstStyle/>
                    <a:p>
                      <a:r>
                        <a:rPr sz="1200" b="0">
                          <a:solidFill>
                            <a:srgbClr val="0F172A"/>
                          </a:solidFill>
                          <a:latin typeface="Pretendard"/>
                        </a:rPr>
                        <a:t>시계·외부 데이터</a:t>
                      </a:r>
                    </a:p>
                  </a:txBody>
                  <a:tcPr marL="109728" marR="109728" marT="73152" marB="73152" anchor="ctr">
                    <a:solidFill>
                      <a:srgbClr val="FFFFFF"/>
                    </a:solidFill>
                  </a:tcPr>
                </a:tc>
                <a:tc>
                  <a:txBody>
                    <a:bodyPr/>
                    <a:lstStyle/>
                    <a:p>
                      <a:r>
                        <a:rPr sz="1200" b="1">
                          <a:solidFill>
                            <a:srgbClr val="2563EB"/>
                          </a:solidFill>
                          <a:latin typeface="Pretendard"/>
                        </a:rPr>
                        <a:t>B 매일 안내 / C 감지</a:t>
                      </a:r>
                    </a:p>
                  </a:txBody>
                  <a:tcPr marL="109728" marR="109728" marT="73152" marB="73152" anchor="ctr">
                    <a:solidFill>
                      <a:srgbClr val="DBEAFE"/>
                    </a:solidFill>
                  </a:tcPr>
                </a:tc>
                <a:tc>
                  <a:txBody>
                    <a:bodyPr/>
                    <a:lstStyle/>
                    <a:p>
                      <a:r>
                        <a:rPr sz="1200" b="0">
                          <a:solidFill>
                            <a:srgbClr val="0F172A"/>
                          </a:solidFill>
                          <a:latin typeface="Pretendard"/>
                        </a:rPr>
                        <a:t>하루 시작과 다음 일정, 이동을 안내하고 변화를 감지한다.</a:t>
                      </a:r>
                    </a:p>
                  </a:txBody>
                  <a:tcPr marL="109728" marR="109728" marT="73152" marB="73152" anchor="ctr">
                    <a:solidFill>
                      <a:srgbClr val="FFFFFF"/>
                    </a:solidFill>
                  </a:tcPr>
                </a:tc>
                <a:extLst>
                  <a:ext uri="{0D108BD9-81ED-4DB2-BD59-A6C34878D82A}">
                    <a16:rowId xmlns:a16="http://schemas.microsoft.com/office/drawing/2014/main" val="10002"/>
                  </a:ext>
                </a:extLst>
              </a:tr>
              <a:tr h="539496">
                <a:tc>
                  <a:txBody>
                    <a:bodyPr/>
                    <a:lstStyle/>
                    <a:p>
                      <a:r>
                        <a:rPr sz="1200" b="0">
                          <a:solidFill>
                            <a:srgbClr val="0F172A"/>
                          </a:solidFill>
                          <a:latin typeface="Pretendard"/>
                        </a:rPr>
                        <a:t>업체</a:t>
                      </a:r>
                    </a:p>
                  </a:txBody>
                  <a:tcPr marL="109728" marR="109728" marT="73152" marB="73152" anchor="ctr">
                    <a:solidFill>
                      <a:srgbClr val="FFFFFF"/>
                    </a:solidFill>
                  </a:tcPr>
                </a:tc>
                <a:tc>
                  <a:txBody>
                    <a:bodyPr/>
                    <a:lstStyle/>
                    <a:p>
                      <a:r>
                        <a:rPr sz="1200" b="1">
                          <a:solidFill>
                            <a:srgbClr val="475569"/>
                          </a:solidFill>
                          <a:latin typeface="Pretendard"/>
                        </a:rPr>
                        <a:t>E 예약</a:t>
                      </a:r>
                    </a:p>
                  </a:txBody>
                  <a:tcPr marL="109728" marR="109728" marT="73152" marB="73152" anchor="ctr">
                    <a:solidFill>
                      <a:srgbClr val="F1F5F9"/>
                    </a:solidFill>
                  </a:tcPr>
                </a:tc>
                <a:tc>
                  <a:txBody>
                    <a:bodyPr/>
                    <a:lstStyle/>
                    <a:p>
                      <a:r>
                        <a:rPr sz="1200" b="0">
                          <a:solidFill>
                            <a:srgbClr val="0F172A"/>
                          </a:solidFill>
                          <a:latin typeface="Pretendard"/>
                        </a:rPr>
                        <a:t>모의 업체를 쓴다. 실제 예약은 최소 기능 제품 이후다.</a:t>
                      </a:r>
                    </a:p>
                  </a:txBody>
                  <a:tcPr marL="109728" marR="109728" marT="73152" marB="73152" anchor="ctr">
                    <a:solidFill>
                      <a:srgbClr val="FFFFFF"/>
                    </a:solidFill>
                  </a:tcPr>
                </a:tc>
                <a:extLst>
                  <a:ext uri="{0D108BD9-81ED-4DB2-BD59-A6C34878D82A}">
                    <a16:rowId xmlns:a16="http://schemas.microsoft.com/office/drawing/2014/main" val="10003"/>
                  </a:ext>
                </a:extLst>
              </a:tr>
              <a:tr h="539496">
                <a:tc>
                  <a:txBody>
                    <a:bodyPr/>
                    <a:lstStyle/>
                    <a:p>
                      <a:r>
                        <a:rPr sz="1200" b="0">
                          <a:solidFill>
                            <a:srgbClr val="0F172A"/>
                          </a:solidFill>
                          <a:latin typeface="Pretendard"/>
                        </a:rPr>
                        <a:t>개발·운영팀</a:t>
                      </a:r>
                    </a:p>
                  </a:txBody>
                  <a:tcPr marL="109728" marR="109728" marT="73152" marB="73152" anchor="ctr">
                    <a:solidFill>
                      <a:srgbClr val="FFFFFF"/>
                    </a:solidFill>
                  </a:tcPr>
                </a:tc>
                <a:tc>
                  <a:txBody>
                    <a:bodyPr/>
                    <a:lstStyle/>
                    <a:p>
                      <a:r>
                        <a:rPr sz="1200" b="1">
                          <a:solidFill>
                            <a:srgbClr val="2563EB"/>
                          </a:solidFill>
                          <a:latin typeface="Pretendard"/>
                        </a:rPr>
                        <a:t>F 결함 / G 실행 관리</a:t>
                      </a:r>
                    </a:p>
                    <a:p>
                      <a:r>
                        <a:rPr sz="1200" b="1">
                          <a:solidFill>
                            <a:srgbClr val="2563EB"/>
                          </a:solidFill>
                          <a:latin typeface="Pretendard"/>
                        </a:rPr>
                        <a:t>H 검증 / I 데이터·배포</a:t>
                      </a:r>
                    </a:p>
                  </a:txBody>
                  <a:tcPr marL="109728" marR="109728" marT="73152" marB="73152" anchor="ctr">
                    <a:solidFill>
                      <a:srgbClr val="DBEAFE"/>
                    </a:solidFill>
                  </a:tcPr>
                </a:tc>
                <a:tc>
                  <a:txBody>
                    <a:bodyPr/>
                    <a:lstStyle/>
                    <a:p>
                      <a:r>
                        <a:rPr sz="1200" b="0">
                          <a:solidFill>
                            <a:srgbClr val="0F172A"/>
                          </a:solidFill>
                          <a:latin typeface="Pretendard"/>
                        </a:rPr>
                        <a:t>버그와 밀린 일, 알림 발송을 관리한다.</a:t>
                      </a:r>
                    </a:p>
                    <a:p>
                      <a:r>
                        <a:rPr sz="1200" b="0">
                          <a:solidFill>
                            <a:srgbClr val="0F172A"/>
                          </a:solidFill>
                          <a:latin typeface="Pretendard"/>
                        </a:rPr>
                        <a:t>시험과 시나리오를 재고 데이터와 배포를 관리한다.</a:t>
                      </a:r>
                    </a:p>
                  </a:txBody>
                  <a:tcPr marL="109728" marR="109728" marT="73152" marB="73152" anchor="ctr">
                    <a:solidFill>
                      <a:srgbClr val="FFFFFF"/>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457200" y="4599432"/>
            <a:ext cx="2057400" cy="7772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4690872"/>
            <a:ext cx="1856231" cy="64008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03:00</a:t>
            </a:r>
          </a:p>
          <a:p>
            <a:pPr algn="ctr">
              <a:spcAft>
                <a:spcPts val="300"/>
              </a:spcAft>
            </a:pPr>
            <a:r>
              <a:rPr sz="1200" b="0">
                <a:solidFill>
                  <a:srgbClr val="475569"/>
                </a:solidFill>
                <a:latin typeface="Pretendard"/>
              </a:rPr>
              <a:t>새벽 식당 확인</a:t>
            </a:r>
          </a:p>
        </p:txBody>
      </p:sp>
      <p:sp>
        <p:nvSpPr>
          <p:cNvPr id="11" name="Rounded Rectangle 10"/>
          <p:cNvSpPr/>
          <p:nvPr/>
        </p:nvSpPr>
        <p:spPr>
          <a:xfrm>
            <a:off x="2743200" y="4599432"/>
            <a:ext cx="2057400" cy="7772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52928" y="4690872"/>
            <a:ext cx="1856231" cy="64008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08:00</a:t>
            </a:r>
          </a:p>
          <a:p>
            <a:pPr algn="ctr">
              <a:spcAft>
                <a:spcPts val="300"/>
              </a:spcAft>
            </a:pPr>
            <a:r>
              <a:rPr sz="1200" b="0">
                <a:solidFill>
                  <a:srgbClr val="475569"/>
                </a:solidFill>
                <a:latin typeface="Pretendard"/>
              </a:rPr>
              <a:t>① 하루 시작</a:t>
            </a:r>
          </a:p>
        </p:txBody>
      </p:sp>
      <p:cxnSp>
        <p:nvCxnSpPr>
          <p:cNvPr id="13" name="Connector 12"/>
          <p:cNvCxnSpPr/>
          <p:nvPr/>
        </p:nvCxnSpPr>
        <p:spPr>
          <a:xfrm>
            <a:off x="2532888" y="4983480"/>
            <a:ext cx="182880"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0" y="4599432"/>
            <a:ext cx="2057400" cy="7772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38928" y="4690872"/>
            <a:ext cx="1856231" cy="64008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일정 시작</a:t>
            </a:r>
          </a:p>
          <a:p>
            <a:pPr algn="ctr">
              <a:spcAft>
                <a:spcPts val="300"/>
              </a:spcAft>
            </a:pPr>
            <a:r>
              <a:rPr sz="1200" b="0">
                <a:solidFill>
                  <a:srgbClr val="475569"/>
                </a:solidFill>
                <a:latin typeface="Pretendard"/>
              </a:rPr>
              <a:t>② 다음 일정</a:t>
            </a:r>
          </a:p>
        </p:txBody>
      </p:sp>
      <p:cxnSp>
        <p:nvCxnSpPr>
          <p:cNvPr id="16" name="Connector 15"/>
          <p:cNvCxnSpPr/>
          <p:nvPr/>
        </p:nvCxnSpPr>
        <p:spPr>
          <a:xfrm>
            <a:off x="4818888" y="4983480"/>
            <a:ext cx="182880"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0" y="4599432"/>
            <a:ext cx="2057400" cy="7772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4927" y="4690872"/>
            <a:ext cx="1856231" cy="64008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이동 시작</a:t>
            </a:r>
          </a:p>
          <a:p>
            <a:pPr algn="ctr">
              <a:spcAft>
                <a:spcPts val="300"/>
              </a:spcAft>
            </a:pPr>
            <a:r>
              <a:rPr sz="1200" b="0">
                <a:solidFill>
                  <a:srgbClr val="475569"/>
                </a:solidFill>
                <a:latin typeface="Pretendard"/>
              </a:rPr>
              <a:t>③ 이동 안내</a:t>
            </a:r>
          </a:p>
        </p:txBody>
      </p:sp>
      <p:cxnSp>
        <p:nvCxnSpPr>
          <p:cNvPr id="19" name="Connector 18"/>
          <p:cNvCxnSpPr/>
          <p:nvPr/>
        </p:nvCxnSpPr>
        <p:spPr>
          <a:xfrm>
            <a:off x="7104888" y="4983480"/>
            <a:ext cx="182880"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01200" y="4599432"/>
            <a:ext cx="2057400" cy="77724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10928" y="4690872"/>
            <a:ext cx="1856231" cy="64008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수시</a:t>
            </a:r>
          </a:p>
          <a:p>
            <a:pPr algn="ctr">
              <a:spcAft>
                <a:spcPts val="300"/>
              </a:spcAft>
            </a:pPr>
            <a:r>
              <a:rPr sz="1200" b="0">
                <a:solidFill>
                  <a:srgbClr val="475569"/>
                </a:solidFill>
                <a:latin typeface="Pretendard"/>
              </a:rPr>
              <a:t>3분 감시</a:t>
            </a:r>
          </a:p>
        </p:txBody>
      </p:sp>
      <p:sp>
        <p:nvSpPr>
          <p:cNvPr id="22" name="TextBox 21"/>
          <p:cNvSpPr txBox="1"/>
          <p:nvPr/>
        </p:nvSpPr>
        <p:spPr>
          <a:xfrm>
            <a:off x="9628632" y="5504688"/>
            <a:ext cx="2057400" cy="320040"/>
          </a:xfrm>
          <a:prstGeom prst="rect">
            <a:avLst/>
          </a:prstGeom>
          <a:noFill/>
        </p:spPr>
        <p:txBody>
          <a:bodyPr wrap="square" lIns="18288" tIns="0" rIns="18288" bIns="0" anchor="t">
            <a:spAutoFit/>
          </a:bodyPr>
          <a:lstStyle/>
          <a:p>
            <a:pPr algn="l">
              <a:spcAft>
                <a:spcPts val="300"/>
              </a:spcAft>
            </a:pPr>
            <a:r>
              <a:rPr sz="1200" b="0">
                <a:solidFill>
                  <a:srgbClr val="475569"/>
                </a:solidFill>
                <a:latin typeface="Pretendard"/>
              </a:rPr>
              <a:t>감시는 별도로 돈다.</a:t>
            </a:r>
          </a:p>
        </p:txBody>
      </p:sp>
      <p:sp>
        <p:nvSpPr>
          <p:cNvPr id="23" name="TextBox 22"/>
          <p:cNvSpPr txBox="1"/>
          <p:nvPr/>
        </p:nvSpPr>
        <p:spPr>
          <a:xfrm>
            <a:off x="502920" y="5943600"/>
            <a:ext cx="10972800" cy="411480"/>
          </a:xfrm>
          <a:prstGeom prst="rect">
            <a:avLst/>
          </a:prstGeom>
          <a:noFill/>
        </p:spPr>
        <p:txBody>
          <a:bodyPr wrap="square" lIns="18288" tIns="0" rIns="18288" bIns="0" anchor="t">
            <a:spAutoFit/>
          </a:bodyPr>
          <a:lstStyle/>
          <a:p>
            <a:pPr algn="l">
              <a:spcAft>
                <a:spcPts val="300"/>
              </a:spcAft>
            </a:pPr>
            <a:r>
              <a:rPr sz="1400" b="0">
                <a:solidFill>
                  <a:srgbClr val="0F172A"/>
                </a:solidFill>
                <a:latin typeface="Pretendard"/>
              </a:rPr>
              <a:t>③ 출발 시각은 다음 일정 시작에서 이동 시간과 여유 10분을 뺀 때다.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457200"/>
          </a:xfrm>
          <a:prstGeom prst="rect">
            <a:avLst/>
          </a:prstGeom>
          <a:noFill/>
        </p:spPr>
        <p:txBody>
          <a:bodyPr wrap="square" lIns="18288" tIns="0" rIns="18288" bIns="0" anchor="t">
            <a:spAutoFit/>
          </a:bodyPr>
          <a:lstStyle/>
          <a:p>
            <a:pPr algn="l">
              <a:spcAft>
                <a:spcPts val="300"/>
              </a:spcAft>
            </a:pPr>
            <a:r>
              <a:rPr sz="2400" b="1">
                <a:solidFill>
                  <a:srgbClr val="0F172A"/>
                </a:solidFill>
                <a:latin typeface="Pretendard"/>
              </a:rPr>
              <a:t>점검한 10개 항목 중 6개를 완료했다</a:t>
            </a: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준비 상태</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5</a:t>
            </a:r>
          </a:p>
        </p:txBody>
      </p:sp>
      <p:sp>
        <p:nvSpPr>
          <p:cNvPr id="7" name="TextBox 6"/>
          <p:cNvSpPr txBox="1"/>
          <p:nvPr/>
        </p:nvSpPr>
        <p:spPr>
          <a:xfrm>
            <a:off x="502920" y="1024128"/>
            <a:ext cx="10972800" cy="411480"/>
          </a:xfrm>
          <a:prstGeom prst="rect">
            <a:avLst/>
          </a:prstGeom>
          <a:noFill/>
        </p:spPr>
        <p:txBody>
          <a:bodyPr wrap="square" lIns="18288" tIns="0" rIns="18288" bIns="0" anchor="t">
            <a:spAutoFit/>
          </a:bodyPr>
          <a:lstStyle/>
          <a:p>
            <a:pPr algn="l">
              <a:spcAft>
                <a:spcPts val="300"/>
              </a:spcAft>
            </a:pPr>
            <a:r>
              <a:rPr sz="1400" b="0">
                <a:solidFill>
                  <a:srgbClr val="0F172A"/>
                </a:solidFill>
                <a:latin typeface="Pretendard"/>
              </a:rPr>
              <a:t>2026-09-28 코드 대조: 완료 6개 / 부분 2개 / 없음 1개 / 팀 몫 1개</a:t>
            </a:r>
          </a:p>
        </p:txBody>
      </p:sp>
      <p:graphicFrame>
        <p:nvGraphicFramePr>
          <p:cNvPr id="8" name="Table 7"/>
          <p:cNvGraphicFramePr>
            <a:graphicFrameLocks noGrp="1"/>
          </p:cNvGraphicFramePr>
          <p:nvPr/>
        </p:nvGraphicFramePr>
        <p:xfrm>
          <a:off x="457200" y="1691640"/>
          <a:ext cx="11292840" cy="44348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633548">
                <a:tc>
                  <a:txBody>
                    <a:bodyPr/>
                    <a:lstStyle/>
                    <a:p>
                      <a:r>
                        <a:rPr sz="1200" b="1">
                          <a:solidFill>
                            <a:srgbClr val="FFFFFF"/>
                          </a:solidFill>
                          <a:latin typeface="Pretendard"/>
                        </a:rPr>
                        <a:t>항목</a:t>
                      </a:r>
                    </a:p>
                  </a:txBody>
                  <a:tcPr marL="109728" marR="109728" marT="73152" marB="73152" anchor="ctr">
                    <a:solidFill>
                      <a:srgbClr val="0F172A"/>
                    </a:solidFill>
                  </a:tcPr>
                </a:tc>
                <a:tc>
                  <a:txBody>
                    <a:bodyPr/>
                    <a:lstStyle/>
                    <a:p>
                      <a:r>
                        <a:rPr sz="1200" b="1">
                          <a:solidFill>
                            <a:srgbClr val="FFFFFF"/>
                          </a:solidFill>
                          <a:latin typeface="Pretendard"/>
                        </a:rPr>
                        <a:t>상태</a:t>
                      </a:r>
                    </a:p>
                  </a:txBody>
                  <a:tcPr marL="109728" marR="109728" marT="73152" marB="73152" anchor="ctr">
                    <a:solidFill>
                      <a:srgbClr val="0F172A"/>
                    </a:solidFill>
                  </a:tcPr>
                </a:tc>
                <a:tc>
                  <a:txBody>
                    <a:bodyPr/>
                    <a:lstStyle/>
                    <a:p>
                      <a:r>
                        <a:rPr sz="1200" b="1">
                          <a:solidFill>
                            <a:srgbClr val="FFFFFF"/>
                          </a:solidFill>
                          <a:latin typeface="Pretendard"/>
                        </a:rPr>
                        <a:t>근거와 남은 일</a:t>
                      </a:r>
                    </a:p>
                  </a:txBody>
                  <a:tcPr marL="109728" marR="109728" marT="73152" marB="73152" anchor="ctr">
                    <a:solidFill>
                      <a:srgbClr val="0F172A"/>
                    </a:solidFill>
                  </a:tcPr>
                </a:tc>
                <a:extLst>
                  <a:ext uri="{0D108BD9-81ED-4DB2-BD59-A6C34878D82A}">
                    <a16:rowId xmlns:a16="http://schemas.microsoft.com/office/drawing/2014/main" val="10000"/>
                  </a:ext>
                </a:extLst>
              </a:tr>
              <a:tr h="633548">
                <a:tc>
                  <a:txBody>
                    <a:bodyPr/>
                    <a:lstStyle/>
                    <a:p>
                      <a:r>
                        <a:rPr sz="1200" b="0">
                          <a:solidFill>
                            <a:srgbClr val="0F172A"/>
                          </a:solidFill>
                          <a:latin typeface="Pretendard"/>
                        </a:rPr>
                        <a:t>여행 테마·구성·이동수단 등 설문</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내국인 여부와 우선순위 1·2도 받는다. 판정에는 아직 쓰지 않는다.</a:t>
                      </a:r>
                    </a:p>
                  </a:txBody>
                  <a:tcPr marL="109728" marR="109728" marT="73152" marB="73152" anchor="ctr">
                    <a:solidFill>
                      <a:srgbClr val="FFFFFF"/>
                    </a:solidFill>
                  </a:tcPr>
                </a:tc>
                <a:extLst>
                  <a:ext uri="{0D108BD9-81ED-4DB2-BD59-A6C34878D82A}">
                    <a16:rowId xmlns:a16="http://schemas.microsoft.com/office/drawing/2014/main" val="10001"/>
                  </a:ext>
                </a:extLst>
              </a:tr>
              <a:tr h="633548">
                <a:tc>
                  <a:txBody>
                    <a:bodyPr/>
                    <a:lstStyle/>
                    <a:p>
                      <a:r>
                        <a:rPr sz="1200" b="0">
                          <a:solidFill>
                            <a:srgbClr val="0F172A"/>
                          </a:solidFill>
                          <a:latin typeface="Pretendard"/>
                        </a:rPr>
                        <a:t>13 실내·실외 / 14 세부 테마</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세부 선택지는 담당 팀이 정한다.</a:t>
                      </a:r>
                    </a:p>
                  </a:txBody>
                  <a:tcPr marL="109728" marR="109728" marT="73152" marB="73152" anchor="ctr">
                    <a:solidFill>
                      <a:srgbClr val="FFFFFF"/>
                    </a:solidFill>
                  </a:tcPr>
                </a:tc>
                <a:extLst>
                  <a:ext uri="{0D108BD9-81ED-4DB2-BD59-A6C34878D82A}">
                    <a16:rowId xmlns:a16="http://schemas.microsoft.com/office/drawing/2014/main" val="10002"/>
                  </a:ext>
                </a:extLst>
              </a:tr>
              <a:tr h="633548">
                <a:tc>
                  <a:txBody>
                    <a:bodyPr/>
                    <a:lstStyle/>
                    <a:p>
                      <a:r>
                        <a:rPr sz="1200" b="0">
                          <a:solidFill>
                            <a:srgbClr val="0F172A"/>
                          </a:solidFill>
                          <a:latin typeface="Pretendard"/>
                        </a:rPr>
                        <a:t>15 일정이 꼬이면</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바로 적용하거나 먼저 묻는다. 보류 제안과 시험 18건이 있다.</a:t>
                      </a:r>
                    </a:p>
                  </a:txBody>
                  <a:tcPr marL="109728" marR="109728" marT="73152" marB="73152" anchor="ctr">
                    <a:solidFill>
                      <a:srgbClr val="FFFFFF"/>
                    </a:solidFill>
                  </a:tcPr>
                </a:tc>
                <a:extLst>
                  <a:ext uri="{0D108BD9-81ED-4DB2-BD59-A6C34878D82A}">
                    <a16:rowId xmlns:a16="http://schemas.microsoft.com/office/drawing/2014/main" val="10003"/>
                  </a:ext>
                </a:extLst>
              </a:tr>
              <a:tr h="633548">
                <a:tc>
                  <a:txBody>
                    <a:bodyPr/>
                    <a:lstStyle/>
                    <a:p>
                      <a:r>
                        <a:rPr sz="1200" b="0">
                          <a:solidFill>
                            <a:srgbClr val="0F172A"/>
                          </a:solidFill>
                          <a:latin typeface="Pretendard"/>
                        </a:rPr>
                        <a:t>16 여유에 따른 밀도 목표</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0.40 / 0.55 / 0.70에 맞춰 하루 장소 수를 고른다.</a:t>
                      </a:r>
                    </a:p>
                  </a:txBody>
                  <a:tcPr marL="109728" marR="109728" marT="73152" marB="73152" anchor="ctr">
                    <a:solidFill>
                      <a:srgbClr val="FFFFFF"/>
                    </a:solidFill>
                  </a:tcPr>
                </a:tc>
                <a:extLst>
                  <a:ext uri="{0D108BD9-81ED-4DB2-BD59-A6C34878D82A}">
                    <a16:rowId xmlns:a16="http://schemas.microsoft.com/office/drawing/2014/main" val="10004"/>
                  </a:ext>
                </a:extLst>
              </a:tr>
              <a:tr h="633548">
                <a:tc>
                  <a:txBody>
                    <a:bodyPr/>
                    <a:lstStyle/>
                    <a:p>
                      <a:r>
                        <a:rPr sz="1200" b="0">
                          <a:solidFill>
                            <a:srgbClr val="0F172A"/>
                          </a:solidFill>
                          <a:latin typeface="Pretendard"/>
                        </a:rPr>
                        <a:t>하루 기본 시간 08:00~22:00</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「절반 숙소 나감 10시」의 뜻은 정하지 않았다.</a:t>
                      </a:r>
                    </a:p>
                  </a:txBody>
                  <a:tcPr marL="109728" marR="109728" marT="73152" marB="73152" anchor="ctr">
                    <a:solidFill>
                      <a:srgbClr val="FFFFFF"/>
                    </a:solidFill>
                  </a:tcPr>
                </a:tc>
                <a:extLst>
                  <a:ext uri="{0D108BD9-81ED-4DB2-BD59-A6C34878D82A}">
                    <a16:rowId xmlns:a16="http://schemas.microsoft.com/office/drawing/2014/main" val="10005"/>
                  </a:ext>
                </a:extLst>
              </a:tr>
              <a:tr h="633552">
                <a:tc>
                  <a:txBody>
                    <a:bodyPr/>
                    <a:lstStyle/>
                    <a:p>
                      <a:r>
                        <a:rPr sz="1200" b="0">
                          <a:solidFill>
                            <a:srgbClr val="0F172A"/>
                          </a:solidFill>
                          <a:latin typeface="Pretendard"/>
                        </a:rPr>
                        <a:t>식당 영업 확인·사용자 요청</a:t>
                      </a:r>
                    </a:p>
                  </a:txBody>
                  <a:tcPr marL="109728" marR="109728" marT="73152" marB="73152" anchor="ctr">
                    <a:solidFill>
                      <a:srgbClr val="FFFFFF"/>
                    </a:solidFill>
                  </a:tcPr>
                </a:tc>
                <a:tc>
                  <a:txBody>
                    <a:bodyPr/>
                    <a:lstStyle/>
                    <a:p>
                      <a:r>
                        <a:rPr sz="1200" b="1">
                          <a:solidFill>
                            <a:srgbClr val="059669"/>
                          </a:solidFill>
                          <a:latin typeface="Pretendard"/>
                        </a:rPr>
                        <a:t>완료</a:t>
                      </a:r>
                    </a:p>
                  </a:txBody>
                  <a:tcPr marL="109728" marR="109728" marT="73152" marB="73152" anchor="ctr">
                    <a:solidFill>
                      <a:srgbClr val="DCFCE7"/>
                    </a:solidFill>
                  </a:tcPr>
                </a:tc>
                <a:tc>
                  <a:txBody>
                    <a:bodyPr/>
                    <a:lstStyle/>
                    <a:p>
                      <a:r>
                        <a:rPr sz="1200" b="0">
                          <a:solidFill>
                            <a:srgbClr val="0F172A"/>
                          </a:solidFill>
                          <a:latin typeface="Pretendard"/>
                        </a:rPr>
                        <a:t>새벽 3시에 확인한다. 구글 무료 한도 내 호출 예산을 건다.</a:t>
                      </a:r>
                    </a:p>
                  </a:txBody>
                  <a:tcPr marL="109728" marR="109728" marT="73152" marB="73152"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369332"/>
          </a:xfrm>
          <a:prstGeom prst="rect">
            <a:avLst/>
          </a:prstGeom>
          <a:noFill/>
        </p:spPr>
        <p:txBody>
          <a:bodyPr wrap="square" lIns="18288" tIns="0" rIns="18288" bIns="0" anchor="t">
            <a:spAutoFit/>
          </a:bodyPr>
          <a:lstStyle/>
          <a:p>
            <a:pPr algn="l">
              <a:spcAft>
                <a:spcPts val="300"/>
              </a:spcAft>
            </a:pPr>
            <a:r>
              <a:rPr sz="2400" b="1" dirty="0" err="1">
                <a:solidFill>
                  <a:srgbClr val="0F172A"/>
                </a:solidFill>
                <a:latin typeface="Pretendard"/>
              </a:rPr>
              <a:t>감지</a:t>
            </a:r>
            <a:r>
              <a:rPr lang="en-US" sz="2400" b="1" dirty="0">
                <a:solidFill>
                  <a:srgbClr val="0F172A"/>
                </a:solidFill>
                <a:latin typeface="Pretendard"/>
              </a:rPr>
              <a:t> &amp;</a:t>
            </a:r>
            <a:r>
              <a:rPr sz="2400" b="1" dirty="0">
                <a:solidFill>
                  <a:srgbClr val="0F172A"/>
                </a:solidFill>
                <a:latin typeface="Pretendard"/>
              </a:rPr>
              <a:t> </a:t>
            </a:r>
            <a:r>
              <a:rPr sz="2400" b="1" dirty="0" err="1">
                <a:solidFill>
                  <a:srgbClr val="0F172A"/>
                </a:solidFill>
                <a:latin typeface="Pretendard"/>
              </a:rPr>
              <a:t>요청</a:t>
            </a:r>
            <a:r>
              <a:rPr lang="en-US" sz="2400" b="1" dirty="0">
                <a:solidFill>
                  <a:srgbClr val="0F172A"/>
                </a:solidFill>
                <a:latin typeface="Pretendard"/>
              </a:rPr>
              <a:t> -&gt; </a:t>
            </a:r>
            <a:r>
              <a:rPr lang="ko-KR" altLang="en-US" sz="2400" b="1" dirty="0">
                <a:solidFill>
                  <a:srgbClr val="0F172A"/>
                </a:solidFill>
                <a:latin typeface="Pretendard"/>
              </a:rPr>
              <a:t>변경</a:t>
            </a:r>
            <a:endParaRPr sz="2400" b="1" dirty="0">
              <a:solidFill>
                <a:srgbClr val="0F172A"/>
              </a:solidFill>
              <a:latin typeface="Pretendard"/>
            </a:endParaRP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변경 흐름</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7</a:t>
            </a:r>
          </a:p>
        </p:txBody>
      </p:sp>
      <p:sp>
        <p:nvSpPr>
          <p:cNvPr id="7" name="Rounded Rectangle 6"/>
          <p:cNvSpPr/>
          <p:nvPr/>
        </p:nvSpPr>
        <p:spPr>
          <a:xfrm>
            <a:off x="457200" y="1234440"/>
            <a:ext cx="214884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36245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325880"/>
            <a:ext cx="180136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시스템이 감지한다</a:t>
            </a:r>
          </a:p>
          <a:p>
            <a:pPr algn="l">
              <a:spcAft>
                <a:spcPts val="300"/>
              </a:spcAft>
            </a:pPr>
            <a:r>
              <a:rPr sz="1200" b="0">
                <a:solidFill>
                  <a:srgbClr val="475569"/>
                </a:solidFill>
                <a:latin typeface="Pretendard"/>
              </a:rPr>
              <a:t>3분마다 살핀다.</a:t>
            </a:r>
          </a:p>
        </p:txBody>
      </p:sp>
      <p:sp>
        <p:nvSpPr>
          <p:cNvPr id="10" name="Rounded Rectangle 9"/>
          <p:cNvSpPr/>
          <p:nvPr/>
        </p:nvSpPr>
        <p:spPr>
          <a:xfrm>
            <a:off x="457200" y="2606040"/>
            <a:ext cx="214884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273405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2697480"/>
            <a:ext cx="180136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여행자가 요청한다</a:t>
            </a:r>
          </a:p>
          <a:p>
            <a:pPr algn="l">
              <a:spcAft>
                <a:spcPts val="300"/>
              </a:spcAft>
            </a:pPr>
            <a:r>
              <a:rPr sz="1200" b="0">
                <a:solidFill>
                  <a:srgbClr val="475569"/>
                </a:solidFill>
                <a:latin typeface="Pretendard"/>
              </a:rPr>
              <a:t>신고를 분류한다.</a:t>
            </a:r>
          </a:p>
        </p:txBody>
      </p:sp>
      <p:sp>
        <p:nvSpPr>
          <p:cNvPr id="13" name="Rounded Rectangle 12"/>
          <p:cNvSpPr/>
          <p:nvPr/>
        </p:nvSpPr>
        <p:spPr>
          <a:xfrm>
            <a:off x="2907792" y="1938528"/>
            <a:ext cx="205740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17520" y="206654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63824" y="2029968"/>
            <a:ext cx="170992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대안을 만든다</a:t>
            </a:r>
          </a:p>
          <a:p>
            <a:pPr algn="l">
              <a:spcAft>
                <a:spcPts val="300"/>
              </a:spcAft>
            </a:pPr>
            <a:r>
              <a:rPr sz="1200" b="0">
                <a:solidFill>
                  <a:srgbClr val="475569"/>
                </a:solidFill>
                <a:latin typeface="Pretendard"/>
              </a:rPr>
              <a:t>시각·종류를 맞춘다.</a:t>
            </a:r>
          </a:p>
        </p:txBody>
      </p:sp>
      <p:sp>
        <p:nvSpPr>
          <p:cNvPr id="16" name="Rounded Rectangle 15"/>
          <p:cNvSpPr/>
          <p:nvPr/>
        </p:nvSpPr>
        <p:spPr>
          <a:xfrm>
            <a:off x="5166360" y="1938528"/>
            <a:ext cx="205740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76088" y="206654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22392" y="2029968"/>
            <a:ext cx="170992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적용 여부를 정한다</a:t>
            </a:r>
          </a:p>
          <a:p>
            <a:pPr algn="l">
              <a:spcAft>
                <a:spcPts val="300"/>
              </a:spcAft>
            </a:pPr>
            <a:r>
              <a:rPr sz="1200" b="0">
                <a:solidFill>
                  <a:srgbClr val="475569"/>
                </a:solidFill>
                <a:latin typeface="Pretendard"/>
              </a:rPr>
              <a:t>바꿀지 물을지 정한다.</a:t>
            </a:r>
          </a:p>
        </p:txBody>
      </p:sp>
      <p:cxnSp>
        <p:nvCxnSpPr>
          <p:cNvPr id="19" name="Connector 18"/>
          <p:cNvCxnSpPr/>
          <p:nvPr/>
        </p:nvCxnSpPr>
        <p:spPr>
          <a:xfrm>
            <a:off x="4983480" y="2377440"/>
            <a:ext cx="155448"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24928" y="1938528"/>
            <a:ext cx="205740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534656" y="206654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0" y="2029968"/>
            <a:ext cx="170992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변경을 기록한다</a:t>
            </a:r>
          </a:p>
          <a:p>
            <a:pPr algn="l">
              <a:spcAft>
                <a:spcPts val="300"/>
              </a:spcAft>
            </a:pPr>
            <a:r>
              <a:rPr sz="1200" b="0">
                <a:solidFill>
                  <a:srgbClr val="475569"/>
                </a:solidFill>
                <a:latin typeface="Pretendard"/>
              </a:rPr>
              <a:t>새 일정을 저장한다.</a:t>
            </a:r>
          </a:p>
        </p:txBody>
      </p:sp>
      <p:cxnSp>
        <p:nvCxnSpPr>
          <p:cNvPr id="23" name="Connector 22"/>
          <p:cNvCxnSpPr/>
          <p:nvPr/>
        </p:nvCxnSpPr>
        <p:spPr>
          <a:xfrm>
            <a:off x="7242048" y="2377440"/>
            <a:ext cx="155448"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83496" y="1938528"/>
            <a:ext cx="205740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793224" y="206654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39528" y="2029968"/>
            <a:ext cx="170992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결과를 알린다</a:t>
            </a:r>
          </a:p>
          <a:p>
            <a:pPr algn="l">
              <a:spcAft>
                <a:spcPts val="300"/>
              </a:spcAft>
            </a:pPr>
            <a:r>
              <a:rPr sz="1200" b="0">
                <a:solidFill>
                  <a:srgbClr val="475569"/>
                </a:solidFill>
                <a:latin typeface="Pretendard"/>
              </a:rPr>
              <a:t>알림이나 답을 보낸다.</a:t>
            </a:r>
          </a:p>
        </p:txBody>
      </p:sp>
      <p:cxnSp>
        <p:nvCxnSpPr>
          <p:cNvPr id="27" name="Connector 26"/>
          <p:cNvCxnSpPr/>
          <p:nvPr/>
        </p:nvCxnSpPr>
        <p:spPr>
          <a:xfrm>
            <a:off x="9500616" y="2377440"/>
            <a:ext cx="155448"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624328" y="1664208"/>
            <a:ext cx="256032" cy="493776"/>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624328" y="2560320"/>
            <a:ext cx="256032" cy="475488"/>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 y="3794760"/>
            <a:ext cx="5486400" cy="9144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66928" y="392277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3886200"/>
            <a:ext cx="5138928" cy="7772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먼저 묻는 경우</a:t>
            </a:r>
          </a:p>
          <a:p>
            <a:pPr algn="l">
              <a:spcAft>
                <a:spcPts val="300"/>
              </a:spcAft>
            </a:pPr>
            <a:r>
              <a:rPr sz="1200" b="0">
                <a:solidFill>
                  <a:srgbClr val="475569"/>
                </a:solidFill>
                <a:latin typeface="Pretendard"/>
              </a:rPr>
              <a:t>고정 일정이나 「먼저 물어봐줘」 여행이면</a:t>
            </a:r>
          </a:p>
          <a:p>
            <a:pPr algn="l">
              <a:spcAft>
                <a:spcPts val="300"/>
              </a:spcAft>
            </a:pPr>
            <a:r>
              <a:rPr sz="1200" b="0">
                <a:solidFill>
                  <a:srgbClr val="475569"/>
                </a:solidFill>
                <a:latin typeface="Pretendard"/>
              </a:rPr>
              <a:t>대안 1·2·3을 보여 주고 기다린다.</a:t>
            </a:r>
          </a:p>
        </p:txBody>
      </p:sp>
      <p:sp>
        <p:nvSpPr>
          <p:cNvPr id="33" name="Rounded Rectangle 32"/>
          <p:cNvSpPr/>
          <p:nvPr/>
        </p:nvSpPr>
        <p:spPr>
          <a:xfrm>
            <a:off x="6217920" y="3794760"/>
            <a:ext cx="5532120" cy="91440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327648" y="392277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73952" y="3886200"/>
            <a:ext cx="5184648" cy="777240"/>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바로 적용하는 경우</a:t>
            </a:r>
          </a:p>
          <a:p>
            <a:pPr algn="l">
              <a:spcAft>
                <a:spcPts val="300"/>
              </a:spcAft>
            </a:pPr>
            <a:r>
              <a:rPr sz="1200" b="0">
                <a:solidFill>
                  <a:srgbClr val="475569"/>
                </a:solidFill>
                <a:latin typeface="Pretendard"/>
              </a:rPr>
              <a:t>그 외에는 가장 좋은 대안을 적용하고 알린다.</a:t>
            </a:r>
          </a:p>
        </p:txBody>
      </p:sp>
      <p:sp>
        <p:nvSpPr>
          <p:cNvPr id="36" name="TextBox 35"/>
          <p:cNvSpPr txBox="1"/>
          <p:nvPr/>
        </p:nvSpPr>
        <p:spPr>
          <a:xfrm>
            <a:off x="502920" y="5029200"/>
            <a:ext cx="10972800" cy="365760"/>
          </a:xfrm>
          <a:prstGeom prst="rect">
            <a:avLst/>
          </a:prstGeom>
          <a:noFill/>
        </p:spPr>
        <p:txBody>
          <a:bodyPr wrap="square" lIns="18288" tIns="0" rIns="18288" bIns="0" anchor="t">
            <a:spAutoFit/>
          </a:bodyPr>
          <a:lstStyle/>
          <a:p>
            <a:pPr algn="l">
              <a:spcAft>
                <a:spcPts val="300"/>
              </a:spcAft>
            </a:pPr>
            <a:r>
              <a:rPr sz="1600" b="1">
                <a:solidFill>
                  <a:srgbClr val="0F172A"/>
                </a:solidFill>
                <a:latin typeface="Pretendard"/>
              </a:rPr>
              <a:t>다른 점 둘</a:t>
            </a:r>
          </a:p>
        </p:txBody>
      </p:sp>
      <p:sp>
        <p:nvSpPr>
          <p:cNvPr id="37" name="TextBox 36"/>
          <p:cNvSpPr txBox="1"/>
          <p:nvPr/>
        </p:nvSpPr>
        <p:spPr>
          <a:xfrm>
            <a:off x="502920" y="5486400"/>
            <a:ext cx="10972800" cy="384048"/>
          </a:xfrm>
          <a:prstGeom prst="rect">
            <a:avLst/>
          </a:prstGeom>
          <a:noFill/>
        </p:spPr>
        <p:txBody>
          <a:bodyPr wrap="square" lIns="18288" tIns="0" rIns="18288" bIns="0" anchor="t">
            <a:spAutoFit/>
          </a:bodyPr>
          <a:lstStyle/>
          <a:p>
            <a:pPr algn="l">
              <a:spcAft>
                <a:spcPts val="300"/>
              </a:spcAft>
            </a:pPr>
            <a:r>
              <a:rPr sz="1400" b="0">
                <a:solidFill>
                  <a:srgbClr val="0F172A"/>
                </a:solidFill>
                <a:latin typeface="Pretendard"/>
              </a:rPr>
              <a:t>감지: 먼저 묻기 여행의 지진·재난·경보에는 안전 알림만 보낸다.</a:t>
            </a:r>
          </a:p>
        </p:txBody>
      </p:sp>
      <p:sp>
        <p:nvSpPr>
          <p:cNvPr id="38" name="TextBox 37"/>
          <p:cNvSpPr txBox="1"/>
          <p:nvPr/>
        </p:nvSpPr>
        <p:spPr>
          <a:xfrm>
            <a:off x="502920" y="5989320"/>
            <a:ext cx="10972800" cy="384048"/>
          </a:xfrm>
          <a:prstGeom prst="rect">
            <a:avLst/>
          </a:prstGeom>
          <a:noFill/>
        </p:spPr>
        <p:txBody>
          <a:bodyPr wrap="square" lIns="18288" tIns="0" rIns="18288" bIns="0" anchor="t">
            <a:spAutoFit/>
          </a:bodyPr>
          <a:lstStyle/>
          <a:p>
            <a:pPr algn="l">
              <a:spcAft>
                <a:spcPts val="300"/>
              </a:spcAft>
            </a:pPr>
            <a:r>
              <a:rPr sz="1400" b="0">
                <a:solidFill>
                  <a:srgbClr val="0F172A"/>
                </a:solidFill>
                <a:latin typeface="Pretendard"/>
              </a:rPr>
              <a:t>직접 선택: 교체·선택·되돌리기는 적용 여부 판단 없이 바로 적용한다.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369332"/>
          </a:xfrm>
          <a:prstGeom prst="rect">
            <a:avLst/>
          </a:prstGeom>
          <a:noFill/>
        </p:spPr>
        <p:txBody>
          <a:bodyPr wrap="square" lIns="18288" tIns="0" rIns="18288" bIns="0" anchor="t">
            <a:spAutoFit/>
          </a:bodyPr>
          <a:lstStyle/>
          <a:p>
            <a:pPr algn="l">
              <a:spcAft>
                <a:spcPts val="300"/>
              </a:spcAft>
            </a:pPr>
            <a:r>
              <a:rPr sz="2400" b="1" dirty="0" err="1">
                <a:solidFill>
                  <a:srgbClr val="0F172A"/>
                </a:solidFill>
                <a:latin typeface="Pretendard"/>
              </a:rPr>
              <a:t>공통</a:t>
            </a:r>
            <a:r>
              <a:rPr sz="2400" b="1" dirty="0">
                <a:solidFill>
                  <a:srgbClr val="0F172A"/>
                </a:solidFill>
                <a:latin typeface="Pretendard"/>
              </a:rPr>
              <a:t> </a:t>
            </a:r>
            <a:r>
              <a:rPr sz="2400" b="1" dirty="0" err="1">
                <a:solidFill>
                  <a:srgbClr val="0F172A"/>
                </a:solidFill>
                <a:latin typeface="Pretendard"/>
              </a:rPr>
              <a:t>플로우</a:t>
            </a:r>
            <a:r>
              <a:rPr lang="en-US" sz="2400" b="1" dirty="0">
                <a:solidFill>
                  <a:srgbClr val="0F172A"/>
                </a:solidFill>
                <a:latin typeface="Pretendard"/>
              </a:rPr>
              <a:t> -</a:t>
            </a:r>
            <a:r>
              <a:rPr sz="2400" b="1" dirty="0">
                <a:solidFill>
                  <a:srgbClr val="0F172A"/>
                </a:solidFill>
                <a:latin typeface="Pretendard"/>
              </a:rPr>
              <a:t> </a:t>
            </a:r>
            <a:r>
              <a:rPr sz="2400" b="1" dirty="0" err="1">
                <a:solidFill>
                  <a:srgbClr val="0F172A"/>
                </a:solidFill>
                <a:latin typeface="Pretendard"/>
              </a:rPr>
              <a:t>변경</a:t>
            </a:r>
            <a:r>
              <a:rPr sz="2400" b="1" dirty="0">
                <a:solidFill>
                  <a:srgbClr val="0F172A"/>
                </a:solidFill>
                <a:latin typeface="Pretendard"/>
              </a:rPr>
              <a:t> </a:t>
            </a:r>
            <a:r>
              <a:rPr sz="2400" b="1" dirty="0" err="1">
                <a:solidFill>
                  <a:srgbClr val="0F172A"/>
                </a:solidFill>
                <a:latin typeface="Pretendard"/>
              </a:rPr>
              <a:t>판단과</a:t>
            </a:r>
            <a:r>
              <a:rPr sz="2400" b="1" dirty="0">
                <a:solidFill>
                  <a:srgbClr val="0F172A"/>
                </a:solidFill>
                <a:latin typeface="Pretendard"/>
              </a:rPr>
              <a:t> </a:t>
            </a:r>
            <a:r>
              <a:rPr sz="2400" b="1" dirty="0" err="1">
                <a:solidFill>
                  <a:srgbClr val="0F172A"/>
                </a:solidFill>
                <a:latin typeface="Pretendard"/>
              </a:rPr>
              <a:t>장소</a:t>
            </a:r>
            <a:r>
              <a:rPr sz="2400" b="1" dirty="0">
                <a:solidFill>
                  <a:srgbClr val="0F172A"/>
                </a:solidFill>
                <a:latin typeface="Pretendard"/>
              </a:rPr>
              <a:t> </a:t>
            </a:r>
            <a:r>
              <a:rPr sz="2400" b="1" dirty="0" err="1">
                <a:solidFill>
                  <a:srgbClr val="0F172A"/>
                </a:solidFill>
                <a:latin typeface="Pretendard"/>
              </a:rPr>
              <a:t>탐색</a:t>
            </a:r>
            <a:endParaRPr sz="2400" b="1" dirty="0">
              <a:solidFill>
                <a:srgbClr val="0F172A"/>
              </a:solidFill>
              <a:latin typeface="Pretendard"/>
            </a:endParaRP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513771" y="365760"/>
            <a:ext cx="1263700"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공통 플로우</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8</a:t>
            </a:r>
          </a:p>
        </p:txBody>
      </p:sp>
      <p:sp>
        <p:nvSpPr>
          <p:cNvPr id="7" name="TextBox 6"/>
          <p:cNvSpPr txBox="1"/>
          <p:nvPr/>
        </p:nvSpPr>
        <p:spPr>
          <a:xfrm>
            <a:off x="502920" y="987552"/>
            <a:ext cx="10972800" cy="365760"/>
          </a:xfrm>
          <a:prstGeom prst="rect">
            <a:avLst/>
          </a:prstGeom>
          <a:noFill/>
        </p:spPr>
        <p:txBody>
          <a:bodyPr wrap="square" lIns="18288" tIns="0" rIns="18288" bIns="0" anchor="t">
            <a:spAutoFit/>
          </a:bodyPr>
          <a:lstStyle/>
          <a:p>
            <a:pPr algn="l">
              <a:spcAft>
                <a:spcPts val="300"/>
              </a:spcAft>
            </a:pPr>
            <a:r>
              <a:rPr sz="1400" b="0" dirty="0">
                <a:solidFill>
                  <a:srgbClr val="0F172A"/>
                </a:solidFill>
                <a:latin typeface="Pretendard"/>
              </a:rPr>
              <a:t>CORE(</a:t>
            </a:r>
            <a:r>
              <a:rPr sz="1400" b="0" dirty="0" err="1">
                <a:solidFill>
                  <a:srgbClr val="0F172A"/>
                </a:solidFill>
                <a:latin typeface="Pretendard"/>
              </a:rPr>
              <a:t>여행</a:t>
            </a:r>
            <a:r>
              <a:rPr sz="1400" b="0" dirty="0">
                <a:solidFill>
                  <a:srgbClr val="0F172A"/>
                </a:solidFill>
                <a:latin typeface="Pretendard"/>
              </a:rPr>
              <a:t> </a:t>
            </a:r>
            <a:r>
              <a:rPr sz="1400" b="0" dirty="0" err="1">
                <a:solidFill>
                  <a:srgbClr val="0F172A"/>
                </a:solidFill>
                <a:latin typeface="Pretendard"/>
              </a:rPr>
              <a:t>상태를</a:t>
            </a:r>
            <a:r>
              <a:rPr sz="1400" b="0" dirty="0">
                <a:solidFill>
                  <a:srgbClr val="0F172A"/>
                </a:solidFill>
                <a:latin typeface="Pretendard"/>
              </a:rPr>
              <a:t> </a:t>
            </a:r>
            <a:r>
              <a:rPr sz="1400" b="0" dirty="0" err="1">
                <a:solidFill>
                  <a:srgbClr val="0F172A"/>
                </a:solidFill>
                <a:latin typeface="Pretendard"/>
              </a:rPr>
              <a:t>가진</a:t>
            </a:r>
            <a:r>
              <a:rPr sz="1400" b="0" dirty="0">
                <a:solidFill>
                  <a:srgbClr val="0F172A"/>
                </a:solidFill>
                <a:latin typeface="Pretendard"/>
              </a:rPr>
              <a:t> </a:t>
            </a:r>
            <a:r>
              <a:rPr sz="1400" b="0" dirty="0" err="1">
                <a:solidFill>
                  <a:srgbClr val="0F172A"/>
                </a:solidFill>
                <a:latin typeface="Pretendard"/>
              </a:rPr>
              <a:t>우리</a:t>
            </a:r>
            <a:r>
              <a:rPr sz="1400" b="0" dirty="0">
                <a:solidFill>
                  <a:srgbClr val="0F172A"/>
                </a:solidFill>
                <a:latin typeface="Pretendard"/>
              </a:rPr>
              <a:t> </a:t>
            </a:r>
            <a:r>
              <a:rPr sz="1400" b="0" dirty="0" err="1">
                <a:solidFill>
                  <a:srgbClr val="0F172A"/>
                </a:solidFill>
                <a:latin typeface="Pretendard"/>
              </a:rPr>
              <a:t>서버</a:t>
            </a:r>
            <a:r>
              <a:rPr sz="1400" b="0" dirty="0">
                <a:solidFill>
                  <a:srgbClr val="0F172A"/>
                </a:solidFill>
                <a:latin typeface="Pretendard"/>
              </a:rPr>
              <a:t>)가 </a:t>
            </a:r>
            <a:r>
              <a:rPr sz="1400" b="0" dirty="0" err="1">
                <a:solidFill>
                  <a:srgbClr val="0F172A"/>
                </a:solidFill>
                <a:latin typeface="Pretendard"/>
              </a:rPr>
              <a:t>변경을</a:t>
            </a:r>
            <a:r>
              <a:rPr sz="1400" b="0" dirty="0">
                <a:solidFill>
                  <a:srgbClr val="0F172A"/>
                </a:solidFill>
                <a:latin typeface="Pretendard"/>
              </a:rPr>
              <a:t> </a:t>
            </a:r>
            <a:r>
              <a:rPr sz="1400" b="0" dirty="0" err="1">
                <a:solidFill>
                  <a:srgbClr val="0F172A"/>
                </a:solidFill>
                <a:latin typeface="Pretendard"/>
              </a:rPr>
              <a:t>판단한다</a:t>
            </a:r>
            <a:r>
              <a:rPr sz="1400" b="0" dirty="0">
                <a:solidFill>
                  <a:srgbClr val="0F172A"/>
                </a:solidFill>
                <a:latin typeface="Pretendard"/>
              </a:rPr>
              <a:t>.</a:t>
            </a:r>
          </a:p>
        </p:txBody>
      </p:sp>
      <p:pic>
        <p:nvPicPr>
          <p:cNvPr id="8" name="Picture 7" descr="image.png"/>
          <p:cNvPicPr>
            <a:picLocks noChangeAspect="1"/>
          </p:cNvPicPr>
          <p:nvPr/>
        </p:nvPicPr>
        <p:blipFill>
          <a:blip r:embed="rId4"/>
          <a:stretch>
            <a:fillRect/>
          </a:stretch>
        </p:blipFill>
        <p:spPr>
          <a:xfrm>
            <a:off x="1508760" y="1417320"/>
            <a:ext cx="9144000" cy="3669901"/>
          </a:xfrm>
          <a:prstGeom prst="rect">
            <a:avLst/>
          </a:prstGeom>
        </p:spPr>
      </p:pic>
      <p:sp>
        <p:nvSpPr>
          <p:cNvPr id="9" name="TextBox 8"/>
          <p:cNvSpPr txBox="1"/>
          <p:nvPr/>
        </p:nvSpPr>
        <p:spPr>
          <a:xfrm>
            <a:off x="1508760" y="5102352"/>
            <a:ext cx="9144000" cy="274320"/>
          </a:xfrm>
          <a:prstGeom prst="rect">
            <a:avLst/>
          </a:prstGeom>
          <a:noFill/>
        </p:spPr>
        <p:txBody>
          <a:bodyPr wrap="square" lIns="18288" tIns="0" rIns="18288" bIns="0" anchor="t">
            <a:spAutoFit/>
          </a:bodyPr>
          <a:lstStyle/>
          <a:p>
            <a:pPr algn="l">
              <a:spcAft>
                <a:spcPts val="300"/>
              </a:spcAft>
            </a:pPr>
            <a:r>
              <a:rPr sz="1000" b="0">
                <a:solidFill>
                  <a:srgbClr val="475569"/>
                </a:solidFill>
                <a:latin typeface="Pretendard"/>
              </a:rPr>
              <a:t>팀 FigJam 보드, 2026-09-28 캡처. 공통 플로우의 앞부분이다.</a:t>
            </a:r>
          </a:p>
        </p:txBody>
      </p:sp>
      <p:sp>
        <p:nvSpPr>
          <p:cNvPr id="10" name="Rounded Rectangle 9"/>
          <p:cNvSpPr/>
          <p:nvPr/>
        </p:nvSpPr>
        <p:spPr>
          <a:xfrm>
            <a:off x="420624" y="5440680"/>
            <a:ext cx="265176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30352" y="556869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5532120"/>
            <a:ext cx="230428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CORE가 판단한다</a:t>
            </a:r>
          </a:p>
          <a:p>
            <a:pPr algn="l">
              <a:spcAft>
                <a:spcPts val="300"/>
              </a:spcAft>
            </a:pPr>
            <a:r>
              <a:rPr sz="1200" b="0">
                <a:solidFill>
                  <a:srgbClr val="475569"/>
                </a:solidFill>
                <a:latin typeface="Pretendard"/>
              </a:rPr>
              <a:t>시작·종료와 변화를 본다.</a:t>
            </a:r>
          </a:p>
        </p:txBody>
      </p:sp>
      <p:sp>
        <p:nvSpPr>
          <p:cNvPr id="13" name="Rounded Rectangle 12"/>
          <p:cNvSpPr/>
          <p:nvPr/>
        </p:nvSpPr>
        <p:spPr>
          <a:xfrm>
            <a:off x="3300984" y="5440680"/>
            <a:ext cx="265176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0712" y="556869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57015" y="5532120"/>
            <a:ext cx="230428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CORE가 조회한다</a:t>
            </a:r>
          </a:p>
          <a:p>
            <a:pPr algn="l">
              <a:spcAft>
                <a:spcPts val="300"/>
              </a:spcAft>
            </a:pPr>
            <a:r>
              <a:rPr sz="1200" b="0">
                <a:solidFill>
                  <a:srgbClr val="475569"/>
                </a:solidFill>
                <a:latin typeface="Pretendard"/>
              </a:rPr>
              <a:t>외부 정보를 받는다.</a:t>
            </a:r>
          </a:p>
        </p:txBody>
      </p:sp>
      <p:cxnSp>
        <p:nvCxnSpPr>
          <p:cNvPr id="16" name="Connector 15"/>
          <p:cNvCxnSpPr/>
          <p:nvPr/>
        </p:nvCxnSpPr>
        <p:spPr>
          <a:xfrm>
            <a:off x="3090672" y="5852160"/>
            <a:ext cx="182880"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81344" y="5440680"/>
            <a:ext cx="265176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91072" y="556869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7376" y="5532120"/>
            <a:ext cx="230428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에이전트가 찾는다</a:t>
            </a:r>
          </a:p>
          <a:p>
            <a:pPr algn="l">
              <a:spcAft>
                <a:spcPts val="300"/>
              </a:spcAft>
            </a:pPr>
            <a:r>
              <a:rPr sz="1200" b="0">
                <a:solidFill>
                  <a:srgbClr val="475569"/>
                </a:solidFill>
                <a:latin typeface="Pretendard"/>
              </a:rPr>
              <a:t>대체 장소 1~3순위를 정한다.</a:t>
            </a:r>
          </a:p>
        </p:txBody>
      </p:sp>
      <p:cxnSp>
        <p:nvCxnSpPr>
          <p:cNvPr id="20" name="Connector 19"/>
          <p:cNvCxnSpPr/>
          <p:nvPr/>
        </p:nvCxnSpPr>
        <p:spPr>
          <a:xfrm>
            <a:off x="5971031" y="5852160"/>
            <a:ext cx="182881"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61704" y="5440680"/>
            <a:ext cx="2651760" cy="86868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71432" y="5568696"/>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17736" y="5532120"/>
            <a:ext cx="2304288" cy="731519"/>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CORE에 반영한다</a:t>
            </a:r>
          </a:p>
          <a:p>
            <a:pPr algn="l">
              <a:spcAft>
                <a:spcPts val="300"/>
              </a:spcAft>
            </a:pPr>
            <a:r>
              <a:rPr sz="1200" b="0">
                <a:solidFill>
                  <a:srgbClr val="475569"/>
                </a:solidFill>
                <a:latin typeface="Pretendard"/>
              </a:rPr>
              <a:t>확인 필요 여부를 보낸다.</a:t>
            </a:r>
          </a:p>
        </p:txBody>
      </p:sp>
      <p:cxnSp>
        <p:nvCxnSpPr>
          <p:cNvPr id="24" name="Connector 23"/>
          <p:cNvCxnSpPr/>
          <p:nvPr/>
        </p:nvCxnSpPr>
        <p:spPr>
          <a:xfrm>
            <a:off x="8851392" y="5852160"/>
            <a:ext cx="182880" cy="0"/>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369332"/>
          </a:xfrm>
          <a:prstGeom prst="rect">
            <a:avLst/>
          </a:prstGeom>
          <a:noFill/>
        </p:spPr>
        <p:txBody>
          <a:bodyPr wrap="square" lIns="18288" tIns="0" rIns="18288" bIns="0" anchor="t">
            <a:spAutoFit/>
          </a:bodyPr>
          <a:lstStyle/>
          <a:p>
            <a:pPr algn="l">
              <a:spcAft>
                <a:spcPts val="300"/>
              </a:spcAft>
            </a:pPr>
            <a:r>
              <a:rPr sz="2400" b="1" dirty="0" err="1">
                <a:solidFill>
                  <a:srgbClr val="0F172A"/>
                </a:solidFill>
                <a:latin typeface="Pretendard"/>
              </a:rPr>
              <a:t>등록</a:t>
            </a:r>
            <a:r>
              <a:rPr sz="2400" b="1" dirty="0">
                <a:solidFill>
                  <a:srgbClr val="0F172A"/>
                </a:solidFill>
                <a:latin typeface="Pretendard"/>
              </a:rPr>
              <a:t> </a:t>
            </a:r>
            <a:r>
              <a:rPr sz="2400" b="1" dirty="0" err="1">
                <a:solidFill>
                  <a:srgbClr val="0F172A"/>
                </a:solidFill>
                <a:latin typeface="Pretendard"/>
              </a:rPr>
              <a:t>화면을</a:t>
            </a:r>
            <a:r>
              <a:rPr sz="2400" b="1" dirty="0">
                <a:solidFill>
                  <a:srgbClr val="0F172A"/>
                </a:solidFill>
                <a:latin typeface="Pretendard"/>
              </a:rPr>
              <a:t> </a:t>
            </a:r>
            <a:r>
              <a:rPr sz="2400" b="1" dirty="0" err="1">
                <a:solidFill>
                  <a:srgbClr val="0F172A"/>
                </a:solidFill>
                <a:latin typeface="Pretendard"/>
              </a:rPr>
              <a:t>서버에</a:t>
            </a:r>
            <a:r>
              <a:rPr sz="2400" b="1" dirty="0">
                <a:solidFill>
                  <a:srgbClr val="0F172A"/>
                </a:solidFill>
                <a:latin typeface="Pretendard"/>
              </a:rPr>
              <a:t> </a:t>
            </a:r>
            <a:r>
              <a:rPr sz="2400" b="1" dirty="0" err="1">
                <a:solidFill>
                  <a:srgbClr val="0F172A"/>
                </a:solidFill>
                <a:latin typeface="Pretendard"/>
              </a:rPr>
              <a:t>연결</a:t>
            </a:r>
            <a:endParaRPr sz="2400" b="1" dirty="0">
              <a:solidFill>
                <a:srgbClr val="0F172A"/>
              </a:solidFill>
              <a:latin typeface="Pretendard"/>
            </a:endParaRP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화면 연결</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9</a:t>
            </a:r>
          </a:p>
        </p:txBody>
      </p:sp>
      <p:pic>
        <p:nvPicPr>
          <p:cNvPr id="7" name="Picture 6" descr="m_tripilot-intro-animated-nav-switch.png"/>
          <p:cNvPicPr>
            <a:picLocks noChangeAspect="1"/>
          </p:cNvPicPr>
          <p:nvPr/>
        </p:nvPicPr>
        <p:blipFill>
          <a:blip r:embed="rId4"/>
          <a:stretch>
            <a:fillRect/>
          </a:stretch>
        </p:blipFill>
        <p:spPr>
          <a:xfrm>
            <a:off x="502920" y="1280160"/>
            <a:ext cx="2088305" cy="4526280"/>
          </a:xfrm>
          <a:prstGeom prst="rect">
            <a:avLst/>
          </a:prstGeom>
        </p:spPr>
      </p:pic>
      <p:sp>
        <p:nvSpPr>
          <p:cNvPr id="8" name="TextBox 7"/>
          <p:cNvSpPr txBox="1"/>
          <p:nvPr/>
        </p:nvSpPr>
        <p:spPr>
          <a:xfrm>
            <a:off x="502920" y="5852160"/>
            <a:ext cx="2075688" cy="36576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인트로</a:t>
            </a:r>
          </a:p>
        </p:txBody>
      </p:sp>
      <p:sp>
        <p:nvSpPr>
          <p:cNvPr id="9" name="TextBox 8"/>
          <p:cNvSpPr txBox="1"/>
          <p:nvPr/>
        </p:nvSpPr>
        <p:spPr>
          <a:xfrm>
            <a:off x="502920" y="6291072"/>
            <a:ext cx="2075688" cy="274320"/>
          </a:xfrm>
          <a:prstGeom prst="rect">
            <a:avLst/>
          </a:prstGeom>
          <a:noFill/>
        </p:spPr>
        <p:txBody>
          <a:bodyPr wrap="square" lIns="18288" tIns="0" rIns="18288" bIns="0" anchor="t">
            <a:spAutoFit/>
          </a:bodyPr>
          <a:lstStyle/>
          <a:p>
            <a:pPr algn="ctr">
              <a:spcAft>
                <a:spcPts val="300"/>
              </a:spcAft>
            </a:pPr>
            <a:r>
              <a:rPr sz="1000" b="0">
                <a:solidFill>
                  <a:srgbClr val="475569"/>
                </a:solidFill>
                <a:latin typeface="Pretendard"/>
              </a:rPr>
              <a:t>09-23 목업(기준선)</a:t>
            </a:r>
          </a:p>
        </p:txBody>
      </p:sp>
      <p:pic>
        <p:nvPicPr>
          <p:cNvPr id="10" name="Picture 9" descr="m_tripilot-mobile-onboarding.png"/>
          <p:cNvPicPr>
            <a:picLocks noChangeAspect="1"/>
          </p:cNvPicPr>
          <p:nvPr/>
        </p:nvPicPr>
        <p:blipFill>
          <a:blip r:embed="rId5"/>
          <a:stretch>
            <a:fillRect/>
          </a:stretch>
        </p:blipFill>
        <p:spPr>
          <a:xfrm>
            <a:off x="2651760" y="1280160"/>
            <a:ext cx="2088305" cy="4526280"/>
          </a:xfrm>
          <a:prstGeom prst="rect">
            <a:avLst/>
          </a:prstGeom>
        </p:spPr>
      </p:pic>
      <p:sp>
        <p:nvSpPr>
          <p:cNvPr id="11" name="TextBox 10"/>
          <p:cNvSpPr txBox="1"/>
          <p:nvPr/>
        </p:nvSpPr>
        <p:spPr>
          <a:xfrm>
            <a:off x="2651760" y="5852160"/>
            <a:ext cx="2075688" cy="36576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취향 설정</a:t>
            </a:r>
          </a:p>
        </p:txBody>
      </p:sp>
      <p:sp>
        <p:nvSpPr>
          <p:cNvPr id="12" name="TextBox 11"/>
          <p:cNvSpPr txBox="1"/>
          <p:nvPr/>
        </p:nvSpPr>
        <p:spPr>
          <a:xfrm>
            <a:off x="2651760" y="6291072"/>
            <a:ext cx="2075688" cy="274320"/>
          </a:xfrm>
          <a:prstGeom prst="rect">
            <a:avLst/>
          </a:prstGeom>
          <a:noFill/>
        </p:spPr>
        <p:txBody>
          <a:bodyPr wrap="square" lIns="18288" tIns="0" rIns="18288" bIns="0" anchor="t">
            <a:spAutoFit/>
          </a:bodyPr>
          <a:lstStyle/>
          <a:p>
            <a:pPr algn="ctr">
              <a:spcAft>
                <a:spcPts val="300"/>
              </a:spcAft>
            </a:pPr>
            <a:r>
              <a:rPr sz="1000" b="0">
                <a:solidFill>
                  <a:srgbClr val="475569"/>
                </a:solidFill>
                <a:latin typeface="Pretendard"/>
              </a:rPr>
              <a:t>09-23 목업(기준선)</a:t>
            </a:r>
          </a:p>
        </p:txBody>
      </p:sp>
      <p:pic>
        <p:nvPicPr>
          <p:cNvPr id="13" name="Picture 12" descr="m_tripilot-intake-wireframe.png"/>
          <p:cNvPicPr>
            <a:picLocks noChangeAspect="1"/>
          </p:cNvPicPr>
          <p:nvPr/>
        </p:nvPicPr>
        <p:blipFill>
          <a:blip r:embed="rId6"/>
          <a:stretch>
            <a:fillRect/>
          </a:stretch>
        </p:blipFill>
        <p:spPr>
          <a:xfrm>
            <a:off x="4800600" y="1280160"/>
            <a:ext cx="2088305" cy="4526280"/>
          </a:xfrm>
          <a:prstGeom prst="rect">
            <a:avLst/>
          </a:prstGeom>
        </p:spPr>
      </p:pic>
      <p:sp>
        <p:nvSpPr>
          <p:cNvPr id="14" name="TextBox 13"/>
          <p:cNvSpPr txBox="1"/>
          <p:nvPr/>
        </p:nvSpPr>
        <p:spPr>
          <a:xfrm>
            <a:off x="4800600" y="5852160"/>
            <a:ext cx="2075688" cy="365760"/>
          </a:xfrm>
          <a:prstGeom prst="rect">
            <a:avLst/>
          </a:prstGeom>
          <a:noFill/>
        </p:spPr>
        <p:txBody>
          <a:bodyPr wrap="square" lIns="18288" tIns="0" rIns="18288" bIns="0" anchor="t">
            <a:spAutoFit/>
          </a:bodyPr>
          <a:lstStyle/>
          <a:p>
            <a:pPr algn="ctr">
              <a:spcAft>
                <a:spcPts val="300"/>
              </a:spcAft>
            </a:pPr>
            <a:r>
              <a:rPr sz="1400" b="1">
                <a:solidFill>
                  <a:srgbClr val="0F172A"/>
                </a:solidFill>
                <a:latin typeface="Pretendard"/>
              </a:rPr>
              <a:t>계획 등록</a:t>
            </a:r>
          </a:p>
        </p:txBody>
      </p:sp>
      <p:sp>
        <p:nvSpPr>
          <p:cNvPr id="15" name="TextBox 14"/>
          <p:cNvSpPr txBox="1"/>
          <p:nvPr/>
        </p:nvSpPr>
        <p:spPr>
          <a:xfrm>
            <a:off x="4800600" y="6291072"/>
            <a:ext cx="2075688" cy="274320"/>
          </a:xfrm>
          <a:prstGeom prst="rect">
            <a:avLst/>
          </a:prstGeom>
          <a:noFill/>
        </p:spPr>
        <p:txBody>
          <a:bodyPr wrap="square" lIns="18288" tIns="0" rIns="18288" bIns="0" anchor="t">
            <a:spAutoFit/>
          </a:bodyPr>
          <a:lstStyle/>
          <a:p>
            <a:pPr algn="ctr">
              <a:spcAft>
                <a:spcPts val="300"/>
              </a:spcAft>
            </a:pPr>
            <a:r>
              <a:rPr sz="1000" b="0">
                <a:solidFill>
                  <a:srgbClr val="475569"/>
                </a:solidFill>
                <a:latin typeface="Pretendard"/>
              </a:rPr>
              <a:t>09-23 목업(기준선)</a:t>
            </a:r>
          </a:p>
        </p:txBody>
      </p:sp>
      <p:sp>
        <p:nvSpPr>
          <p:cNvPr id="16" name="TextBox 15"/>
          <p:cNvSpPr txBox="1"/>
          <p:nvPr/>
        </p:nvSpPr>
        <p:spPr>
          <a:xfrm>
            <a:off x="7132320" y="987552"/>
            <a:ext cx="4617720" cy="320040"/>
          </a:xfrm>
          <a:prstGeom prst="rect">
            <a:avLst/>
          </a:prstGeom>
          <a:noFill/>
        </p:spPr>
        <p:txBody>
          <a:bodyPr wrap="square" lIns="18288" tIns="0" rIns="18288" bIns="0" anchor="t">
            <a:spAutoFit/>
          </a:bodyPr>
          <a:lstStyle/>
          <a:p>
            <a:pPr algn="l">
              <a:spcAft>
                <a:spcPts val="300"/>
              </a:spcAft>
            </a:pPr>
            <a:r>
              <a:rPr sz="1600" b="1">
                <a:solidFill>
                  <a:srgbClr val="0F172A"/>
                </a:solidFill>
                <a:latin typeface="Pretendard"/>
              </a:rPr>
              <a:t>실제로 연결한 흐름</a:t>
            </a:r>
          </a:p>
        </p:txBody>
      </p:sp>
      <p:sp>
        <p:nvSpPr>
          <p:cNvPr id="17" name="Rounded Rectangle 16"/>
          <p:cNvSpPr/>
          <p:nvPr/>
        </p:nvSpPr>
        <p:spPr>
          <a:xfrm>
            <a:off x="7132320" y="1481328"/>
            <a:ext cx="461772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242048" y="160934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88352" y="1572768"/>
            <a:ext cx="4270248"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온보딩</a:t>
            </a:r>
          </a:p>
          <a:p>
            <a:pPr algn="l">
              <a:spcAft>
                <a:spcPts val="300"/>
              </a:spcAft>
            </a:pPr>
            <a:r>
              <a:rPr sz="1200" b="0">
                <a:solidFill>
                  <a:srgbClr val="475569"/>
                </a:solidFill>
                <a:latin typeface="Pretendard"/>
              </a:rPr>
              <a:t>언어·약관과 취향을 받는다.</a:t>
            </a:r>
          </a:p>
        </p:txBody>
      </p:sp>
      <p:sp>
        <p:nvSpPr>
          <p:cNvPr id="20" name="Rounded Rectangle 19"/>
          <p:cNvSpPr/>
          <p:nvPr/>
        </p:nvSpPr>
        <p:spPr>
          <a:xfrm>
            <a:off x="7132320" y="2313432"/>
            <a:ext cx="461772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42048" y="2441448"/>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88352" y="2404872"/>
            <a:ext cx="4270248"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계획 등록</a:t>
            </a:r>
          </a:p>
          <a:p>
            <a:pPr algn="l">
              <a:spcAft>
                <a:spcPts val="300"/>
              </a:spcAft>
            </a:pPr>
            <a:r>
              <a:rPr sz="1200" b="0">
                <a:solidFill>
                  <a:srgbClr val="475569"/>
                </a:solidFill>
                <a:latin typeface="Pretendard"/>
              </a:rPr>
              <a:t>글·파일을 접수한다.</a:t>
            </a:r>
          </a:p>
        </p:txBody>
      </p:sp>
      <p:cxnSp>
        <p:nvCxnSpPr>
          <p:cNvPr id="23" name="Connector 22"/>
          <p:cNvCxnSpPr/>
          <p:nvPr/>
        </p:nvCxnSpPr>
        <p:spPr>
          <a:xfrm>
            <a:off x="9445752" y="2157984"/>
            <a:ext cx="0" cy="128016"/>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132320" y="3145536"/>
            <a:ext cx="461772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242048" y="3273552"/>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88352" y="3236976"/>
            <a:ext cx="4270248"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확인 화면</a:t>
            </a:r>
          </a:p>
          <a:p>
            <a:pPr algn="l">
              <a:spcAft>
                <a:spcPts val="300"/>
              </a:spcAft>
            </a:pPr>
            <a:r>
              <a:rPr sz="1200" b="0">
                <a:solidFill>
                  <a:srgbClr val="475569"/>
                </a:solidFill>
                <a:latin typeface="Pretendard"/>
              </a:rPr>
              <a:t>고친 뒤 등록한다.</a:t>
            </a:r>
          </a:p>
        </p:txBody>
      </p:sp>
      <p:cxnSp>
        <p:nvCxnSpPr>
          <p:cNvPr id="27" name="Connector 26"/>
          <p:cNvCxnSpPr/>
          <p:nvPr/>
        </p:nvCxnSpPr>
        <p:spPr>
          <a:xfrm>
            <a:off x="9445752" y="2990088"/>
            <a:ext cx="0" cy="128016"/>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132320" y="3977639"/>
            <a:ext cx="461772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242048" y="4105655"/>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88352" y="4069079"/>
            <a:ext cx="4270248"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여행 화면</a:t>
            </a:r>
          </a:p>
          <a:p>
            <a:pPr algn="l">
              <a:spcAft>
                <a:spcPts val="300"/>
              </a:spcAft>
            </a:pPr>
            <a:r>
              <a:rPr sz="1200" b="0">
                <a:solidFill>
                  <a:srgbClr val="475569"/>
                </a:solidFill>
                <a:latin typeface="Pretendard"/>
              </a:rPr>
              <a:t>일정과 채팅을 연다.</a:t>
            </a:r>
          </a:p>
        </p:txBody>
      </p:sp>
      <p:cxnSp>
        <p:nvCxnSpPr>
          <p:cNvPr id="31" name="Connector 30"/>
          <p:cNvCxnSpPr/>
          <p:nvPr/>
        </p:nvCxnSpPr>
        <p:spPr>
          <a:xfrm>
            <a:off x="9445752" y="3822191"/>
            <a:ext cx="0" cy="128016"/>
          </a:xfrm>
          <a:prstGeom prst="line">
            <a:avLst/>
          </a:prstGeom>
          <a:ln w="254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132320" y="4791456"/>
            <a:ext cx="4617720" cy="658368"/>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242048" y="4919472"/>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88352" y="4882896"/>
            <a:ext cx="4270248" cy="521207"/>
          </a:xfrm>
          <a:prstGeom prst="rect">
            <a:avLst/>
          </a:prstGeom>
          <a:noFill/>
        </p:spPr>
        <p:txBody>
          <a:bodyPr wrap="square" lIns="18288" tIns="0" rIns="18288" bIns="0" anchor="t">
            <a:spAutoFit/>
          </a:bodyPr>
          <a:lstStyle/>
          <a:p>
            <a:pPr algn="l">
              <a:spcAft>
                <a:spcPts val="300"/>
              </a:spcAft>
            </a:pPr>
            <a:r>
              <a:rPr sz="1400" b="1">
                <a:solidFill>
                  <a:srgbClr val="2563EB"/>
                </a:solidFill>
                <a:latin typeface="Pretendard"/>
              </a:rPr>
              <a:t>일정 짜 줘</a:t>
            </a:r>
          </a:p>
          <a:p>
            <a:pPr algn="l">
              <a:spcAft>
                <a:spcPts val="300"/>
              </a:spcAft>
            </a:pPr>
            <a:r>
              <a:rPr sz="1200" b="0">
                <a:solidFill>
                  <a:srgbClr val="475569"/>
                </a:solidFill>
                <a:latin typeface="Pretendard"/>
              </a:rPr>
              <a:t>확인 화면에서 일정을 생성해 등록한다.</a:t>
            </a:r>
          </a:p>
        </p:txBody>
      </p:sp>
      <p:sp>
        <p:nvSpPr>
          <p:cNvPr id="35" name="TextBox 34"/>
          <p:cNvSpPr txBox="1"/>
          <p:nvPr/>
        </p:nvSpPr>
        <p:spPr>
          <a:xfrm>
            <a:off x="7159752" y="5504688"/>
            <a:ext cx="4572000" cy="292608"/>
          </a:xfrm>
          <a:prstGeom prst="rect">
            <a:avLst/>
          </a:prstGeom>
          <a:noFill/>
        </p:spPr>
        <p:txBody>
          <a:bodyPr wrap="square" lIns="18288" tIns="0" rIns="18288" bIns="0" anchor="t">
            <a:spAutoFit/>
          </a:bodyPr>
          <a:lstStyle/>
          <a:p>
            <a:pPr algn="l">
              <a:spcAft>
                <a:spcPts val="300"/>
              </a:spcAft>
            </a:pPr>
            <a:r>
              <a:rPr sz="1200" b="1">
                <a:solidFill>
                  <a:srgbClr val="059669"/>
                </a:solidFill>
                <a:latin typeface="Pretendard"/>
              </a:rPr>
              <a:t>실측 2026-09-28 · 브라우저 각 1회</a:t>
            </a:r>
          </a:p>
        </p:txBody>
      </p:sp>
      <p:sp>
        <p:nvSpPr>
          <p:cNvPr id="36" name="TextBox 35"/>
          <p:cNvSpPr txBox="1"/>
          <p:nvPr/>
        </p:nvSpPr>
        <p:spPr>
          <a:xfrm>
            <a:off x="7159752" y="5852160"/>
            <a:ext cx="4572000" cy="694944"/>
          </a:xfrm>
          <a:prstGeom prst="rect">
            <a:avLst/>
          </a:prstGeom>
          <a:noFill/>
        </p:spPr>
        <p:txBody>
          <a:bodyPr wrap="square" lIns="18288" tIns="0" rIns="18288" bIns="0" anchor="t">
            <a:spAutoFit/>
          </a:bodyPr>
          <a:lstStyle/>
          <a:p>
            <a:pPr algn="l">
              <a:spcAft>
                <a:spcPts val="300"/>
              </a:spcAft>
            </a:pPr>
            <a:r>
              <a:rPr sz="1200" b="0">
                <a:solidFill>
                  <a:srgbClr val="0F172A"/>
                </a:solidFill>
                <a:latin typeface="Pretendard"/>
              </a:rPr>
              <a:t>사진 받아쓰기 50.9초, 항목·장소 각 6/6 등록</a:t>
            </a:r>
          </a:p>
          <a:p>
            <a:pPr algn="l">
              <a:spcAft>
                <a:spcPts val="300"/>
              </a:spcAft>
            </a:pPr>
            <a:r>
              <a:rPr sz="1200" b="0">
                <a:solidFill>
                  <a:srgbClr val="0F172A"/>
                </a:solidFill>
                <a:latin typeface="Pretendard"/>
              </a:rPr>
              <a:t>「2박3일·넷·실내 위주」: 실제 모델로 3일 등록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20624" y="274320"/>
            <a:ext cx="9601200" cy="369332"/>
          </a:xfrm>
          <a:prstGeom prst="rect">
            <a:avLst/>
          </a:prstGeom>
          <a:noFill/>
        </p:spPr>
        <p:txBody>
          <a:bodyPr wrap="square" lIns="18288" tIns="0" rIns="18288" bIns="0" anchor="t">
            <a:spAutoFit/>
          </a:bodyPr>
          <a:lstStyle/>
          <a:p>
            <a:pPr algn="l">
              <a:spcAft>
                <a:spcPts val="300"/>
              </a:spcAft>
            </a:pPr>
            <a:r>
              <a:rPr sz="2400" b="1" dirty="0" err="1">
                <a:solidFill>
                  <a:srgbClr val="0F172A"/>
                </a:solidFill>
                <a:latin typeface="Pretendard"/>
              </a:rPr>
              <a:t>남은</a:t>
            </a:r>
            <a:r>
              <a:rPr sz="2400" b="1" dirty="0">
                <a:solidFill>
                  <a:srgbClr val="0F172A"/>
                </a:solidFill>
                <a:latin typeface="Pretendard"/>
              </a:rPr>
              <a:t> </a:t>
            </a:r>
            <a:r>
              <a:rPr lang="ko-KR" altLang="en-US" sz="2400" b="1" dirty="0">
                <a:solidFill>
                  <a:srgbClr val="0F172A"/>
                </a:solidFill>
                <a:latin typeface="Pretendard"/>
              </a:rPr>
              <a:t>작업</a:t>
            </a:r>
            <a:endParaRPr sz="2400" b="1" dirty="0">
              <a:solidFill>
                <a:srgbClr val="0F172A"/>
              </a:solidFill>
              <a:latin typeface="Pretendard"/>
            </a:endParaRPr>
          </a:p>
        </p:txBody>
      </p:sp>
      <p:sp>
        <p:nvSpPr>
          <p:cNvPr id="4" name="Rectangle 3"/>
          <p:cNvSpPr/>
          <p:nvPr/>
        </p:nvSpPr>
        <p:spPr>
          <a:xfrm>
            <a:off x="420624" y="804672"/>
            <a:ext cx="11356848"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689336" y="365760"/>
            <a:ext cx="1088136" cy="347472"/>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200" b="1">
                <a:solidFill>
                  <a:srgbClr val="2563EB"/>
                </a:solidFill>
                <a:latin typeface="Pretendard"/>
              </a:rPr>
              <a:t>다음 단계</a:t>
            </a:r>
          </a:p>
        </p:txBody>
      </p:sp>
      <p:sp>
        <p:nvSpPr>
          <p:cNvPr id="6" name="TextBox 5"/>
          <p:cNvSpPr txBox="1"/>
          <p:nvPr/>
        </p:nvSpPr>
        <p:spPr>
          <a:xfrm>
            <a:off x="11155680" y="6446520"/>
            <a:ext cx="640080" cy="274320"/>
          </a:xfrm>
          <a:prstGeom prst="rect">
            <a:avLst/>
          </a:prstGeom>
          <a:noFill/>
        </p:spPr>
        <p:txBody>
          <a:bodyPr wrap="square" lIns="18288" tIns="0" rIns="18288" bIns="0" anchor="t">
            <a:spAutoFit/>
          </a:bodyPr>
          <a:lstStyle/>
          <a:p>
            <a:pPr algn="r">
              <a:spcAft>
                <a:spcPts val="300"/>
              </a:spcAft>
            </a:pPr>
            <a:r>
              <a:rPr sz="1000" b="0">
                <a:solidFill>
                  <a:srgbClr val="64748B"/>
                </a:solidFill>
                <a:latin typeface="Pretendard"/>
              </a:rPr>
              <a:t>10</a:t>
            </a:r>
          </a:p>
        </p:txBody>
      </p:sp>
      <p:sp>
        <p:nvSpPr>
          <p:cNvPr id="7" name="TextBox 6"/>
          <p:cNvSpPr txBox="1"/>
          <p:nvPr/>
        </p:nvSpPr>
        <p:spPr>
          <a:xfrm>
            <a:off x="502920" y="1051560"/>
            <a:ext cx="5486400" cy="365760"/>
          </a:xfrm>
          <a:prstGeom prst="rect">
            <a:avLst/>
          </a:prstGeom>
          <a:noFill/>
        </p:spPr>
        <p:txBody>
          <a:bodyPr wrap="square" lIns="18288" tIns="0" rIns="18288" bIns="0" anchor="t">
            <a:spAutoFit/>
          </a:bodyPr>
          <a:lstStyle/>
          <a:p>
            <a:pPr algn="l">
              <a:spcAft>
                <a:spcPts val="300"/>
              </a:spcAft>
            </a:pPr>
            <a:r>
              <a:rPr sz="1800" b="1">
                <a:solidFill>
                  <a:srgbClr val="2563EB"/>
                </a:solidFill>
                <a:latin typeface="Pretendard"/>
              </a:rPr>
              <a:t>할 일</a:t>
            </a:r>
          </a:p>
        </p:txBody>
      </p:sp>
      <p:sp>
        <p:nvSpPr>
          <p:cNvPr id="8" name="Rounded Rectangle 7"/>
          <p:cNvSpPr/>
          <p:nvPr/>
        </p:nvSpPr>
        <p:spPr>
          <a:xfrm>
            <a:off x="457200" y="1572768"/>
            <a:ext cx="5532120" cy="105156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70078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664208"/>
            <a:ext cx="5184648" cy="914399"/>
          </a:xfrm>
          <a:prstGeom prst="rect">
            <a:avLst/>
          </a:prstGeom>
          <a:noFill/>
        </p:spPr>
        <p:txBody>
          <a:bodyPr wrap="square" lIns="18288" tIns="0" rIns="18288" bIns="0" anchor="t">
            <a:spAutoFit/>
          </a:bodyPr>
          <a:lstStyle/>
          <a:p>
            <a:pPr algn="l">
              <a:spcAft>
                <a:spcPts val="300"/>
              </a:spcAft>
            </a:pPr>
            <a:r>
              <a:rPr sz="1600" b="1">
                <a:solidFill>
                  <a:srgbClr val="2563EB"/>
                </a:solidFill>
                <a:latin typeface="Pretendard"/>
              </a:rPr>
              <a:t>자동 검사와 빌드</a:t>
            </a:r>
          </a:p>
          <a:p>
            <a:pPr algn="l">
              <a:spcAft>
                <a:spcPts val="300"/>
              </a:spcAft>
            </a:pPr>
            <a:r>
              <a:rPr sz="1400" b="0">
                <a:solidFill>
                  <a:srgbClr val="475569"/>
                </a:solidFill>
                <a:latin typeface="Pretendard"/>
              </a:rPr>
              <a:t>서비스 빌드 파일을 준비한다.</a:t>
            </a:r>
          </a:p>
          <a:p>
            <a:pPr algn="l">
              <a:spcAft>
                <a:spcPts val="300"/>
              </a:spcAft>
            </a:pPr>
            <a:r>
              <a:rPr sz="1400" b="0">
                <a:solidFill>
                  <a:srgbClr val="475569"/>
                </a:solidFill>
                <a:latin typeface="Pretendard"/>
              </a:rPr>
              <a:t>배포 대상은 최소 기능 제품 이후에 정한다.</a:t>
            </a:r>
          </a:p>
        </p:txBody>
      </p:sp>
      <p:sp>
        <p:nvSpPr>
          <p:cNvPr id="11" name="Rounded Rectangle 10"/>
          <p:cNvSpPr/>
          <p:nvPr/>
        </p:nvSpPr>
        <p:spPr>
          <a:xfrm>
            <a:off x="6172200" y="1572768"/>
            <a:ext cx="5532120" cy="105156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81928" y="170078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2" y="1664208"/>
            <a:ext cx="5184648" cy="914399"/>
          </a:xfrm>
          <a:prstGeom prst="rect">
            <a:avLst/>
          </a:prstGeom>
          <a:noFill/>
        </p:spPr>
        <p:txBody>
          <a:bodyPr wrap="square" lIns="18288" tIns="0" rIns="18288" bIns="0" anchor="t">
            <a:spAutoFit/>
          </a:bodyPr>
          <a:lstStyle/>
          <a:p>
            <a:pPr algn="l">
              <a:spcAft>
                <a:spcPts val="300"/>
              </a:spcAft>
            </a:pPr>
            <a:r>
              <a:rPr sz="1600" b="1">
                <a:solidFill>
                  <a:srgbClr val="2563EB"/>
                </a:solidFill>
                <a:latin typeface="Pretendard"/>
              </a:rPr>
              <a:t>유스케이스</a:t>
            </a:r>
          </a:p>
          <a:p>
            <a:pPr algn="l">
              <a:spcAft>
                <a:spcPts val="300"/>
              </a:spcAft>
            </a:pPr>
            <a:r>
              <a:rPr sz="1400" b="0">
                <a:solidFill>
                  <a:srgbClr val="475569"/>
                </a:solidFill>
                <a:latin typeface="Pretendard"/>
              </a:rPr>
              <a:t>방문 직전 판정값 재사용과</a:t>
            </a:r>
          </a:p>
          <a:p>
            <a:pPr algn="l">
              <a:spcAft>
                <a:spcPts val="300"/>
              </a:spcAft>
            </a:pPr>
            <a:r>
              <a:rPr sz="1400" b="0">
                <a:solidFill>
                  <a:srgbClr val="475569"/>
                </a:solidFill>
                <a:latin typeface="Pretendard"/>
              </a:rPr>
              <a:t>밀도 초과 때 대안 선택을 연결한다.</a:t>
            </a:r>
          </a:p>
        </p:txBody>
      </p:sp>
      <p:sp>
        <p:nvSpPr>
          <p:cNvPr id="14" name="Rounded Rectangle 13"/>
          <p:cNvSpPr/>
          <p:nvPr/>
        </p:nvSpPr>
        <p:spPr>
          <a:xfrm>
            <a:off x="457200" y="2898648"/>
            <a:ext cx="5532120" cy="105156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302666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990088"/>
            <a:ext cx="5184648" cy="914399"/>
          </a:xfrm>
          <a:prstGeom prst="rect">
            <a:avLst/>
          </a:prstGeom>
          <a:noFill/>
        </p:spPr>
        <p:txBody>
          <a:bodyPr wrap="square" lIns="18288" tIns="0" rIns="18288" bIns="0" anchor="t">
            <a:spAutoFit/>
          </a:bodyPr>
          <a:lstStyle/>
          <a:p>
            <a:pPr algn="l">
              <a:spcAft>
                <a:spcPts val="300"/>
              </a:spcAft>
            </a:pPr>
            <a:r>
              <a:rPr sz="1600" b="1">
                <a:solidFill>
                  <a:srgbClr val="2563EB"/>
                </a:solidFill>
                <a:latin typeface="Pretendard"/>
              </a:rPr>
              <a:t>공통 플로우</a:t>
            </a:r>
          </a:p>
          <a:p>
            <a:pPr algn="l">
              <a:spcAft>
                <a:spcPts val="300"/>
              </a:spcAft>
            </a:pPr>
            <a:r>
              <a:rPr sz="1400" b="0">
                <a:solidFill>
                  <a:srgbClr val="475569"/>
                </a:solidFill>
                <a:latin typeface="Pretendard"/>
              </a:rPr>
              <a:t>대체 장소 우선순위를 코드와 대조한다.</a:t>
            </a:r>
          </a:p>
          <a:p>
            <a:pPr algn="l">
              <a:spcAft>
                <a:spcPts val="300"/>
              </a:spcAft>
            </a:pPr>
            <a:r>
              <a:rPr sz="1400" b="0">
                <a:solidFill>
                  <a:srgbClr val="475569"/>
                </a:solidFill>
                <a:latin typeface="Pretendard"/>
              </a:rPr>
              <a:t>요식업 팀과 대기시간 수집 방법을 맞춘다.</a:t>
            </a:r>
          </a:p>
        </p:txBody>
      </p:sp>
      <p:sp>
        <p:nvSpPr>
          <p:cNvPr id="17" name="Rounded Rectangle 16"/>
          <p:cNvSpPr/>
          <p:nvPr/>
        </p:nvSpPr>
        <p:spPr>
          <a:xfrm>
            <a:off x="6172200" y="2898648"/>
            <a:ext cx="5532120" cy="1051560"/>
          </a:xfrm>
          <a:prstGeom prst="roundRect">
            <a:avLst>
              <a:gd name="adj" fmla="val 8000"/>
            </a:avLst>
          </a:prstGeom>
          <a:solidFill>
            <a:srgbClr val="DBEAFE"/>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81928" y="3026664"/>
            <a:ext cx="54864" cy="274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28232" y="2990088"/>
            <a:ext cx="5184648" cy="914399"/>
          </a:xfrm>
          <a:prstGeom prst="rect">
            <a:avLst/>
          </a:prstGeom>
          <a:noFill/>
        </p:spPr>
        <p:txBody>
          <a:bodyPr wrap="square" lIns="18288" tIns="0" rIns="18288" bIns="0" anchor="t">
            <a:spAutoFit/>
          </a:bodyPr>
          <a:lstStyle/>
          <a:p>
            <a:pPr algn="l">
              <a:spcAft>
                <a:spcPts val="300"/>
              </a:spcAft>
            </a:pPr>
            <a:r>
              <a:rPr sz="1600" b="1">
                <a:solidFill>
                  <a:srgbClr val="2563EB"/>
                </a:solidFill>
                <a:latin typeface="Pretendard"/>
              </a:rPr>
              <a:t>화면과 평가</a:t>
            </a:r>
          </a:p>
          <a:p>
            <a:pPr algn="l">
              <a:spcAft>
                <a:spcPts val="300"/>
              </a:spcAft>
            </a:pPr>
            <a:r>
              <a:rPr sz="1400" b="0">
                <a:solidFill>
                  <a:srgbClr val="475569"/>
                </a:solidFill>
                <a:latin typeface="Pretendard"/>
              </a:rPr>
              <a:t>실제 연결 화면의 1회 확인을 반복 시험으로 늘린다.</a:t>
            </a:r>
          </a:p>
          <a:p>
            <a:pPr algn="l">
              <a:spcAft>
                <a:spcPts val="300"/>
              </a:spcAft>
            </a:pPr>
            <a:r>
              <a:rPr sz="1400" b="0">
                <a:solidFill>
                  <a:srgbClr val="475569"/>
                </a:solidFill>
                <a:latin typeface="Pretendard"/>
              </a:rPr>
              <a:t>계획 읽기 평가셋 60건을 준비한다.</a:t>
            </a:r>
          </a:p>
        </p:txBody>
      </p:sp>
      <p:sp>
        <p:nvSpPr>
          <p:cNvPr id="20" name="TextBox 19"/>
          <p:cNvSpPr txBox="1"/>
          <p:nvPr/>
        </p:nvSpPr>
        <p:spPr>
          <a:xfrm>
            <a:off x="502920" y="4416552"/>
            <a:ext cx="10972800" cy="411480"/>
          </a:xfrm>
          <a:prstGeom prst="rect">
            <a:avLst/>
          </a:prstGeom>
          <a:noFill/>
        </p:spPr>
        <p:txBody>
          <a:bodyPr wrap="square" lIns="18288" tIns="0" rIns="18288" bIns="0" anchor="t">
            <a:spAutoFit/>
          </a:bodyPr>
          <a:lstStyle/>
          <a:p>
            <a:pPr algn="l">
              <a:spcAft>
                <a:spcPts val="300"/>
              </a:spcAft>
            </a:pPr>
            <a:r>
              <a:rPr sz="1800" b="1">
                <a:solidFill>
                  <a:srgbClr val="B45309"/>
                </a:solidFill>
                <a:latin typeface="Pretendard"/>
              </a:rPr>
              <a:t>결정이 필요한 것</a:t>
            </a:r>
          </a:p>
        </p:txBody>
      </p:sp>
      <p:sp>
        <p:nvSpPr>
          <p:cNvPr id="21" name="Rounded Rectangle 20"/>
          <p:cNvSpPr/>
          <p:nvPr/>
        </p:nvSpPr>
        <p:spPr>
          <a:xfrm>
            <a:off x="457200" y="5074920"/>
            <a:ext cx="3611880" cy="1005840"/>
          </a:xfrm>
          <a:prstGeom prst="roundRect">
            <a:avLst>
              <a:gd name="adj" fmla="val 8000"/>
            </a:avLst>
          </a:prstGeom>
          <a:solidFill>
            <a:srgbClr val="FEF3C7"/>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66928" y="5202936"/>
            <a:ext cx="54864" cy="274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5166359"/>
            <a:ext cx="3264408" cy="868680"/>
          </a:xfrm>
          <a:prstGeom prst="rect">
            <a:avLst/>
          </a:prstGeom>
          <a:noFill/>
        </p:spPr>
        <p:txBody>
          <a:bodyPr wrap="square" lIns="18288" tIns="0" rIns="18288" bIns="0" anchor="t">
            <a:spAutoFit/>
          </a:bodyPr>
          <a:lstStyle/>
          <a:p>
            <a:pPr algn="l">
              <a:spcAft>
                <a:spcPts val="300"/>
              </a:spcAft>
            </a:pPr>
            <a:r>
              <a:rPr sz="1600" b="1">
                <a:solidFill>
                  <a:srgbClr val="B45309"/>
                </a:solidFill>
                <a:latin typeface="Pretendard"/>
              </a:rPr>
              <a:t>숙소 출발 시각</a:t>
            </a:r>
          </a:p>
          <a:p>
            <a:pPr algn="l">
              <a:spcAft>
                <a:spcPts val="300"/>
              </a:spcAft>
            </a:pPr>
            <a:r>
              <a:rPr sz="1400" b="0">
                <a:solidFill>
                  <a:srgbClr val="475569"/>
                </a:solidFill>
                <a:latin typeface="Pretendard"/>
              </a:rPr>
              <a:t>「절반 숙소 나감 10시」의 뜻</a:t>
            </a:r>
          </a:p>
        </p:txBody>
      </p:sp>
      <p:sp>
        <p:nvSpPr>
          <p:cNvPr id="24" name="Rounded Rectangle 23"/>
          <p:cNvSpPr/>
          <p:nvPr/>
        </p:nvSpPr>
        <p:spPr>
          <a:xfrm>
            <a:off x="4297680" y="5074920"/>
            <a:ext cx="3611880" cy="1005840"/>
          </a:xfrm>
          <a:prstGeom prst="roundRect">
            <a:avLst>
              <a:gd name="adj" fmla="val 8000"/>
            </a:avLst>
          </a:prstGeom>
          <a:solidFill>
            <a:srgbClr val="FEF3C7"/>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07408" y="5202936"/>
            <a:ext cx="54864" cy="274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53712" y="5166359"/>
            <a:ext cx="3264408" cy="868680"/>
          </a:xfrm>
          <a:prstGeom prst="rect">
            <a:avLst/>
          </a:prstGeom>
          <a:noFill/>
        </p:spPr>
        <p:txBody>
          <a:bodyPr wrap="square" lIns="18288" tIns="0" rIns="18288" bIns="0" anchor="t">
            <a:spAutoFit/>
          </a:bodyPr>
          <a:lstStyle/>
          <a:p>
            <a:pPr algn="l">
              <a:spcAft>
                <a:spcPts val="300"/>
              </a:spcAft>
            </a:pPr>
            <a:r>
              <a:rPr sz="1600" b="1">
                <a:solidFill>
                  <a:srgbClr val="B45309"/>
                </a:solidFill>
                <a:latin typeface="Pretendard"/>
              </a:rPr>
              <a:t>지연 때 처리</a:t>
            </a:r>
          </a:p>
          <a:p>
            <a:pPr algn="l">
              <a:spcAft>
                <a:spcPts val="300"/>
              </a:spcAft>
            </a:pPr>
            <a:r>
              <a:rPr sz="1400" b="0">
                <a:solidFill>
                  <a:srgbClr val="475569"/>
                </a:solidFill>
                <a:latin typeface="Pretendard"/>
              </a:rPr>
              <a:t>밀도 70% 구간에서 할 행동</a:t>
            </a:r>
          </a:p>
        </p:txBody>
      </p:sp>
      <p:sp>
        <p:nvSpPr>
          <p:cNvPr id="27" name="Rounded Rectangle 26"/>
          <p:cNvSpPr/>
          <p:nvPr/>
        </p:nvSpPr>
        <p:spPr>
          <a:xfrm>
            <a:off x="8138160" y="5074920"/>
            <a:ext cx="3611880" cy="1005840"/>
          </a:xfrm>
          <a:prstGeom prst="roundRect">
            <a:avLst>
              <a:gd name="adj" fmla="val 8000"/>
            </a:avLst>
          </a:prstGeom>
          <a:solidFill>
            <a:srgbClr val="FEF3C7"/>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47888" y="5202936"/>
            <a:ext cx="54864" cy="27432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94192" y="5166359"/>
            <a:ext cx="3264408" cy="868680"/>
          </a:xfrm>
          <a:prstGeom prst="rect">
            <a:avLst/>
          </a:prstGeom>
          <a:noFill/>
        </p:spPr>
        <p:txBody>
          <a:bodyPr wrap="square" lIns="18288" tIns="0" rIns="18288" bIns="0" anchor="t">
            <a:spAutoFit/>
          </a:bodyPr>
          <a:lstStyle/>
          <a:p>
            <a:pPr algn="l">
              <a:spcAft>
                <a:spcPts val="300"/>
              </a:spcAft>
            </a:pPr>
            <a:r>
              <a:rPr sz="1600" b="1">
                <a:solidFill>
                  <a:srgbClr val="B45309"/>
                </a:solidFill>
                <a:latin typeface="Pretendard"/>
              </a:rPr>
              <a:t>세부 테마</a:t>
            </a:r>
          </a:p>
          <a:p>
            <a:pPr algn="l">
              <a:spcAft>
                <a:spcPts val="300"/>
              </a:spcAft>
            </a:pPr>
            <a:r>
              <a:rPr sz="1400" b="0">
                <a:solidFill>
                  <a:srgbClr val="475569"/>
                </a:solidFill>
                <a:latin typeface="Pretendard"/>
              </a:rPr>
              <a:t>담당 팀이 정할 선택지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1519</Words>
  <Application>Microsoft Office PowerPoint</Application>
  <PresentationFormat>와이드스크린</PresentationFormat>
  <Paragraphs>204</Paragraphs>
  <Slides>9</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Pretendard</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playdata2</cp:lastModifiedBy>
  <cp:revision>3</cp:revision>
  <dcterms:created xsi:type="dcterms:W3CDTF">2013-01-27T09:14:16Z</dcterms:created>
  <dcterms:modified xsi:type="dcterms:W3CDTF">2026-09-28T01:09:37Z</dcterms:modified>
  <cp:category/>
</cp:coreProperties>
</file>