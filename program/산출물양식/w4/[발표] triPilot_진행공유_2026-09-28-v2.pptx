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20624" y="160020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2563EB"/>
                </a:solidFill>
                <a:latin typeface="Pretendard"/>
              </a:rPr>
              <a:t>PROGRESS · 2026. 9. 28.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2011680"/>
            <a:ext cx="10972800" cy="822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0F172A"/>
                </a:solidFill>
                <a:latin typeface="Pretendard"/>
              </a:rPr>
              <a:t>triPilot 진행 공유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2788920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334155"/>
                </a:solidFill>
                <a:latin typeface="Pretendard"/>
              </a:rPr>
              <a:t>팀 A-COPilot · 여행 전체를 끝까지 관리하는 Headless Agentic CS 플랫폼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38862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4014215"/>
            <a:ext cx="54864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3977639"/>
            <a:ext cx="1755647" cy="7772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563EB"/>
                </a:solidFill>
                <a:latin typeface="Pretendard"/>
              </a:rPr>
              <a:t>01  CI/CD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75569"/>
                </a:solidFill>
                <a:latin typeface="Pretendard"/>
              </a:rPr>
              <a:t>합칠 때마다 자동 검사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6624" y="38862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16352" y="4014215"/>
            <a:ext cx="54864" cy="274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6" y="3977639"/>
            <a:ext cx="1755647" cy="7772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D28D9"/>
                </a:solidFill>
                <a:latin typeface="Pretendard"/>
              </a:rPr>
              <a:t>02  유스케이스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75569"/>
                </a:solidFill>
                <a:latin typeface="Pretendard"/>
              </a:rPr>
              <a:t>행위자·묶음·점검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92624" y="38862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02352" y="4014215"/>
            <a:ext cx="54864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8656" y="3977639"/>
            <a:ext cx="1755647" cy="7772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59669"/>
                </a:solidFill>
                <a:latin typeface="Pretendard"/>
              </a:rPr>
              <a:t>03  변경 흐름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75569"/>
                </a:solidFill>
                <a:latin typeface="Pretendard"/>
              </a:rPr>
              <a:t>감지와 요청은 가운데가 같다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78624" y="38862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88352" y="4014215"/>
            <a:ext cx="54864" cy="2743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4656" y="3977639"/>
            <a:ext cx="1755647" cy="7772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B45309"/>
                </a:solidFill>
                <a:latin typeface="Pretendard"/>
              </a:rPr>
              <a:t>04  공통 플로우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75569"/>
                </a:solidFill>
                <a:latin typeface="Pretendard"/>
              </a:rPr>
              <a:t>액티비티 &amp; 요식업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64624" y="38862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74352" y="4014215"/>
            <a:ext cx="54864" cy="2743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0656" y="3977639"/>
            <a:ext cx="1755647" cy="7772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75569"/>
                </a:solidFill>
                <a:latin typeface="Pretendard"/>
              </a:rPr>
              <a:t>05  화면 목업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75569"/>
                </a:solidFill>
                <a:latin typeface="Pretendard"/>
              </a:rPr>
              <a:t>09-23 기준선 → 실제 연결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274320"/>
            <a:ext cx="1024128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0F172A"/>
                </a:solidFill>
                <a:latin typeface="Pretendard"/>
              </a:rPr>
              <a:t>CI/CD: 합칠 때마다 자동 검사 — develop·main 두 관문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804672"/>
            <a:ext cx="1135684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81744" y="365760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2563EB"/>
                </a:solidFill>
                <a:latin typeface="Pretendard"/>
              </a:rPr>
              <a:t>CI/CD · 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Pretendard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F172A"/>
                </a:solidFill>
                <a:latin typeface="Pretendard"/>
              </a:rPr>
              <a:t>develop 관문 — 빠르게 도는 것만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71600"/>
            <a:ext cx="2267712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Pretendard"/>
              </a:rPr>
              <a:t>push / PR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475569"/>
                </a:solidFill>
                <a:latin typeface="Pretendard"/>
              </a:rPr>
              <a:t>develop 브랜치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28016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371600"/>
            <a:ext cx="2267712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Pretendard"/>
              </a:rPr>
              <a:t>ruff 린트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475569"/>
                </a:solidFill>
                <a:latin typeface="Pretendard"/>
              </a:rPr>
              <a:t>버그 규칙 F·E9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44368" y="1664208"/>
            <a:ext cx="301752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26480" y="128016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1371600"/>
            <a:ext cx="2267712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Pretendard"/>
              </a:rPr>
              <a:t>시험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475569"/>
                </a:solidFill>
                <a:latin typeface="Pretendard"/>
              </a:rPr>
              <a:t>architecture · contract · unit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79008" y="1664208"/>
            <a:ext cx="301752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961120" y="128016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1371600"/>
            <a:ext cx="2267712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Pretendard"/>
              </a:rPr>
              <a:t>PostgreSQL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475569"/>
                </a:solidFill>
                <a:latin typeface="Pretendard"/>
              </a:rPr>
              <a:t>pgvector 컨테이너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13648" y="1664208"/>
            <a:ext cx="301752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2240280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F172A"/>
                </a:solidFill>
                <a:latin typeface="Pretendard"/>
              </a:rPr>
              <a:t>main 관문 — 내보내기 전에 전부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56032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651760"/>
            <a:ext cx="2267712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Pretendard"/>
              </a:rPr>
              <a:t>push / PR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475569"/>
                </a:solidFill>
                <a:latin typeface="Pretendard"/>
              </a:rPr>
              <a:t>main 브랜치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256032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1568" y="2651760"/>
            <a:ext cx="2267712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Pretendard"/>
              </a:rPr>
              <a:t>아키텍처 시험 먼저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475569"/>
                </a:solidFill>
                <a:latin typeface="Pretendard"/>
              </a:rPr>
              <a:t>가장 싸고, 어기면 되돌리기 비싸다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44368" y="2944368"/>
            <a:ext cx="301752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26480" y="256032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2651760"/>
            <a:ext cx="2267712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Pretendard"/>
              </a:rPr>
              <a:t>전체 시험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475569"/>
                </a:solidFill>
                <a:latin typeface="Pretendard"/>
              </a:rPr>
              <a:t>live 제외 · 데모 데이터 시드 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79008" y="2944368"/>
            <a:ext cx="301752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961120" y="256032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0848" y="2651760"/>
            <a:ext cx="2267712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Pretendard"/>
              </a:rPr>
              <a:t>Docker 빌드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475569"/>
                </a:solidFill>
                <a:latin typeface="Pretendard"/>
              </a:rPr>
              <a:t>이미지 push 는 안 한다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13648" y="2944368"/>
            <a:ext cx="301752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57200" y="3703320"/>
            <a:ext cx="26517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776472"/>
            <a:ext cx="2377440" cy="5029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2563EB"/>
                </a:solidFill>
                <a:latin typeface="Pretendard"/>
              </a:rPr>
              <a:t>91건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251959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도입 때 걸린 린트 오류 정리(자동 74 · 수동 11)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46120" y="3703320"/>
            <a:ext cx="26517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79" y="3776472"/>
            <a:ext cx="2377440" cy="5029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059669"/>
                </a:solidFill>
                <a:latin typeface="Pretendard"/>
              </a:rPr>
              <a:t>1,015 / 1,400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79" y="4251959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깨끗한 환경 재현 통과 — develop / main(09-24)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3703320"/>
            <a:ext cx="26517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3776472"/>
            <a:ext cx="2377440" cy="5029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6D28D9"/>
                </a:solidFill>
                <a:latin typeface="Pretendard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4251959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CI 에 넣은 실제 키·서버 주소(전부 시험용 가짜, LLM 은 mock)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23960" y="3703320"/>
            <a:ext cx="29260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0" y="3776472"/>
            <a:ext cx="2651760" cy="5029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B45309"/>
                </a:solidFill>
                <a:latin typeface="Pretendard"/>
              </a:rPr>
              <a:t>빌드까지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4251959"/>
            <a:ext cx="265176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CD 범위 — MVP 는 로컬 실행이라 자동 배포 대상 서버가 없다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937760"/>
            <a:ext cx="5577840" cy="10058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065776"/>
            <a:ext cx="54864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029200"/>
            <a:ext cx="5230368" cy="8686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563EB"/>
                </a:solidFill>
                <a:latin typeface="Pretendard"/>
              </a:rPr>
              <a:t>정한 원칙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75569"/>
                </a:solidFill>
                <a:latin typeface="Pretendard"/>
              </a:rPr>
              <a:t>누가 올려도 공용 브랜치가 깨지지 않게 — 검사 실패 시 병합하지 않는다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75569"/>
                </a:solidFill>
                <a:latin typeface="Pretendard"/>
              </a:rPr>
              <a:t>검사 범위는 이미 가진 시험(아키텍처·계약·단위·통합)을 그대로 건다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4937760"/>
            <a:ext cx="5577840" cy="1005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1928" y="5065776"/>
            <a:ext cx="54864" cy="2743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28232" y="5029200"/>
            <a:ext cx="5230368" cy="8686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75569"/>
                </a:solidFill>
                <a:latin typeface="Pretendard"/>
              </a:rPr>
              <a:t>CI 에서 빼고 로컬에서 도는 것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75569"/>
                </a:solidFill>
                <a:latin typeface="Pretendard"/>
              </a:rPr>
              <a:t>실제 LLM 시험(live) — 실제 키가 필요하다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75569"/>
                </a:solidFill>
                <a:latin typeface="Pretendard"/>
              </a:rPr>
              <a:t>RAG 통합 시험 — 정책 코퍼스 적재에 실제 임베딩이 필요하다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274320"/>
            <a:ext cx="1024128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0F172A"/>
                </a:solidFill>
                <a:latin typeface="Pretendard"/>
              </a:rPr>
              <a:t>유스케이스: 여행자·개인 에이전트 27개 · 개발·운영팀 18개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804672"/>
            <a:ext cx="1135684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80576" y="365760"/>
            <a:ext cx="2596896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6D28D9"/>
                </a:solidFill>
                <a:latin typeface="Pretendard"/>
              </a:rPr>
              <a:t>USE CASE · 2026-09-24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Pretendard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2834640" cy="324612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133856"/>
            <a:ext cx="54864" cy="274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097280"/>
            <a:ext cx="2487168" cy="3108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D28D9"/>
                </a:solidFill>
                <a:latin typeface="Pretendard"/>
              </a:rPr>
              <a:t>행위자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75569"/>
                </a:solidFill>
                <a:latin typeface="Pretendard"/>
              </a:rPr>
              <a:t>여행자 — 서울 자유여행 외국인, 최대 4인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75569"/>
                </a:solidFill>
                <a:latin typeface="Pretendard"/>
              </a:rPr>
              <a:t>개인 에이전트 — REST · A2A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75569"/>
                </a:solidFill>
                <a:latin typeface="Pretendard"/>
              </a:rPr>
              <a:t>시계 — 스케줄러 · 3분 감시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75569"/>
                </a:solidFill>
                <a:latin typeface="Pretendard"/>
              </a:rPr>
              <a:t>외부 데이터 — 기상·대기·관광·교통·재난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75569"/>
                </a:solidFill>
                <a:latin typeface="Pretendard"/>
              </a:rPr>
              <a:t>알림 채널 — 디스코드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75569"/>
                </a:solidFill>
                <a:latin typeface="Pretendard"/>
              </a:rPr>
              <a:t>업체 — 지금은 Mock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75569"/>
                </a:solidFill>
                <a:latin typeface="Pretendard"/>
              </a:rPr>
              <a:t>개발·운영팀 — 버그 대응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00584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84448" y="1133856"/>
            <a:ext cx="54864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1097280"/>
            <a:ext cx="2304288" cy="822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A 여행 전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설문 · 초안 · 등록 · 사용자 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00584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3368" y="1133856"/>
            <a:ext cx="54864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097280"/>
            <a:ext cx="2304288" cy="822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B 매일 안내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① 하루 시작 ② 다음 일정 ③ 이동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100584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62287" y="1133856"/>
            <a:ext cx="54864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8591" y="1097280"/>
            <a:ext cx="2304288" cy="822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C 시스템이 먼저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변화 감지 · 적용 · 선택 요청 · 안전 알림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210312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84448" y="2231136"/>
            <a:ext cx="54864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2194560"/>
            <a:ext cx="2304288" cy="822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D 여행자가 먼저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조회 · 선택 · 신고 · 대안 · 되돌리기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10312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73368" y="2231136"/>
            <a:ext cx="54864" cy="2743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2194560"/>
            <a:ext cx="2304288" cy="822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475569"/>
                </a:solidFill>
                <a:latin typeface="Pretendard"/>
              </a:rPr>
              <a:t>E 업체 예약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MVP 다음 단계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59" y="210312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62287" y="2231136"/>
            <a:ext cx="54864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1" y="2194560"/>
            <a:ext cx="2304288" cy="822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59669"/>
                </a:solidFill>
                <a:latin typeface="Pretendard"/>
              </a:rPr>
              <a:t>F 치명 결함 대응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대체 소스로 · 그래도 안 되면 서버를 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320040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84448" y="3328416"/>
            <a:ext cx="54864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30752" y="3291840"/>
            <a:ext cx="2304288" cy="822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59669"/>
                </a:solidFill>
                <a:latin typeface="Pretendard"/>
              </a:rPr>
              <a:t>G 상시 실행 관리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되잡기 · 3분 감시 · 바깥함 일꾼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20040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73368" y="3328416"/>
            <a:ext cx="54864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3291840"/>
            <a:ext cx="2304288" cy="822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59669"/>
                </a:solidFill>
                <a:latin typeface="Pretendard"/>
              </a:rPr>
              <a:t>H 검증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시험 · 시나리오 측정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59" y="320040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62287" y="3328416"/>
            <a:ext cx="54864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08591" y="3291840"/>
            <a:ext cx="2304288" cy="822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59669"/>
                </a:solidFill>
                <a:latin typeface="Pretendard"/>
              </a:rPr>
              <a:t>I 데이터·배포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마이그레이션 · 시드 · CI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Pretendard"/>
              </a:rPr>
              <a:t>하루 안내 — 알림 ①②③ (Case 를 만들지 않고 LLM 을 부르지 않는다)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80060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4928616"/>
            <a:ext cx="54864" cy="2743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4892040"/>
            <a:ext cx="1709928" cy="914399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475569"/>
                </a:solidFill>
                <a:latin typeface="Pretendard"/>
              </a:rPr>
              <a:t>03:00  조용히 정리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새벽 식당 영업 확인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0" y="480060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52928" y="4928616"/>
            <a:ext cx="54864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99232" y="4892040"/>
            <a:ext cx="1709928" cy="914399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563EB"/>
                </a:solidFill>
                <a:latin typeface="Pretendard"/>
              </a:rPr>
              <a:t>08:00  ① 하루 시작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오늘 일정 · 바뀐 일정 수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532888" y="5321808"/>
            <a:ext cx="192024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029200" y="480060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138928" y="4928616"/>
            <a:ext cx="54864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85232" y="4892040"/>
            <a:ext cx="1709928" cy="914399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563EB"/>
                </a:solidFill>
                <a:latin typeface="Pretendard"/>
              </a:rPr>
              <a:t>일정 시작  ② 다음 일정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지금 / 다음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818888" y="5321808"/>
            <a:ext cx="192024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7315200" y="480060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24927" y="4928616"/>
            <a:ext cx="54864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71231" y="4892040"/>
            <a:ext cx="1709928" cy="914399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059669"/>
                </a:solidFill>
                <a:latin typeface="Pretendard"/>
              </a:rPr>
              <a:t>이동 시작  ③ 이동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어디로 · 언제 · 어떻게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104888" y="5321808"/>
            <a:ext cx="192024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601200" y="480060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710928" y="4928616"/>
            <a:ext cx="54864" cy="2743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57232" y="4892040"/>
            <a:ext cx="1709928" cy="914399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B45309"/>
                </a:solidFill>
                <a:latin typeface="Pretendard"/>
              </a:rPr>
              <a:t>수시  3분 감시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변경 · 선택 요청 · 안전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390888" y="5321808"/>
            <a:ext cx="192024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4748B"/>
                </a:solidFill>
                <a:latin typeface="Pretendard"/>
              </a:rPr>
              <a:t>판단은 여행자가 한다 — 사람(운영자)이 끼는 곳은 버그 대응뿐.  ③ 출발 시각 = 다음 일정 시작 − 이동 − 여유 10분.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274320"/>
            <a:ext cx="1024128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0F172A"/>
                </a:solidFill>
                <a:latin typeface="Pretendard"/>
              </a:rPr>
              <a:t>유스케이스 점검: 설문 · 요식 호출 · 대안 선택 — 준비 5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804672"/>
            <a:ext cx="1135684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83496" y="365760"/>
            <a:ext cx="2093976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6D28D9"/>
                </a:solidFill>
                <a:latin typeface="Pretendard"/>
              </a:rPr>
              <a:t>D-020 · 코드 대조 09-28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Pretendard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05840"/>
          <a:ext cx="112928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1005840"/>
                <a:gridCol w="5623560"/>
              </a:tblGrid>
              <a:tr h="4655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항목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상태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근거 · 비고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Pretendard"/>
                        </a:rPr>
                        <a:t>설문 묶음 — 테마·구성·이동수단·내국인·우선순위1·2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Pretendard"/>
                        </a:rPr>
                        <a:t>완료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Pretendard"/>
                        </a:rPr>
                        <a:t>계약에 칸이 있다. 판정에는 안 쓰고 받기만 한다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Pretendard"/>
                        </a:rPr>
                        <a:t>13 실내·실외 · 14 세부 테마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Pretendard"/>
                        </a:rPr>
                        <a:t>완료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Pretendard"/>
                        </a:rPr>
                        <a:t>세부 선택지는 담당 팀이 정한다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Pretendard"/>
                        </a:rPr>
                        <a:t>15 꼬이면 — 바꿔줘 / 먼저 물어봐줘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Pretendard"/>
                        </a:rPr>
                        <a:t>완료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Pretendard"/>
                        </a:rPr>
                        <a:t>같은 판정 문 · 보류 제안 · 시험 18건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Pretendard"/>
                        </a:rPr>
                        <a:t>16 여유 → 밀도 0.40 / 0.55 / 0.70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Pretendard"/>
                        </a:rPr>
                        <a:t>완료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Pretendard"/>
                        </a:rPr>
                        <a:t>일정 생성기가 하루 곳 수를 재서 고른다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Pretendard"/>
                        </a:rPr>
                        <a:t>하루 08:00 ~ 22:00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Pretendard"/>
                        </a:rPr>
                        <a:t>완료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Pretendard"/>
                        </a:rPr>
                        <a:t>「절반 숙소 나감 10시」는 뜻이 아직 안 정해졌다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Pretendard"/>
                        </a:rPr>
                        <a:t>요식 — 새벽 3시 영업 확인 · 사용자 요청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Pretendard"/>
                        </a:rPr>
                        <a:t>완료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Pretendard"/>
                        </a:rPr>
                        <a:t>구글 무료 한도 예산을 건 채로 돈다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Pretendard"/>
                        </a:rPr>
                        <a:t>0 언어 · 3 기피 음식 · 12 종교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B45309"/>
                          </a:solidFill>
                          <a:latin typeface="Pretendard"/>
                        </a:rPr>
                        <a:t>부분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Pretendard"/>
                        </a:rPr>
                        <a:t>언어는 여행 locale 로 받는다. 3·12 는 설문 계약에 칸이 없다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Pretendard"/>
                        </a:rPr>
                        <a:t>밀도 초과 → 대안 1·2·3 보여 주고 선택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B45309"/>
                          </a:solidFill>
                          <a:latin typeface="Pretendard"/>
                        </a:rPr>
                        <a:t>부분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Pretendard"/>
                        </a:rPr>
                        <a:t>선택 흐름은 있다. 밀도 초과를 계기로 거는 곳은 없다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Pretendard"/>
                        </a:rPr>
                        <a:t>요식 — 방문 직전(가장 가까운 DB 판정값)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B91C1C"/>
                          </a:solidFill>
                          <a:latin typeface="Pretendard"/>
                        </a:rPr>
                        <a:t>없음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Pretendard"/>
                        </a:rPr>
                        <a:t>새벽 판정값을 방문 직전에 다시 쓰는 곳이 없다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55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Pretendard"/>
                        </a:rPr>
                        <a:t>요식 — 웨이팅 20분 주기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75569"/>
                          </a:solidFill>
                          <a:latin typeface="Pretendard"/>
                        </a:rPr>
                        <a:t>팀 몫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Pretendard"/>
                        </a:rPr>
                        <a:t>요식업 팀이 방법을 고안 중(D-020)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274320"/>
            <a:ext cx="1024128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0F172A"/>
                </a:solidFill>
                <a:latin typeface="Pretendard"/>
              </a:rPr>
              <a:t>변경 흐름: 「변경 감지」와 「사용자 요청」은 가운데가 같다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804672"/>
            <a:ext cx="1135684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186416" y="365760"/>
            <a:ext cx="1591056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059669"/>
                </a:solidFill>
                <a:latin typeface="Pretendard"/>
              </a:rPr>
              <a:t>USE CASE C ·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Pretendard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99616"/>
            <a:ext cx="54864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63040"/>
            <a:ext cx="2304288" cy="7772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앞 ① 변경 감지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475569"/>
                </a:solidFill>
                <a:latin typeface="Pretendard"/>
              </a:rPr>
              <a:t>3분 감시가 기상·교통·재난·영업을 조회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45536"/>
            <a:ext cx="54864" cy="274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108960"/>
            <a:ext cx="2304288" cy="7772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6D28D9"/>
                </a:solidFill>
                <a:latin typeface="Pretendard"/>
              </a:rPr>
              <a:t>앞 ② 사용자 요청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475569"/>
                </a:solidFill>
                <a:latin typeface="Pretendard"/>
              </a:rPr>
              <a:t>문장 → Case → 분류 → 신고 뽑기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1945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67328" y="2322576"/>
            <a:ext cx="54864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2286000"/>
            <a:ext cx="1572768" cy="7772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59669"/>
                </a:solidFill>
                <a:latin typeface="Pretendard"/>
              </a:rPr>
              <a:t>대안 만들기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같은 시각 근처 · 같은 종류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21945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16168" y="2322576"/>
            <a:ext cx="54864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62472" y="2286000"/>
            <a:ext cx="1572768" cy="7772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59669"/>
                </a:solidFill>
                <a:latin typeface="Pretendard"/>
              </a:rPr>
              <a:t>같은 판정 문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apply_or_ask / pending.decide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96127" y="2651760"/>
            <a:ext cx="192025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955279" y="21945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7" y="2322576"/>
            <a:ext cx="54864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1" y="2286000"/>
            <a:ext cx="1572768" cy="7772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59669"/>
                </a:solidFill>
                <a:latin typeface="Pretendard"/>
              </a:rPr>
              <a:t>새 판 쓰기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itinerary_versions 에 쌓는다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44967" y="2651760"/>
            <a:ext cx="192025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127248" y="1828800"/>
            <a:ext cx="512064" cy="64008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127248" y="2834640"/>
            <a:ext cx="512064" cy="64008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058400" y="13716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68128" y="1499616"/>
            <a:ext cx="54864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14432" y="1463040"/>
            <a:ext cx="1344168" cy="7772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Pretendard"/>
              </a:rPr>
              <a:t>끝 ① 알림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변경 통지 · 계획서 링크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30175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68128" y="3145536"/>
            <a:ext cx="54864" cy="274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14432" y="3108960"/>
            <a:ext cx="1344168" cy="7772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6D28D9"/>
                </a:solidFill>
                <a:latin typeface="Pretendard"/>
              </a:rPr>
              <a:t>끝 ② 답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Case 종료 + 답 문장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9646920" y="1828800"/>
            <a:ext cx="411480" cy="64008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646920" y="2834640"/>
            <a:ext cx="411480" cy="64008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57200" y="4434840"/>
            <a:ext cx="5577840" cy="105156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562855"/>
            <a:ext cx="54864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4526279"/>
            <a:ext cx="5230368" cy="914399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59669"/>
                </a:solidFill>
                <a:latin typeface="Pretendard"/>
              </a:rPr>
              <a:t>판정 문이 가르는 것 — 둘 다 같다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75569"/>
                </a:solidFill>
                <a:latin typeface="Pretendard"/>
              </a:rPr>
              <a:t>고정한 일정 → 묻는다 ·  먼저 물어봐줘 → 안 1·2·3 을 보여 주고 기다린다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75569"/>
                </a:solidFill>
                <a:latin typeface="Pretendard"/>
              </a:rPr>
              <a:t>그 외 → 가장 좋은 안으로 바로 바꾸고 알린다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4434840"/>
            <a:ext cx="5577840" cy="10515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81928" y="4562855"/>
            <a:ext cx="54864" cy="2743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2" y="4526279"/>
            <a:ext cx="5230368" cy="914399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B45309"/>
                </a:solidFill>
                <a:latin typeface="Pretendard"/>
              </a:rPr>
              <a:t>다른 점 둘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75569"/>
                </a:solidFill>
                <a:latin typeface="Pretendard"/>
              </a:rPr>
              <a:t>안전 알림만 보내는 갈래(먼저 물어봐줘 + 지진·재난·경보)는 감지 쪽에만 있다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475569"/>
                </a:solidFill>
                <a:latin typeface="Pretendard"/>
              </a:rPr>
              <a:t>사용자가 직접 고른 교체·선택·되돌리기는 판정 문 없이 바로 적용한다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274320"/>
            <a:ext cx="1024128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0F172A"/>
                </a:solidFill>
                <a:latin typeface="Pretendard"/>
              </a:rPr>
              <a:t>공통 플로우: 액티비티 &amp; 요식업 — CORE →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804672"/>
            <a:ext cx="1135684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85832" y="365760"/>
            <a:ext cx="1691639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B45309"/>
                </a:solidFill>
                <a:latin typeface="Pretendard"/>
              </a:rPr>
              <a:t>FLOW · 팀 FigJam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Pretendard"/>
              </a:rPr>
              <a:t>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960120"/>
            <a:ext cx="11356848" cy="455801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0624" y="5669280"/>
            <a:ext cx="2697480" cy="7315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5797296"/>
            <a:ext cx="54864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5760720"/>
            <a:ext cx="2350008" cy="5943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Pretendard"/>
              </a:rPr>
              <a:t>CORE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하루 시작·종료 → 변경 필요 판단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5669280"/>
            <a:ext cx="2697480" cy="7315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0712" y="5797296"/>
            <a:ext cx="54864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5" y="5760720"/>
            <a:ext cx="2350008" cy="5943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Pretendard"/>
              </a:rPr>
              <a:t>CORE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조건 이동 · 외부 API 조회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5669280"/>
            <a:ext cx="2697480" cy="73152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5797296"/>
            <a:ext cx="54864" cy="274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5760720"/>
            <a:ext cx="2350008" cy="5943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D28D9"/>
                </a:solidFill>
                <a:latin typeface="Pretendard"/>
              </a:rPr>
              <a:t>Agent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대체 장소 조회 → 1~3순위 후보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704" y="5669280"/>
            <a:ext cx="2697480" cy="73152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71432" y="5797296"/>
            <a:ext cx="54864" cy="274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7736" y="5760720"/>
            <a:ext cx="2350008" cy="5943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D28D9"/>
                </a:solidFill>
                <a:latin typeface="Pretendard"/>
              </a:rPr>
              <a:t>Agent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확인 필요 표시 → CORE 로 반영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274320"/>
            <a:ext cx="1024128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0F172A"/>
                </a:solidFill>
                <a:latin typeface="Pretendard"/>
              </a:rPr>
              <a:t>화면 목업: 09-23 목업을 기준선으로 — 이제 실제 서버에 붙었다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804672"/>
            <a:ext cx="1135684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287000" y="365760"/>
            <a:ext cx="1490472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475569"/>
                </a:solidFill>
                <a:latin typeface="Pretendard"/>
              </a:rPr>
              <a:t>MOCKUP →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Pretendard"/>
              </a:rPr>
              <a:t>7</a:t>
            </a:r>
          </a:p>
        </p:txBody>
      </p:sp>
      <p:pic>
        <p:nvPicPr>
          <p:cNvPr id="7" name="Picture 6" descr="m_tripilot-intro-animated-nav-sw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05840"/>
            <a:ext cx="2130493" cy="461772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02920" y="576072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475569"/>
                </a:solidFill>
                <a:latin typeface="Pretendard"/>
              </a:rPr>
              <a:t>인트로</a:t>
            </a:r>
          </a:p>
        </p:txBody>
      </p:sp>
      <p:pic>
        <p:nvPicPr>
          <p:cNvPr id="9" name="Picture 8" descr="m_tripilot-mobile-onboar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1005840"/>
            <a:ext cx="2130493" cy="461772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2880360" y="576072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475569"/>
                </a:solidFill>
                <a:latin typeface="Pretendard"/>
              </a:rPr>
              <a:t>온보딩 · 취향 설정</a:t>
            </a:r>
          </a:p>
        </p:txBody>
      </p:sp>
      <p:pic>
        <p:nvPicPr>
          <p:cNvPr id="11" name="Picture 10" descr="m_tripilot-intake-wirefr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005840"/>
            <a:ext cx="2130493" cy="461772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5257800" y="576072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475569"/>
                </a:solidFill>
                <a:latin typeface="Pretendard"/>
              </a:rPr>
              <a:t>계획 등록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005840"/>
            <a:ext cx="393192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27848" y="1133856"/>
            <a:ext cx="54864" cy="2743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1097280"/>
            <a:ext cx="3584447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475569"/>
                </a:solidFill>
                <a:latin typeface="Pretendard"/>
              </a:rPr>
              <a:t>온보딩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언어 · 약관 · 취향 9문항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938528"/>
            <a:ext cx="3931920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27848" y="2066544"/>
            <a:ext cx="54864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4152" y="2029968"/>
            <a:ext cx="3584447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Pretendard"/>
              </a:rPr>
              <a:t>계획 등록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글 · 사진 · PDF · 워드 · 엑셀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84080" y="1783080"/>
            <a:ext cx="0" cy="146304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818120" y="2871216"/>
            <a:ext cx="3931920" cy="7772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27848" y="2999232"/>
            <a:ext cx="54864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4152" y="2962656"/>
            <a:ext cx="3584447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Pretendard"/>
              </a:rPr>
              <a:t>확인 화면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원문 그대로 · 규칙 배치 · 조회 확인 · 확인 필요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84080" y="2715768"/>
            <a:ext cx="0" cy="146304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818120" y="3803904"/>
            <a:ext cx="3931920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27848" y="3931920"/>
            <a:ext cx="54864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74152" y="3895344"/>
            <a:ext cx="3584447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59669"/>
                </a:solidFill>
                <a:latin typeface="Pretendard"/>
              </a:rPr>
              <a:t>여행 화면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일정 · 지도 · 채팅(실제 여행 상담)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784080" y="3648456"/>
            <a:ext cx="0" cy="146304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818120" y="4736592"/>
            <a:ext cx="3931920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27848" y="4864607"/>
            <a:ext cx="54864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4152" y="4828031"/>
            <a:ext cx="3584447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59669"/>
                </a:solidFill>
                <a:latin typeface="Pretendard"/>
              </a:rPr>
              <a:t>일정 짜 줘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Pretendard"/>
              </a:rPr>
              <a:t>조건 확인 → 생성기 → 판정 → 등록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84080" y="4581144"/>
            <a:ext cx="0" cy="146304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818120" y="5715000"/>
            <a:ext cx="393192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64748B"/>
                </a:solidFill>
                <a:latin typeface="Pretendard"/>
              </a:rPr>
              <a:t>09-27~28 실제 연결 · 실제 모델로 브라우저에서 끝까지 확인(각 1회)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274320"/>
            <a:ext cx="1024128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0F172A"/>
                </a:solidFill>
                <a:latin typeface="Pretendard"/>
              </a:rPr>
              <a:t>다음 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804672"/>
            <a:ext cx="1135684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92256" y="36576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2563EB"/>
                </a:solidFill>
                <a:latin typeface="Pretendard"/>
              </a:rP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Pretendard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32120" cy="13258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16736"/>
            <a:ext cx="54864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80160"/>
            <a:ext cx="5184648" cy="11887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563EB"/>
                </a:solidFill>
                <a:latin typeface="Pretendard"/>
              </a:rPr>
              <a:t>CI/CD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Pretendard"/>
              </a:rPr>
              <a:t>cs Dockerfile 을 만들면 main 관문이 그 이미지를 빌드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Pretendard"/>
              </a:rPr>
              <a:t>배포 대상은 MVP 뒤에 정한다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88720"/>
            <a:ext cx="5532120" cy="132588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8" y="1316736"/>
            <a:ext cx="54864" cy="274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280160"/>
            <a:ext cx="5184648" cy="11887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6D28D9"/>
                </a:solidFill>
                <a:latin typeface="Pretendard"/>
              </a:rPr>
              <a:t>유스케이스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Pretendard"/>
              </a:rPr>
              <a:t>방문 직전 판정값 재사용 · 밀도 초과 → 대안 1·2·3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Pretendard"/>
              </a:rPr>
              <a:t>「절반 숙소 10시」 · 지연 때 70% 구간 처리 결정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88920"/>
            <a:ext cx="5532120" cy="13258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916936"/>
            <a:ext cx="54864" cy="2743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880360"/>
            <a:ext cx="5184648" cy="11887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B45309"/>
                </a:solidFill>
                <a:latin typeface="Pretendard"/>
              </a:rPr>
              <a:t>공통 플로우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Pretendard"/>
              </a:rPr>
              <a:t>액티비티·요식업 대체 장소 우선순위를 코드와 대조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Pretendard"/>
              </a:rPr>
              <a:t>웨이팅 수집 방법은 요식업 팀과 맞춘다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788920"/>
            <a:ext cx="5532120" cy="132588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8" y="2916936"/>
            <a:ext cx="54864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880360"/>
            <a:ext cx="5184648" cy="11887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59669"/>
                </a:solidFill>
                <a:latin typeface="Pretendard"/>
              </a:rPr>
              <a:t>화면 · 평가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Pretendard"/>
              </a:rPr>
              <a:t>확인 화면 · 여행 화면 실제 연결 검수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Pretendard"/>
              </a:rPr>
              <a:t>계획 읽기 평가셋 60건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