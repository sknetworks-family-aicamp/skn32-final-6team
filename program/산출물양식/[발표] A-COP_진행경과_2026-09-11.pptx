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png"/><Relationship Id="rId24" Type="http://schemas.openxmlformats.org/officeDocument/2006/relationships/image" Target="../media/image52.png"/><Relationship Id="rId25" Type="http://schemas.openxmlformats.org/officeDocument/2006/relationships/image" Target="../media/image5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Relationship Id="rId19" Type="http://schemas.openxmlformats.org/officeDocument/2006/relationships/image" Target="../media/image96.png"/><Relationship Id="rId20" Type="http://schemas.openxmlformats.org/officeDocument/2006/relationships/image" Target="../media/image97.png"/><Relationship Id="rId21" Type="http://schemas.openxmlformats.org/officeDocument/2006/relationships/image" Target="../media/image98.png"/><Relationship Id="rId22" Type="http://schemas.openxmlformats.org/officeDocument/2006/relationships/image" Target="../media/image99.png"/><Relationship Id="rId23" Type="http://schemas.openxmlformats.org/officeDocument/2006/relationships/image" Target="../media/image100.png"/><Relationship Id="rId24" Type="http://schemas.openxmlformats.org/officeDocument/2006/relationships/image" Target="../media/image10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Relationship Id="rId14" Type="http://schemas.openxmlformats.org/officeDocument/2006/relationships/image" Target="../media/image109.png"/><Relationship Id="rId15" Type="http://schemas.openxmlformats.org/officeDocument/2006/relationships/image" Target="../media/image110.png"/><Relationship Id="rId16" Type="http://schemas.openxmlformats.org/officeDocument/2006/relationships/image" Target="../media/image111.png"/><Relationship Id="rId17" Type="http://schemas.openxmlformats.org/officeDocument/2006/relationships/image" Target="../media/image112.png"/><Relationship Id="rId18" Type="http://schemas.openxmlformats.org/officeDocument/2006/relationships/image" Target="../media/image113.png"/><Relationship Id="rId19" Type="http://schemas.openxmlformats.org/officeDocument/2006/relationships/image" Target="../media/image114.png"/><Relationship Id="rId20" Type="http://schemas.openxmlformats.org/officeDocument/2006/relationships/image" Target="../media/image115.png"/><Relationship Id="rId21" Type="http://schemas.openxmlformats.org/officeDocument/2006/relationships/image" Target="../media/image116.png"/><Relationship Id="rId22" Type="http://schemas.openxmlformats.org/officeDocument/2006/relationships/image" Target="../media/image117.png"/><Relationship Id="rId23" Type="http://schemas.openxmlformats.org/officeDocument/2006/relationships/image" Target="../media/image95.png"/><Relationship Id="rId24" Type="http://schemas.openxmlformats.org/officeDocument/2006/relationships/image" Target="../media/image118.png"/><Relationship Id="rId25" Type="http://schemas.openxmlformats.org/officeDocument/2006/relationships/image" Target="../media/image119.png"/><Relationship Id="rId26" Type="http://schemas.openxmlformats.org/officeDocument/2006/relationships/image" Target="../media/image1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Relationship Id="rId13" Type="http://schemas.openxmlformats.org/officeDocument/2006/relationships/image" Target="../media/image125.png"/><Relationship Id="rId14" Type="http://schemas.openxmlformats.org/officeDocument/2006/relationships/image" Target="../media/image126.png"/><Relationship Id="rId15" Type="http://schemas.openxmlformats.org/officeDocument/2006/relationships/image" Target="../media/image127.png"/><Relationship Id="rId16" Type="http://schemas.openxmlformats.org/officeDocument/2006/relationships/image" Target="../media/image128.png"/><Relationship Id="rId17" Type="http://schemas.openxmlformats.org/officeDocument/2006/relationships/image" Target="../media/image129.png"/><Relationship Id="rId18" Type="http://schemas.openxmlformats.org/officeDocument/2006/relationships/image" Target="../media/image130.png"/><Relationship Id="rId19" Type="http://schemas.openxmlformats.org/officeDocument/2006/relationships/image" Target="../media/image131.png"/><Relationship Id="rId20" Type="http://schemas.openxmlformats.org/officeDocument/2006/relationships/image" Target="../media/image132.png"/><Relationship Id="rId21" Type="http://schemas.openxmlformats.org/officeDocument/2006/relationships/image" Target="../media/image116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083593"/>
            <a:ext cx="353377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898106"/>
            <a:ext cx="9525000" cy="87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2474118"/>
            <a:ext cx="10001250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0" sz="3750" i="0" u="none">
                <a:solidFill>
                  <a:srgbClr val="0F172A"/>
                </a:solidFill>
                <a:latin typeface="Pretendard ExtraBold"/>
              </a:rPr>
              <a:t>triPilot </a:t>
            </a:r>
            <a:r>
              <a:rPr b="0" sz="3750" i="0" u="none">
                <a:solidFill>
                  <a:srgbClr val="2563EB"/>
                </a:solidFill>
                <a:latin typeface="Pretendard SemiBold"/>
              </a:rPr>
              <a:t>(팀명: A-COPilot)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36106"/>
            <a:ext cx="9525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334155"/>
                </a:solidFill>
                <a:latin typeface="Pretendard Medium"/>
              </a:rPr>
              <a:t>여행 전체를 끝까지 관리하는 </a:t>
            </a:r>
            <a:r>
              <a:rPr b="1" sz="1500" i="0" u="none">
                <a:solidFill>
                  <a:srgbClr val="2563EB"/>
                </a:solidFill>
                <a:latin typeface="Pretendard"/>
              </a:rPr>
              <a:t>Headless Agentic CS 플랫폼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Pretendard Medium"/>
              </a:rPr>
              <a:t>"계획 작성이 아닌 현실 성립 검증, 돌발 상황 선제 감지 및 적시 출발 역산 안내"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2140743"/>
            <a:ext cx="1238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62175" y="4021931"/>
            <a:ext cx="762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retendard"/>
              </a:rPr>
              <a:t> 팀 6인 공식 역할 분담 (R&amp;R)</a:t>
            </a:r>
            <a:r>
              <a:rPr b="0" sz="1200" i="0" u="none">
                <a:solidFill>
                  <a:srgbClr val="000000"/>
                </a:solidFill>
                <a:latin typeface="Pretendard"/>
              </a:rPr>
              <a:t> </a:t>
            </a:r>
            <a:r>
              <a:rPr b="0" sz="1200" i="0" u="none">
                <a:solidFill>
                  <a:srgbClr val="0284C7"/>
                </a:solidFill>
                <a:latin typeface="Pretendard SemiBold"/>
              </a:rPr>
              <a:t>※ 6인 전원 데이터 전처리 공통 참여 체계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221956"/>
            <a:ext cx="920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025" y="4307681"/>
            <a:ext cx="3016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retendard"/>
              </a:rPr>
              <a:t>최연우: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Core 런타임 (트랜잭션·CAS·Outbox)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3375" y="4307681"/>
            <a:ext cx="30162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retendard"/>
              </a:rPr>
              <a:t>서유현: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Mobility Team (대중교통·우회로·출발역산)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5875" y="4307681"/>
            <a:ext cx="3016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0B981"/>
                </a:solidFill>
                <a:latin typeface="Pretendard"/>
              </a:rPr>
              <a:t>정세환: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Dining Team (영업·브레이크타임·휴무)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17231"/>
            <a:ext cx="3016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59E0B"/>
                </a:solidFill>
                <a:latin typeface="Pretendard"/>
              </a:rPr>
              <a:t>최상욱: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UI &amp; 검증 (동적계획서·DoD / 요식 지원)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3375" y="4517231"/>
            <a:ext cx="30162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B5CF6"/>
                </a:solidFill>
                <a:latin typeface="Pretendard"/>
              </a:rPr>
              <a:t>김지혜 · 송채영: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Activity Team (관람·체험·쇼핑)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5875" y="4517231"/>
            <a:ext cx="3016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retendard"/>
              </a:rPr>
              <a:t>아키텍처 &amp; 코어 전처리:</a:t>
            </a:r>
            <a:r>
              <a:rPr b="0" sz="900" i="0" u="none">
                <a:solidFill>
                  <a:srgbClr val="000000"/>
                </a:solidFill>
                <a:latin typeface="Pretendard"/>
              </a:rPr>
              <a:t> 파이프라인 총괄 및 전처리 주도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040981"/>
            <a:ext cx="152400" cy="1190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2752725" cy="5553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962025"/>
            <a:ext cx="2752725" cy="5553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962025"/>
            <a:ext cx="2752725" cy="5553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962025"/>
            <a:ext cx="2752725" cy="5553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991225"/>
            <a:ext cx="242887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050" y="6124575"/>
            <a:ext cx="24288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6124575"/>
            <a:ext cx="24288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2100" y="6124575"/>
            <a:ext cx="242887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아이디어 회의 및 피벗 로그 (09/05 ~ 09/10): 여행 CS 확정 여정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1464" y="414337"/>
            <a:ext cx="101143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" y="1133475"/>
            <a:ext cx="1544538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1362075"/>
            <a:ext cx="255031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커머스 CS의 한계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1590675"/>
            <a:ext cx="2428875" cy="793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- 스마트스토어 주문/반품/교환 CS 초기 기획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한계 봉착: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데이터가 정적이고 '단순 문의 수동 응대'에 갇힘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실시간 센서/텔레메트리 부재로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선제적 자율 조치(Zero-Contact)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를 보여주기 어려움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8050" y="1133475"/>
            <a:ext cx="1177528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48050" y="1362075"/>
            <a:ext cx="255031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인바운드 '여행 CS' 전격 피벗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050" y="1590675"/>
            <a:ext cx="2428875" cy="793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- 팀 전원 합의로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여행 지속관리 CS 플랫폼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확정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발상의 전환: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"계획은 AI가 짜주지만, 현장에서 지키는 것이 고통이다"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Core 무수정 보존: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커머스 Basement 12개 영역 100% 유지, Team만 여행 객체로 교체 결정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5075" y="1133475"/>
            <a:ext cx="1275903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15075" y="1362075"/>
            <a:ext cx="255031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라우팅 실패 실측 &amp; 2축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075" y="1590675"/>
            <a:ext cx="2428875" cy="952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- 실측 결과: 5개 라벨만으로는 Team 도달 불가 확인 (ROUTING_FAILED 발생)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라우팅 2축 정립: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case_type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(객체) + 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intent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(요청 종류)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멱등 키 결함 수정: 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business_subject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에 대상 객체 ID 바인딩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2100" y="1133475"/>
            <a:ext cx="1409402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2100" y="1362075"/>
            <a:ext cx="255031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16대 핵심 결정 최종 동결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100" y="1590675"/>
            <a:ext cx="2428875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- 서울 1도시 기준 상품 및 팀당 49,000원 손익 확정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한국어 원본 + 알림 직접 번역 (대만 고객 번체 지원)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- 84초~2분 주기 감시 루프 &amp;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출발 시각 역산 알림</a:t>
            </a:r>
            <a:r>
              <a:t>
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 - 확정 시나리오(대만인 2명 6대 사건) 기준선 고정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6067425"/>
            <a:ext cx="77837" cy="10001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24250" y="6200775"/>
            <a:ext cx="77837" cy="10001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1275" y="6200775"/>
            <a:ext cx="77837" cy="10001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58300" y="6200775"/>
            <a:ext cx="77837" cy="100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5591175" cy="8265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883866"/>
            <a:ext cx="5591175" cy="8265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805707"/>
            <a:ext cx="5591175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문제 정의: 일정 생성 앱은 많지만, 현장 실행 CS는 없습니다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601" y="414337"/>
            <a:ext cx="908298" cy="21907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81725" y="1000125"/>
          <a:ext cx="5581649" cy="555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95412"/>
                <a:gridCol w="2065139"/>
                <a:gridCol w="2121098"/>
              </a:tblGrid>
              <a:tr h="925512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비교 항목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기존 서비스 (트리플, 마인트립 등)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D4ED8"/>
                          </a:solidFill>
                          <a:latin typeface="Pretendard"/>
                        </a:rPr>
                        <a:t>triPilot (A-COPilot)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92551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핵심 역할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초기 일정 추천, 장소 검색, 정적 일정표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166534"/>
                          </a:solidFill>
                          <a:latin typeface="Pretendard SemiBold"/>
                        </a:rPr>
                        <a:t>현실 성립 검증 &amp; 여행 종료까지 지속 관리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92551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돌발 상황 대응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사후 수동 검색 (사용자가 직접 다시 탐색)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166534"/>
                          </a:solidFill>
                          <a:latin typeface="Pretendard"/>
                        </a:rPr>
                        <a:t>Pre-CS 선제 감지</a:t>
                      </a:r>
                      <a:r>
                        <a:rPr b="0" sz="825" i="0" u="none">
                          <a:solidFill>
                            <a:srgbClr val="166534"/>
                          </a:solidFill>
                          <a:latin typeface="Pretendard SemiBold"/>
                        </a:rPr>
                        <a:t> (84초 주기 스윕 및 선반영)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92551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사용자 접점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전용 폐쇄형 앱 설치 강제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166534"/>
                          </a:solidFill>
                          <a:latin typeface="Pretendard"/>
                        </a:rPr>
                        <a:t>Headless API</a:t>
                      </a:r>
                      <a:r>
                        <a:rPr b="0" sz="825" i="0" u="none">
                          <a:solidFill>
                            <a:srgbClr val="166534"/>
                          </a:solidFill>
                          <a:latin typeface="Pretendard SemiBold"/>
                        </a:rPr>
                        <a:t> (개인 AI + 웹 토큰 링크)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92551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신뢰성 보장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단순 LLM 생성 (할루시네이션 노출)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166534"/>
                          </a:solidFill>
                          <a:latin typeface="Pretendard"/>
                        </a:rPr>
                        <a:t>ActionProposal 코드 결정론적 대조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925515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출발 안내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단순 고정 알림 (2시간 전 일괄 발송)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166534"/>
                          </a:solidFill>
                          <a:latin typeface="Pretendard"/>
                        </a:rPr>
                        <a:t>실시간 이동시간 역산 출발 안내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1104900"/>
            <a:ext cx="5500687" cy="171450"/>
          </a:xfrm>
          <a:prstGeom prst="rect">
            <a:avLst/>
          </a:prstGeom>
          <a:noFill/>
        </p:spPr>
        <p:txBody>
          <a:bodyPr wrap="square" lIns="103733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retendard"/>
              </a:rPr>
              <a:t>여행자의 현실 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14450"/>
            <a:ext cx="5238750" cy="3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retendard"/>
              </a:rPr>
              <a:t>"여행 계획은 챗봇으로 5분 만에 짜지만, 현장에서 지하철이 멈추거나 식당이 닫히면 모든 일정이 연쇄적으로 무너집니다. 길거리에서 검색하느라 여행을 망칩니다."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026741"/>
            <a:ext cx="5500687" cy="171450"/>
          </a:xfrm>
          <a:prstGeom prst="rect">
            <a:avLst/>
          </a:prstGeom>
          <a:noFill/>
        </p:spPr>
        <p:txBody>
          <a:bodyPr wrap="square" lIns="103733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retendard"/>
              </a:rPr>
              <a:t>triPilot의 핵심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236291"/>
            <a:ext cx="5238750" cy="3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retendard"/>
              </a:rPr>
              <a:t>계획을 새로 만드는 앱이 아닙니다. 개인 AI가 전달한 일정의 </a:t>
            </a:r>
            <a:r>
              <a:rPr b="1" sz="900" i="0" u="none">
                <a:solidFill>
                  <a:srgbClr val="475569"/>
                </a:solidFill>
                <a:latin typeface="Pretendard"/>
              </a:rPr>
              <a:t>현실 성립을 코드로 검증</a:t>
            </a:r>
            <a:r>
              <a:rPr b="0" sz="900" i="0" u="none">
                <a:solidFill>
                  <a:srgbClr val="475569"/>
                </a:solidFill>
                <a:latin typeface="Pretendard"/>
              </a:rPr>
              <a:t>하고, 여행 종료까지 </a:t>
            </a:r>
            <a:r>
              <a:rPr b="1" sz="900" i="0" u="none">
                <a:solidFill>
                  <a:srgbClr val="475569"/>
                </a:solidFill>
                <a:latin typeface="Pretendard"/>
              </a:rPr>
              <a:t>변화를 먼저 감지해 조정하는 Agentic CS 플랫폼</a:t>
            </a:r>
            <a:r>
              <a:rPr b="0" sz="900" i="0" u="none">
                <a:solidFill>
                  <a:srgbClr val="475569"/>
                </a:solidFill>
                <a:latin typeface="Pretendard"/>
              </a:rPr>
              <a:t>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2920007"/>
            <a:ext cx="845492" cy="114300"/>
          </a:xfrm>
          <a:prstGeom prst="rect">
            <a:avLst/>
          </a:prstGeom>
          <a:noFill/>
        </p:spPr>
        <p:txBody>
          <a:bodyPr wrap="square" lIns="85278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1E40AF"/>
                </a:solidFill>
                <a:latin typeface="Pretendard"/>
              </a:rPr>
              <a:t>3대 핵심 가치: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23950"/>
            <a:ext cx="103733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45791"/>
            <a:ext cx="103733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2929532"/>
            <a:ext cx="8527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1135380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734050"/>
            <a:ext cx="11353800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847850"/>
            <a:ext cx="6473576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926" y="1847850"/>
            <a:ext cx="4784824" cy="3810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1247775"/>
            <a:ext cx="363855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6725" y="1247775"/>
            <a:ext cx="363855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525" y="1247775"/>
            <a:ext cx="363855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6019800"/>
            <a:ext cx="2719387" cy="4095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8512" y="6019800"/>
            <a:ext cx="2719387" cy="4095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4100" y="6019800"/>
            <a:ext cx="2719387" cy="409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9687" y="6019800"/>
            <a:ext cx="2719387" cy="409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2276475"/>
            <a:ext cx="3055739" cy="3276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3914" y="2276475"/>
            <a:ext cx="3055887" cy="3276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0801" y="2247900"/>
            <a:ext cx="4499074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0801" y="2552700"/>
            <a:ext cx="4499074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0801" y="2857500"/>
            <a:ext cx="4499074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시스템 아키텍처: Headless 2-Track &amp; Core-Team 무수정 격리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5397" y="414337"/>
            <a:ext cx="1447502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44913" y="1047750"/>
            <a:ext cx="7104161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2563EB"/>
                </a:solidFill>
                <a:latin typeface="Pretendard"/>
              </a:rPr>
              <a:t> External Access Layer (사용자 및 외부 접점 계층 - No Dedicated App)</a:t>
            </a:r>
            <a:r>
              <a:rPr b="1" sz="937" i="0" u="none">
                <a:solidFill>
                  <a:srgbClr val="2563EB"/>
                </a:solidFill>
                <a:latin typeface="Pretendard"/>
              </a:rPr>
              <a:t> </a:t>
            </a:r>
            <a:r>
              <a:rPr b="0" sz="937" i="0" u="none">
                <a:solidFill>
                  <a:srgbClr val="64748B"/>
                </a:solidFill>
                <a:latin typeface="Pretendard"/>
              </a:rPr>
              <a:t>REST API · MCP Server · Dynamic Web · Webhooks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5351" y="5819775"/>
            <a:ext cx="6213723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retendard"/>
              </a:rPr>
              <a:t> Domain Team Modules (MVP 3대 객체 모듈 - Side-Effect 없이 ActionProposal만 반환)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3280" y="1952625"/>
            <a:ext cx="2886521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38BDF8"/>
                </a:solidFill>
                <a:latin typeface="Pretendard"/>
              </a:rPr>
              <a:t> Core 1: Case Runtime &amp; Coordination (도메인 무관 격리)</a:t>
            </a:r>
            <a:r>
              <a:rPr b="1" sz="937" i="0" u="none">
                <a:solidFill>
                  <a:srgbClr val="38BDF8"/>
                </a:solidFill>
                <a:latin typeface="Pretendard"/>
              </a:rPr>
              <a:t> </a:t>
            </a:r>
            <a:r>
              <a:rPr b="0" sz="937" i="0" u="none">
                <a:solidFill>
                  <a:srgbClr val="94A3B8"/>
                </a:solidFill>
                <a:latin typeface="Pretendard"/>
              </a:rPr>
              <a:t>최연우 담당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975" y="2152650"/>
            <a:ext cx="61878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6678" y="1952625"/>
            <a:ext cx="2483197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FCD34D"/>
                </a:solidFill>
                <a:latin typeface="Pretendard"/>
              </a:rPr>
              <a:t> Core 2: Access &amp; Action Platform</a:t>
            </a:r>
            <a:r>
              <a:rPr b="1" sz="937" i="0" u="none">
                <a:solidFill>
                  <a:srgbClr val="FCD34D"/>
                </a:solidFill>
                <a:latin typeface="Pretendard"/>
              </a:rPr>
              <a:t> </a:t>
            </a:r>
            <a:r>
              <a:rPr b="0" sz="937" i="0" u="none">
                <a:solidFill>
                  <a:srgbClr val="94A3B8"/>
                </a:solidFill>
                <a:latin typeface="Pretendard"/>
              </a:rPr>
              <a:t>트랜잭션/Outbox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0801" y="2124075"/>
            <a:ext cx="44990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25" y="1066800"/>
            <a:ext cx="92719" cy="1190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700" y="1352550"/>
            <a:ext cx="1512837" cy="114300"/>
          </a:xfrm>
          <a:prstGeom prst="rect">
            <a:avLst/>
          </a:prstGeom>
          <a:noFill/>
        </p:spPr>
        <p:txBody>
          <a:bodyPr wrap="square" lIns="85278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F172A"/>
                </a:solidFill>
                <a:latin typeface="Pretendard"/>
              </a:rPr>
              <a:t>개인 AI (Claude / ChatGPT)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1485900"/>
            <a:ext cx="3429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64748B"/>
                </a:solidFill>
                <a:latin typeface="Pretendard"/>
              </a:rPr>
              <a:t>MCP 도구 호출 (일정 등록 / 지연 신고 / 대안 질의)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500" y="1352550"/>
            <a:ext cx="1669107" cy="114300"/>
          </a:xfrm>
          <a:prstGeom prst="rect">
            <a:avLst/>
          </a:prstGeom>
          <a:noFill/>
        </p:spPr>
        <p:txBody>
          <a:bodyPr wrap="square" lIns="85278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10B981"/>
                </a:solidFill>
                <a:latin typeface="Pretendard"/>
              </a:rPr>
              <a:t>동적 여행계획서 웹 (/t/{token})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1500" y="1485900"/>
            <a:ext cx="3429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64748B"/>
                </a:solidFill>
                <a:latin typeface="Pretendard"/>
              </a:rPr>
              <a:t>Source of Truth: 로그인 없는 정본 일정 조회 &amp; 되돌림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5300" y="1352550"/>
            <a:ext cx="1571029" cy="114300"/>
          </a:xfrm>
          <a:prstGeom prst="rect">
            <a:avLst/>
          </a:prstGeom>
          <a:noFill/>
        </p:spPr>
        <p:txBody>
          <a:bodyPr wrap="square" lIns="85278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284C7"/>
                </a:solidFill>
                <a:latin typeface="Pretendard"/>
              </a:rPr>
              <a:t>실시간 알림 채널 (Webhook)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5300" y="1485900"/>
            <a:ext cx="3429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64748B"/>
                </a:solidFill>
                <a:latin typeface="Pretendard"/>
              </a:rPr>
              <a:t>선제 변경 통지 및 적시 출발(역산) 푸시 발송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2925" y="5838825"/>
            <a:ext cx="92719" cy="1190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6096000"/>
            <a:ext cx="143604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8B5CF6"/>
                </a:solidFill>
                <a:latin typeface="Pretendard"/>
              </a:rPr>
              <a:t>Activity Team (김지혜·송채영)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" y="6238875"/>
            <a:ext cx="1624607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자연·인문·쇼핑 성립 검증 및 기상 감시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4237" y="6096000"/>
            <a:ext cx="168026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0B981"/>
                </a:solidFill>
                <a:latin typeface="Pretendard"/>
              </a:rPr>
              <a:t>Dining Team (정세환 / 지원:최상욱)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4237" y="6238875"/>
            <a:ext cx="1735633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영업시간·브레이크타임·외국인 결제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9825" y="6096000"/>
            <a:ext cx="110415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retendard"/>
              </a:rPr>
              <a:t>Mobility Team (서유현)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9825" y="6238875"/>
            <a:ext cx="1667172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통제·우회로·Routes API 역산 출발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412" y="6096000"/>
            <a:ext cx="1406723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retendard"/>
              </a:rPr>
              <a:t>Booking Handoff (MVP 다음)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412" y="6238875"/>
            <a:ext cx="1799629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4A3B8"/>
                </a:solidFill>
                <a:latin typeface="Pretendard"/>
              </a:rPr>
              <a:t>협약사 예약 연동 Mock / A2A Remote 검증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" y="1362075"/>
            <a:ext cx="85278" cy="109537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1500" y="1362075"/>
            <a:ext cx="85278" cy="109537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15300" y="1362075"/>
            <a:ext cx="85278" cy="109537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1975" y="1971675"/>
            <a:ext cx="92719" cy="119062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30801" y="1962150"/>
            <a:ext cx="92719" cy="1190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5591175" cy="8128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870174"/>
            <a:ext cx="5591175" cy="1205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팀 아키텍처: 객체별 모듈화 및 6인 소유권 분담 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752" y="414337"/>
            <a:ext cx="1321147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170634"/>
            <a:ext cx="5591175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725" y="962025"/>
            <a:ext cx="5870733" cy="171450"/>
          </a:xfrm>
          <a:prstGeom prst="rect">
            <a:avLst/>
          </a:prstGeom>
          <a:noFill/>
        </p:spPr>
        <p:txBody>
          <a:bodyPr wrap="square" lIns="100161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6인 팀원별 전담 소유권 (Ownership)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81725" y="1228725"/>
          <a:ext cx="5581649" cy="2875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95412"/>
                <a:gridCol w="1786086"/>
                <a:gridCol w="2400151"/>
              </a:tblGrid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담당자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소유 모듈 / 영역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핵심 책임 및 산출물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2563EB"/>
                          </a:solidFill>
                          <a:latin typeface="Pretendard"/>
                        </a:rPr>
                        <a:t>최연우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Core 1 Runtime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Case 12단계 상태전이 머신, CAS 동시성 제어, 2축 Registry 라우팅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0284C7"/>
                          </a:solidFill>
                          <a:latin typeface="Pretendard"/>
                        </a:rPr>
                        <a:t>서유현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Mobility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실시간 운행 중단/도로 통제 감지, 우회로 탐색, 출발 시각 역산 알고리즘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10B981"/>
                          </a:solidFill>
                          <a:latin typeface="Pretendard"/>
                        </a:rPr>
                        <a:t>정세환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Dining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영업시간·브레이크타임 대조, 해외카드 결제 검증, 캐치테이블/트립어드바이저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F59E0B"/>
                          </a:solidFill>
                          <a:latin typeface="Pretendard"/>
                        </a:rPr>
                        <a:t>최상욱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UI &amp; 검증 (요식 지원)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동적 여행계획서 웹(/t/{token}), 18개 MVP DoD 검증 하네스, 요식업 데이터 정제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8B5CF6"/>
                          </a:solidFill>
                          <a:latin typeface="Pretendard"/>
                        </a:rPr>
                        <a:t>김지혜 · 송채영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Activity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관람·체험·쇼핑 성립 검증, 기상청 초단기예보 감시, 다국어 프롬프트 템플릿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3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retendard"/>
                        </a:rPr>
                        <a:t>공통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아키텍처 &amp; 전처리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6인 전원 데이터 전처리 공통 참여</a:t>
                      </a:r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, 파이프라인 총괄 및 DB 무결성 관리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0" y="1104900"/>
            <a:ext cx="5500687" cy="171450"/>
          </a:xfrm>
          <a:prstGeom prst="rect">
            <a:avLst/>
          </a:prstGeom>
          <a:noFill/>
        </p:spPr>
        <p:txBody>
          <a:bodyPr wrap="square" lIns="100161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"객체 종류별 분할 원칙"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14450"/>
            <a:ext cx="523875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도시나 언어가 늘어난다고 Team을 늘리지 않습니다.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여행을 구성하는 객체(활동, 식사, 이동)별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로 Team을 나누어, 지역 확장은 순수 데이터 추가로 흡수합니다.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2013049"/>
            <a:ext cx="5530691" cy="171450"/>
          </a:xfrm>
          <a:prstGeom prst="rect">
            <a:avLst/>
          </a:prstGeom>
          <a:noFill/>
        </p:spPr>
        <p:txBody>
          <a:bodyPr wrap="square" lIns="100161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Team의 3대 독립 구성요소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3284934"/>
            <a:ext cx="1845171" cy="114300"/>
          </a:xfrm>
          <a:prstGeom prst="rect">
            <a:avLst/>
          </a:prstGeom>
          <a:noFill/>
        </p:spPr>
        <p:txBody>
          <a:bodyPr wrap="square" lIns="81557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Pretendard"/>
              </a:rPr>
              <a:t>판정(코드)과 생성(LLM)의 완전 분리: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3427809"/>
            <a:ext cx="5227141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retendard"/>
              </a:rPr>
              <a:t>LLM이 생성한 대안은 반드시 코어 제약 검증(시간 충돌·예산·이동 여유)을 다시 통과해야만 고객에게 통지됩니다.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981075"/>
            <a:ext cx="100161" cy="128587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123950"/>
            <a:ext cx="100161" cy="12858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2032099"/>
            <a:ext cx="100161" cy="1285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2288559"/>
            <a:ext cx="47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289274"/>
            <a:ext cx="5114925" cy="179486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334155"/>
                </a:solidFill>
                <a:latin typeface="Pretendard"/>
              </a:rPr>
              <a:t>검증 규칙 (Code):</a:t>
            </a:r>
            <a:r>
              <a:rPr b="0" sz="975" i="0" u="none">
                <a:solidFill>
                  <a:srgbClr val="334155"/>
                </a:solidFill>
                <a:latin typeface="Pretendard"/>
              </a:rPr>
              <a:t> 객체가 현실에서 성립하는 엄격한 코드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68046"/>
            <a:ext cx="47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2468760"/>
            <a:ext cx="5114925" cy="179486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334155"/>
                </a:solidFill>
                <a:latin typeface="Pretendard"/>
              </a:rPr>
              <a:t>감시 소스 (Watch List):</a:t>
            </a:r>
            <a:r>
              <a:rPr b="0" sz="975" i="0" u="none">
                <a:solidFill>
                  <a:srgbClr val="334155"/>
                </a:solidFill>
                <a:latin typeface="Pretendard"/>
              </a:rPr>
              <a:t> 상태 변화를 감지할 소스 목록 선언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47533"/>
            <a:ext cx="47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2648247"/>
            <a:ext cx="5114925" cy="179486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334155"/>
                </a:solidFill>
                <a:latin typeface="Pretendard"/>
              </a:rPr>
              <a:t>재계획 후보 생성 (LLM):</a:t>
            </a:r>
            <a:r>
              <a:rPr b="0" sz="975" i="0" u="none">
                <a:solidFill>
                  <a:srgbClr val="334155"/>
                </a:solidFill>
                <a:latin typeface="Pretendard"/>
              </a:rPr>
              <a:t> 문제 발생 시 도메인 특화 대안 생성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3294459"/>
            <a:ext cx="81557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5591175" cy="17653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22674"/>
            <a:ext cx="5591175" cy="935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753296"/>
            <a:ext cx="55911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727299"/>
            <a:ext cx="2595562" cy="857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2787" y="1727299"/>
            <a:ext cx="2595562" cy="857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데이터베이스 아키텍처: 19개 테이블 중 14개 보존 · 5개 교체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7373" y="414337"/>
            <a:ext cx="1355526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1725" y="962025"/>
            <a:ext cx="5870733" cy="171450"/>
          </a:xfrm>
          <a:prstGeom prst="rect">
            <a:avLst/>
          </a:prstGeom>
          <a:noFill/>
        </p:spPr>
        <p:txBody>
          <a:bodyPr wrap="square" lIns="100161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여행 도메인 5대 신규 엔티티 구조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28725"/>
          <a:ext cx="5581648" cy="2448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95412"/>
                <a:gridCol w="2232570"/>
                <a:gridCol w="1953666"/>
              </a:tblGrid>
              <a:tr h="408061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엔티티명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주요 속성 (Columns)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설계 목적 및 무결성 제약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806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trips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trip_id, token, customer_id, start_date, current_version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동적 계획서 고유 토큰(/t/{token}) 및 정본 상태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06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itinerary_items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item_id, trip_id, start_time, place_id, is_locked,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시간별 일정 항목 (scope 칸으로 Trip/항목 조건 보존)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06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itinerary_versions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version_id, trip_id, version_num, change_reason, diff_payload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Append-only 변경 이력 감사 및 완전 롤백 보장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06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watch_targets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target_id, place_id, target_type, last_fingerprint, next_check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카탈로그 전수가 아닌 계획서에 걸린 장소만 84s 감시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066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watch_logs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log_id, target_id, checked_at, has_changed, raw_payload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Fingerprint(해시) 비교로 오탐 방지 및 원시 이력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1025" y="1104900"/>
            <a:ext cx="5530691" cy="171450"/>
          </a:xfrm>
          <a:prstGeom prst="rect">
            <a:avLst/>
          </a:prstGeom>
          <a:noFill/>
        </p:spPr>
        <p:txBody>
          <a:bodyPr wrap="square" lIns="100161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retendard"/>
              </a:rPr>
              <a:t>PostgreSQL 테이블 전환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333500"/>
            <a:ext cx="5267325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475569"/>
                </a:solidFill>
                <a:latin typeface="Pretendard"/>
              </a:rPr>
              <a:t>기존 커머스 19개 테이블 중 </a:t>
            </a:r>
            <a:r>
              <a:rPr b="1" sz="862" i="0" u="none">
                <a:solidFill>
                  <a:srgbClr val="475569"/>
                </a:solidFill>
                <a:latin typeface="Pretendard"/>
              </a:rPr>
              <a:t>코어 14개 테이블은 100% 무수정 보존</a:t>
            </a:r>
            <a:r>
              <a:rPr b="0" sz="862" i="0" u="none">
                <a:solidFill>
                  <a:srgbClr val="475569"/>
                </a:solidFill>
                <a:latin typeface="Pretendard"/>
              </a:rPr>
              <a:t>하고, 도메인 테이블 5개만 여행 엔티티로 정밀 교체했습니다.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65549"/>
            <a:ext cx="5500687" cy="171450"/>
          </a:xfrm>
          <a:prstGeom prst="rect">
            <a:avLst/>
          </a:prstGeom>
          <a:noFill/>
        </p:spPr>
        <p:txBody>
          <a:bodyPr wrap="square" lIns="9644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retendard"/>
              </a:rPr>
              <a:t>Trip vs Case 생명주기 분리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175099"/>
            <a:ext cx="5238750" cy="43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Pretendard"/>
              </a:rPr>
              <a:t>- </a:t>
            </a:r>
            <a:r>
              <a:rPr b="1" sz="825" i="0" u="none">
                <a:solidFill>
                  <a:srgbClr val="475569"/>
                </a:solidFill>
                <a:latin typeface="Pretendard"/>
              </a:rPr>
              <a:t>Trip (영속 집합체):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 여행 등록부터 귀가까지 최신 상태 유지 (수명: 1일~수 일)</a:t>
            </a:r>
            <a:r>
              <a:t>
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25" i="0" u="none">
                <a:solidFill>
                  <a:srgbClr val="475569"/>
                </a:solidFill>
                <a:latin typeface="Pretendard"/>
              </a:rPr>
              <a:t>Case (단기 사건):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 문제 감지 시 생성 → 해결 후 닫힘 (수명: 수 분~수 시간)</a:t>
            </a:r>
            <a:r>
              <a:t>
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 - </a:t>
            </a:r>
            <a:r>
              <a:rPr b="1" sz="825" i="0" u="none">
                <a:solidFill>
                  <a:srgbClr val="475569"/>
                </a:solidFill>
                <a:latin typeface="Pretendard"/>
              </a:rPr>
              <a:t>itinerary_versions: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 Append-only 스냅샷으로 100% 안전한 되돌림(Rollback) 보장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981075"/>
            <a:ext cx="100161" cy="12858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1123950"/>
            <a:ext cx="100161" cy="1285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984599"/>
            <a:ext cx="96440" cy="1238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750" y="1822549"/>
            <a:ext cx="1251793" cy="114300"/>
          </a:xfrm>
          <a:prstGeom prst="rect">
            <a:avLst/>
          </a:prstGeom>
          <a:noFill/>
        </p:spPr>
        <p:txBody>
          <a:bodyPr wrap="square" lIns="81557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Pretendard"/>
              </a:rPr>
              <a:t>[보존] Core 14개 테이블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984474"/>
            <a:ext cx="2424112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4748B"/>
                </a:solidFill>
                <a:latin typeface="Pretendard"/>
              </a:rPr>
              <a:t>customer_cases, case_events, agent_runs, team_tasks, action_requests, action_approvals, outbox, llm_calls, prompts, customers, tenants 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8512" y="1822549"/>
            <a:ext cx="1339006" cy="114300"/>
          </a:xfrm>
          <a:prstGeom prst="rect">
            <a:avLst/>
          </a:prstGeom>
          <a:noFill/>
        </p:spPr>
        <p:txBody>
          <a:bodyPr wrap="square" lIns="81557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C2626"/>
                </a:solidFill>
                <a:latin typeface="Pretendard"/>
              </a:rPr>
              <a:t>[교체] Domain 5개 테이블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8512" y="1984474"/>
            <a:ext cx="24241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4748B"/>
                </a:solidFill>
                <a:latin typeface="Pretendard"/>
              </a:rPr>
              <a:t>orders, items, products, returns, shipments</a:t>
            </a:r>
            <a:r>
              <a:t>
</a:t>
            </a:r>
            <a:r>
              <a:rPr b="0" sz="750" i="0" u="none">
                <a:solidFill>
                  <a:srgbClr val="64748B"/>
                </a:solidFill>
                <a:latin typeface="Pretendard"/>
              </a:rPr>
              <a:t> ↓</a:t>
            </a:r>
            <a:r>
              <a:t>
</a:t>
            </a:r>
            <a:r>
              <a:rPr b="1" sz="750" i="0" u="none">
                <a:solidFill>
                  <a:srgbClr val="64748B"/>
                </a:solidFill>
                <a:latin typeface="Pretendard"/>
              </a:rPr>
              <a:t>trips, itinerary_items, itinerary_versions, watch_targets, watch_logs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1832074"/>
            <a:ext cx="81557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8512" y="1832074"/>
            <a:ext cx="81557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2900"/>
            <a:ext cx="117729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확정 시나리오: 대만인 관광객 2명의 서울 1일 투어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7620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395287"/>
            <a:ext cx="1428750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923925"/>
            <a:ext cx="113538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retendard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Pretendard"/>
              </a:rPr>
              <a:t>페르소나:</a:t>
            </a:r>
            <a:r>
              <a:rPr b="0" sz="1200" i="0" u="none">
                <a:solidFill>
                  <a:srgbClr val="475569"/>
                </a:solidFill>
                <a:latin typeface="Pretendard"/>
              </a:rPr>
              <a:t> K-콘텐츠 팬 대만인 여성 2명 (친구) | </a:t>
            </a:r>
            <a:r>
              <a:rPr b="1" sz="1200" i="0" u="none">
                <a:solidFill>
                  <a:srgbClr val="475569"/>
                </a:solidFill>
                <a:latin typeface="Pretendard"/>
              </a:rPr>
              <a:t>관심사:</a:t>
            </a:r>
            <a:r>
              <a:rPr b="0" sz="1200" i="0" u="none">
                <a:solidFill>
                  <a:srgbClr val="475569"/>
                </a:solidFill>
                <a:latin typeface="Pretendard"/>
              </a:rPr>
              <a:t> 향수·화장품 쇼핑 &amp; 식료품 마트 쇼핑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9100" y="1181100"/>
          <a:ext cx="11344272" cy="2875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61182"/>
                <a:gridCol w="2041921"/>
                <a:gridCol w="2495698"/>
                <a:gridCol w="1474737"/>
                <a:gridCol w="3970734"/>
              </a:tblGrid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시간대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장소 및 활동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발생 사건 (Issue Code)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인입 방식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1E293B"/>
                          </a:solidFill>
                          <a:latin typeface="Pretendard"/>
                        </a:rPr>
                        <a:t>triPilot 선제 대응 및 해결책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10:00~10:45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잠실 스카이타워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액-02: 기상 악화</a:t>
                      </a:r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 (미세먼지·비)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시스템 감지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야외 데크 통제 감지 → 실내 전망존 관람 단축 권고 선제 알림 (Activity Team: 김지혜·송채영)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11:00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잠실 → 성수동 이동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이동-B1: 성수역 화재 무정차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시스템 감지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직통 불가 감지 → 건대입구 하차 후 버스 우회 환승 실시간 이동 안내 (Mobility Team: 서유현)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13:00~14:10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성수동 점심식사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요식-P3: 70분 지연</a:t>
                      </a:r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 (팝업 대기)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사용자 신고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브레이크타임 회피 도보 6분 내 노브레이크 대체 식당 2곳 제안 (Dining Team: 정세환/최상욱)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17:15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경복궁 → 저녁식사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이동-A6: 광화문 도로 통제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시스템 감지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세종대로 행사 버스 지연 회피 → 지하철 3-1호선 우회로 즉시 역산 (Mobility Team: 서유현)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2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18:00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저녁식사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요식-P7: 당일 임시휴무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사용자 신고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현장 휴무 확인 → 해외카드 결제 가능 도보 8분 검증 식당 즉시 교체 (Dining Team: 정세환)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83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19:30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롯데마트 서울역점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액-08: 인기 라면·디저트 품절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사용자 질문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334155"/>
                          </a:solidFill>
                          <a:latin typeface="Pretendard"/>
                        </a:rPr>
                        <a:t>재고 문의 → 호텔 복귀 동선 상의 대체 매장(명동권) 우회 안내 (Activity Team: 김지혜·송채영)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923925"/>
            <a:ext cx="2314575" cy="161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252" y="1613148"/>
            <a:ext cx="561975" cy="1762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252" y="2040582"/>
            <a:ext cx="561975" cy="1762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252" y="2468016"/>
            <a:ext cx="561975" cy="1762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252" y="2895451"/>
            <a:ext cx="561975" cy="1762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252" y="3322885"/>
            <a:ext cx="561975" cy="1762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252" y="3750319"/>
            <a:ext cx="561975" cy="176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62025"/>
            <a:ext cx="3880395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845" y="962025"/>
            <a:ext cx="3695700" cy="495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895" y="962025"/>
            <a:ext cx="3511004" cy="495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276350"/>
            <a:ext cx="3861345" cy="4629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2370" y="1276350"/>
            <a:ext cx="3676650" cy="4629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1420" y="1276350"/>
            <a:ext cx="3491954" cy="4629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1390650"/>
            <a:ext cx="3632745" cy="82406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2405211"/>
            <a:ext cx="3632745" cy="82406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6670" y="1762125"/>
            <a:ext cx="3448050" cy="1390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1445" y="2286000"/>
            <a:ext cx="32385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100" y="342900"/>
            <a:ext cx="11772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시연 목업 1: 시스템 선제 감지 &amp; 긴급 우회 안내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100" y="8001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2642" y="414337"/>
            <a:ext cx="1110257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25" y="971550"/>
            <a:ext cx="3861345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2370" y="971550"/>
            <a:ext cx="367665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71420" y="971550"/>
            <a:ext cx="349195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95245" y="1390650"/>
            <a:ext cx="840283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38BDF8"/>
                </a:solidFill>
                <a:latin typeface="JetBrains Mono"/>
              </a:rPr>
              <a:t>[WatchSweeper]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5245" y="1535608"/>
            <a:ext cx="1214586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38BDF8"/>
                </a:solidFill>
                <a:latin typeface="JetBrains Mono"/>
              </a:rPr>
              <a:t>[MobilityTeam:서유현]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5245" y="1970484"/>
            <a:ext cx="1634728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34D399"/>
                </a:solidFill>
                <a:latin typeface="JetBrains Mono"/>
              </a:rPr>
              <a:t>[CoreConstraintCheck:최연우]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5245" y="2405360"/>
            <a:ext cx="102036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FBBF24"/>
                </a:solidFill>
                <a:latin typeface="JetBrains Mono"/>
              </a:rPr>
              <a:t>[OutboxPublisher]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925" y="1066800"/>
            <a:ext cx="85278" cy="1095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8228" y="1495425"/>
            <a:ext cx="3242667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62" i="0" u="none">
                <a:solidFill>
                  <a:srgbClr val="38BDF8"/>
                </a:solidFill>
                <a:latin typeface="Pretendard"/>
              </a:rPr>
              <a:t>triPilot 기상 선제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676400"/>
            <a:ext cx="3385095" cy="433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8"/>
              </a:lnSpc>
            </a:pPr>
            <a:r>
              <a:rPr b="1" sz="825" i="0" u="none">
                <a:solidFill>
                  <a:srgbClr val="CBD5E1"/>
                </a:solidFill>
                <a:latin typeface="Pretendard"/>
              </a:rPr>
              <a:t>[잠실 스카이타워]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미세먼지 경보 및 비 예보로 야외 데크 운영이 중단되었습니다.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실내 전망존 관람(10:40 조기 종료 권장)으로 조정되었습니다. (v1.1 반영)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228" y="2509986"/>
            <a:ext cx="3242667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62" i="0" u="none">
                <a:solidFill>
                  <a:srgbClr val="F87171"/>
                </a:solidFill>
                <a:latin typeface="Pretendard"/>
              </a:rPr>
              <a:t>triPilot 긴급 우회 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690961"/>
            <a:ext cx="3385095" cy="433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8"/>
              </a:lnSpc>
            </a:pPr>
            <a:r>
              <a:rPr b="1" sz="825" i="0" u="none">
                <a:solidFill>
                  <a:srgbClr val="CBD5E1"/>
                </a:solidFill>
                <a:latin typeface="Pretendard"/>
              </a:rPr>
              <a:t>[성수역 진입 불가 - 화재 무정차]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지금 잠실역에서 2호선 탑승 시 성수역에서 내릴 수 없습니다.</a:t>
            </a:r>
            <a:r>
              <a:t>
</a:t>
            </a:r>
            <a:r>
              <a:rPr b="1" sz="825" i="0" u="none">
                <a:solidFill>
                  <a:srgbClr val="CBD5E1"/>
                </a:solidFill>
                <a:latin typeface="Pretendard"/>
              </a:rPr>
              <a:t>추천 우회: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건대입구역 하차 → 1번 출구 버스(광진05) 환승 (소요 24분)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6670" y="1066800"/>
            <a:ext cx="85278" cy="10953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2395" y="1476375"/>
            <a:ext cx="81557" cy="104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53123" y="1466850"/>
            <a:ext cx="116428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40AF"/>
                </a:solidFill>
                <a:latin typeface="Pretendard"/>
              </a:rPr>
              <a:t>최신 일정 자동 갱신 완료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0937" y="3333750"/>
            <a:ext cx="81557" cy="1047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5720" y="1066800"/>
            <a:ext cx="85278" cy="10953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1512093"/>
            <a:ext cx="85278" cy="1095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2526655"/>
            <a:ext cx="85278" cy="1095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61445" y="1847850"/>
            <a:ext cx="400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Pretendard"/>
              </a:rPr>
              <a:t>10:00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070" y="2333625"/>
            <a:ext cx="4000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C2626"/>
                </a:solidFill>
                <a:latin typeface="Pretendard"/>
              </a:rPr>
              <a:t>11:00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1445" y="2733675"/>
            <a:ext cx="4000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Pretendard"/>
              </a:rPr>
              <a:t>11:20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7695" y="1866900"/>
            <a:ext cx="76259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retendard"/>
              </a:rPr>
              <a:t>잠실 서울스카이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67561" y="1847850"/>
            <a:ext cx="590550" cy="171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137695" y="2019300"/>
            <a:ext cx="142041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10:40 퇴장 완료 (안전 마진 확보)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5320" y="2343150"/>
            <a:ext cx="137383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C2626"/>
                </a:solidFill>
                <a:latin typeface="Pretendard"/>
              </a:rPr>
              <a:t>성수역 무정차 통과 → 우회로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5320" y="2476500"/>
            <a:ext cx="153218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B91C1C"/>
                </a:solidFill>
                <a:latin typeface="Pretendard"/>
              </a:rPr>
              <a:t>[선택됨] 건대입구역 하차 + 버스 5분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7695" y="2743200"/>
            <a:ext cx="1315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retendard"/>
              </a:rPr>
              <a:t>성수동 복합문화공간 &amp; 쇼룸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7695" y="2876550"/>
            <a:ext cx="131564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향수·화장품 투어 정상 진행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3880395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845" y="923925"/>
            <a:ext cx="3695700" cy="495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895" y="923925"/>
            <a:ext cx="3511004" cy="495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228725"/>
            <a:ext cx="3861345" cy="463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2370" y="1228725"/>
            <a:ext cx="3676650" cy="4638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1420" y="1228725"/>
            <a:ext cx="3491954" cy="4638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570" y="1343025"/>
            <a:ext cx="3086100" cy="30569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1743967"/>
            <a:ext cx="3076575" cy="109120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7445" y="2930425"/>
            <a:ext cx="1038225" cy="30569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3331368"/>
            <a:ext cx="3342084" cy="47803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6670" y="1343025"/>
            <a:ext cx="3448050" cy="6700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670" y="2203549"/>
            <a:ext cx="3448050" cy="81453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720" y="1343025"/>
            <a:ext cx="3263354" cy="1647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0495" y="2200275"/>
            <a:ext cx="3053804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9100" y="342900"/>
            <a:ext cx="117729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시연 목업 2: 사용자 지연 신고 &amp; 적시 출발 역산 안내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" y="7620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48950" y="395287"/>
            <a:ext cx="11239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625" y="933450"/>
            <a:ext cx="3861345" cy="2952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370" y="933450"/>
            <a:ext cx="3676650" cy="2952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1420" y="933450"/>
            <a:ext cx="3491954" cy="2952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925" y="1028700"/>
            <a:ext cx="133350" cy="1095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7225" y="1839217"/>
            <a:ext cx="15716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Dining Team (정세환) 제약 검증: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2145803"/>
            <a:ext cx="1457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도보 6분 내 노브레이크 대안 2곳: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2299096"/>
            <a:ext cx="733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성수 퓨전 한식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2452389"/>
            <a:ext cx="704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성수 수제버거 B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6670" y="1028700"/>
            <a:ext cx="114300" cy="1095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70995" y="1447800"/>
            <a:ext cx="30289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62" i="0" u="none">
                <a:solidFill>
                  <a:srgbClr val="F87171"/>
                </a:solidFill>
                <a:latin typeface="Pretendard"/>
              </a:rPr>
              <a:t>광화문 도로 통제 발생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9545" y="1619250"/>
            <a:ext cx="3200400" cy="289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8"/>
              </a:lnSpc>
            </a:pPr>
            <a:r>
              <a:rPr b="0" sz="825" i="0" u="none">
                <a:solidFill>
                  <a:srgbClr val="CBD5E1"/>
                </a:solidFill>
                <a:latin typeface="Pretendard"/>
              </a:rPr>
              <a:t>세종대로 행사로 버스 구간 통제 (택시 예측 불가)</a:t>
            </a:r>
            <a:r>
              <a:t>
</a:t>
            </a:r>
            <a:r>
              <a:rPr b="1" sz="825" i="0" u="none">
                <a:solidFill>
                  <a:srgbClr val="CBD5E1"/>
                </a:solidFill>
                <a:latin typeface="Pretendard"/>
              </a:rPr>
              <a:t>대체 경로: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3호선 경복궁역 → 종로3가(1호선) → 서울역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3370" y="2308324"/>
            <a:ext cx="307657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62" i="0" u="none">
                <a:solidFill>
                  <a:srgbClr val="34D399"/>
                </a:solidFill>
                <a:latin typeface="Pretendard"/>
              </a:rPr>
              <a:t>지금 출발하세요! (역산 알림)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9545" y="2479774"/>
            <a:ext cx="3200400" cy="433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8"/>
              </a:lnSpc>
            </a:pPr>
            <a:r>
              <a:rPr b="1" sz="825" i="0" u="none">
                <a:solidFill>
                  <a:srgbClr val="CBD5E1"/>
                </a:solidFill>
                <a:latin typeface="Pretendard"/>
              </a:rPr>
              <a:t>18:00 저녁 식사를 위해 17:18분까지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경복궁역 5번 출구로 이동하세요.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- 지하철 소요 시간: 22분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Pretendard"/>
              </a:rPr>
              <a:t> - 도보 우회로: 4분 안전 마진 확보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5720" y="1028700"/>
            <a:ext cx="114300" cy="1095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99545" y="1459706"/>
            <a:ext cx="114300" cy="10953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99545" y="2320230"/>
            <a:ext cx="66675" cy="10953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90495" y="1428750"/>
            <a:ext cx="400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Pretendard"/>
              </a:rPr>
              <a:t>14:15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0495" y="1828800"/>
            <a:ext cx="400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Pretendard"/>
              </a:rPr>
              <a:t>15:30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8120" y="2247900"/>
            <a:ext cx="400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Pretendard"/>
              </a:rPr>
              <a:t>17:18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0495" y="2609850"/>
            <a:ext cx="400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Pretendard"/>
              </a:rPr>
              <a:t>18:00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6745" y="1447800"/>
            <a:ext cx="10382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retendard"/>
              </a:rPr>
              <a:t>[교체] 성수 퓨전 한식 A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71645" y="1428750"/>
            <a:ext cx="542925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966745" y="1581150"/>
            <a:ext cx="16478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16A34A"/>
                </a:solidFill>
                <a:latin typeface="Pretendard"/>
              </a:rPr>
              <a:t>여유 있는 식사 완료 (15:00 출발)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6745" y="1828800"/>
            <a:ext cx="1066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retendard"/>
              </a:rPr>
              <a:t>경복궁 한복 대여 및 관람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6745" y="1952625"/>
            <a:ext cx="12763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무료 관람 혜택 적용 / 17:00 종료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4370" y="2247900"/>
            <a:ext cx="1200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Pretendard"/>
              </a:rPr>
              <a:t>지하철 3호선 경복궁역 출발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4370" y="2371725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047857"/>
                </a:solidFill>
                <a:latin typeface="Pretendard"/>
              </a:rPr>
              <a:t>도로 통제 우회 지하철 경로 탑승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6745" y="2609850"/>
            <a:ext cx="9429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retendard"/>
              </a:rPr>
              <a:t>서울역 인근 저녁 식사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6745" y="2733675"/>
            <a:ext cx="9715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retendard"/>
              </a:rPr>
              <a:t>예정 시각 정시 도착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3880395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845" y="923925"/>
            <a:ext cx="3695700" cy="495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895" y="923925"/>
            <a:ext cx="3511004" cy="495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228725"/>
            <a:ext cx="3861345" cy="463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2370" y="1228725"/>
            <a:ext cx="3676650" cy="4638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1420" y="1228725"/>
            <a:ext cx="3491954" cy="4638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945" y="1343025"/>
            <a:ext cx="3133725" cy="30569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1743967"/>
            <a:ext cx="3342084" cy="93791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0320" y="2777132"/>
            <a:ext cx="895350" cy="30569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3178075"/>
            <a:ext cx="2714625" cy="32474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2598" y="1343025"/>
            <a:ext cx="3172122" cy="45898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670" y="1897260"/>
            <a:ext cx="3172122" cy="93791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9795" y="2930425"/>
            <a:ext cx="1304925" cy="30569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5720" y="1343025"/>
            <a:ext cx="3263354" cy="1156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9100" y="342900"/>
            <a:ext cx="117729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시연 목업 3: 당일 휴무 대처 &amp; 마트 품절 동선 추천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" y="7620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39425" y="395287"/>
            <a:ext cx="1133475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625" y="933450"/>
            <a:ext cx="3861345" cy="2952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370" y="933450"/>
            <a:ext cx="3676650" cy="2952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1420" y="933450"/>
            <a:ext cx="3491954" cy="2952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85720" y="2651521"/>
            <a:ext cx="3263354" cy="12382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/>
            <a:r>
              <a:rPr b="0" sz="787" i="0" u="none">
                <a:solidFill>
                  <a:srgbClr val="64748B"/>
                </a:solidFill>
                <a:latin typeface="Pretendard"/>
              </a:rPr>
              <a:t>여행 종료: 모든 백그라운드 감시 루프 안전 종료됨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925" y="1028700"/>
            <a:ext cx="133350" cy="1095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7225" y="1839217"/>
            <a:ext cx="11620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Dining Team 즉시 탐색: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4675" y="1992510"/>
            <a:ext cx="523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대체 식당 C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6670" y="1028700"/>
            <a:ext cx="123825" cy="10953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70970" y="1992510"/>
            <a:ext cx="1219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귀가 동선 내 대체 매장 분석: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970" y="2145803"/>
            <a:ext cx="2857500" cy="286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1" sz="862" i="0" u="none">
                <a:solidFill>
                  <a:srgbClr val="0F172A"/>
                </a:solidFill>
                <a:latin typeface="Pretendard"/>
              </a:rPr>
              <a:t>명동 대형 마켓 지점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5720" y="1028700"/>
            <a:ext cx="95250" cy="1095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90495" y="1447800"/>
            <a:ext cx="305380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retendard"/>
              </a:rPr>
              <a:t>🎉 오늘 서울 여행 안전 완결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88623" y="2670571"/>
            <a:ext cx="85725" cy="1000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57170" y="1675685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3845" y="1676400"/>
            <a:ext cx="2920454" cy="179486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Pretendard"/>
              </a:rPr>
              <a:t>총 처리 사건: 6건 (시스템 감지 3건, 신고 3건)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7170" y="1855172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3845" y="1855886"/>
            <a:ext cx="2920454" cy="179486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Pretendard"/>
              </a:rPr>
              <a:t>일정 성공률: 100% (위약금/일정 충돌 0건)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7170" y="2034659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3845" y="2035373"/>
            <a:ext cx="2920454" cy="179486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Pretendard"/>
              </a:rPr>
              <a:t>절약된 길거리 검색 시간: 약 1시간 45분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7170" y="2214145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retendard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3845" y="2214860"/>
            <a:ext cx="2920454" cy="179486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Pretendard"/>
              </a:rPr>
              <a:t>최종 개정 버전: Version 1.6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441995"/>
            <a:ext cx="5591175" cy="20946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971675"/>
            <a:ext cx="5591175" cy="7608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181100"/>
            <a:ext cx="2747962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1181100"/>
            <a:ext cx="2747962" cy="695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342900"/>
            <a:ext cx="117729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비즈니스 모델: 팀당 49,000원 이용권 &amp; 단단한 유닛 이코노믹스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7620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395287"/>
            <a:ext cx="120015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9100" y="923925"/>
            <a:ext cx="587073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retendard"/>
              </a:rPr>
              <a:t>팀당 여행 이용권 (7일·서울 1도시 기준)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1181100"/>
            <a:ext cx="5591175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retendard"/>
              </a:rPr>
              <a:t>광고나 제휴 수수료 없이도 </a:t>
            </a:r>
            <a:r>
              <a:rPr b="1" sz="900" i="0" u="none">
                <a:solidFill>
                  <a:srgbClr val="475569"/>
                </a:solidFill>
                <a:latin typeface="Pretendard"/>
              </a:rPr>
              <a:t>판매 1건당 즉시 54%의 공헌이익이 발생하는 구조</a:t>
            </a:r>
            <a:r>
              <a:rPr b="0" sz="900" i="0" u="none">
                <a:solidFill>
                  <a:srgbClr val="475569"/>
                </a:solidFill>
                <a:latin typeface="Pretendard"/>
              </a:rPr>
              <a:t>를 설계했습니다.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725" y="923925"/>
            <a:ext cx="587073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62" i="0" u="none">
                <a:solidFill>
                  <a:srgbClr val="0F172A"/>
                </a:solidFill>
                <a:latin typeface="Pretendard"/>
              </a:rPr>
              <a:t>시장 규모 및 손익분기점 (BEP)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1975" y="1546770"/>
          <a:ext cx="5305424" cy="1885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24076"/>
                <a:gridCol w="1981348"/>
              </a:tblGrid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소비자가 (팀당 7일권, VAT 포함)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49,000원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순매출 (VAT 10% 제외)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44,545원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외부 API 비용 (Maps/Routes/Places)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DC2626"/>
                          </a:solidFill>
                          <a:latin typeface="Pretendard"/>
                        </a:rPr>
                        <a:t>-6,500원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LLM 추론비 (Gemini Flash 기반)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DC2626"/>
                          </a:solidFill>
                          <a:latin typeface="Pretendard"/>
                        </a:rPr>
                        <a:t>-1,200원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PG 결제 수수료 (3.4%)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DC2626"/>
                          </a:solidFill>
                          <a:latin typeface="Pretendard"/>
                        </a:rPr>
                        <a:t>-1,800원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3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retendard"/>
                        </a:rPr>
                        <a:t>목표 고객 획득비 (CAC)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DC2626"/>
                          </a:solidFill>
                          <a:latin typeface="Pretendard"/>
                        </a:rPr>
                        <a:t>-8,500원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929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Pretendard"/>
                        </a:rPr>
                        <a:t>팀당 순 기여이익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2563EB"/>
                          </a:solidFill>
                          <a:latin typeface="Pretendard ExtraBold"/>
                        </a:rPr>
                        <a:t>+26,545원 (54%)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43650" y="2114550"/>
            <a:ext cx="5267325" cy="13335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retendard"/>
              </a:rPr>
              <a:t>"무료 광고 모델을 지양하는 이유"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50" y="2286000"/>
            <a:ext cx="5267325" cy="303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retendard"/>
              </a:rPr>
              <a:t>우리가 파는 가치는 </a:t>
            </a:r>
            <a:r>
              <a:rPr b="1" sz="825" i="0" u="none">
                <a:solidFill>
                  <a:srgbClr val="475569"/>
                </a:solidFill>
                <a:latin typeface="Pretendard"/>
              </a:rPr>
              <a:t>판정의 객관적 신뢰성</a:t>
            </a:r>
            <a:r>
              <a:rPr b="0" sz="825" i="0" u="none">
                <a:solidFill>
                  <a:srgbClr val="475569"/>
                </a:solidFill>
                <a:latin typeface="Pretendard"/>
              </a:rPr>
              <a:t>입니다. 대안 식당/장소에 광고비가 개입되면 검증 결과가 훼손되므로, 유료 이용권 모델을 고수하여 신뢰를 보장합니다.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550" y="1304925"/>
            <a:ext cx="250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2250" i="0" u="none">
                <a:solidFill>
                  <a:srgbClr val="2563EB"/>
                </a:solidFill>
                <a:latin typeface="Space Grotesk"/>
              </a:rPr>
              <a:t>3.9억회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1628775"/>
            <a:ext cx="25003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retendard"/>
              </a:rPr>
              <a:t>국내 연간 여행 활동 횟수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762" y="1304925"/>
            <a:ext cx="250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2250" i="0" u="none">
                <a:solidFill>
                  <a:srgbClr val="10B981"/>
                </a:solidFill>
                <a:latin typeface="Space Grotesk"/>
              </a:rPr>
              <a:t>5,650팀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762" y="1628775"/>
            <a:ext cx="25003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retendard"/>
              </a:rPr>
              <a:t>연간 BEP 달성 기준 (월 470팀)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2124075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256234"/>
            <a:ext cx="11353800" cy="9276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923925"/>
            <a:ext cx="2752725" cy="12180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923925"/>
            <a:ext cx="2752725" cy="12180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923925"/>
            <a:ext cx="2752725" cy="12180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923925"/>
            <a:ext cx="2752725" cy="12180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" y="342900"/>
            <a:ext cx="117729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retendard"/>
              </a:rPr>
              <a:t>프로젝트 로드맵 및 결론: 끝까지 믿고 맡기는 여행 비서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762000"/>
            <a:ext cx="1135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600" y="395287"/>
            <a:ext cx="16383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5273" y="2399109"/>
            <a:ext cx="1162145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0F172A"/>
                </a:solidFill>
                <a:latin typeface="Pretendard ExtraBold"/>
              </a:rPr>
              <a:t>"더 똑똑한 챗봇이 아닌, </a:t>
            </a:r>
            <a:r>
              <a:rPr b="0" sz="1425" i="0" u="none">
                <a:solidFill>
                  <a:srgbClr val="2563EB"/>
                </a:solidFill>
                <a:latin typeface="Pretendard ExtraBold"/>
              </a:rPr>
              <a:t>끝까지 믿고 맡길 수 있는</a:t>
            </a:r>
            <a:r>
              <a:rPr b="0" sz="1425" i="0" u="none">
                <a:solidFill>
                  <a:srgbClr val="0F172A"/>
                </a:solidFill>
                <a:latin typeface="Pretendard ExtraBold"/>
              </a:rPr>
              <a:t> 여행 오케스트레이터"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" y="2656284"/>
            <a:ext cx="1106805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Pretendard"/>
              </a:rPr>
              <a:t>SK네트웍스 Family AI 캠프 32기 6팀 A-COPilot | github.com/SKNETWORKS-FAMILY-AICAMP/SKN32-FINAL-6TEAM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975" y="2898130"/>
            <a:ext cx="11068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retendard"/>
              </a:rPr>
              <a:t>감사합니다. 질의응답을 진행하겠습니다 (Q&amp;A)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1095375"/>
            <a:ext cx="6000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1276350"/>
            <a:ext cx="267033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retendard"/>
              </a:rPr>
              <a:t>도메인 피벗 &amp; 동결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1457325"/>
            <a:ext cx="2543175" cy="579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64748B"/>
                </a:solidFill>
                <a:latin typeface="Pretendard"/>
              </a:rPr>
              <a:t>- 여행 CS 피벗 의결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- 2축 라우팅 명세 확정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- 6대 사건 시나리오 매핑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DB 14보존 5교체 스키마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900" y="1095375"/>
            <a:ext cx="58102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90900" y="1276350"/>
            <a:ext cx="267033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retendard"/>
              </a:rPr>
              <a:t>E2E 목업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900" y="1457325"/>
            <a:ext cx="2543175" cy="579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64748B"/>
                </a:solidFill>
                <a:latin typeface="Pretendard"/>
              </a:rPr>
              <a:t>- 6대 사건 E2E 시연 완성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Headless API/MCP 목업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동적 여행계획서 웹 뷰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중간 발표 평가 완료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7925" y="1095375"/>
            <a:ext cx="619125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57925" y="1276350"/>
            <a:ext cx="267033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retendard"/>
              </a:rPr>
              <a:t>3대 Team 실구현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7925" y="1457325"/>
            <a:ext cx="2543175" cy="579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64748B"/>
                </a:solidFill>
                <a:latin typeface="Pretendard"/>
              </a:rPr>
              <a:t>- Activity/Dining/Mobility 완성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감시 sweeper 루프 (84s)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Routes API 실시간 연동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번체/영문 템플릿 검증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4950" y="1095375"/>
            <a:ext cx="628650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24950" y="1276350"/>
            <a:ext cx="267033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retendard"/>
              </a:rPr>
              <a:t>DoD 평가 &amp;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4950" y="1457325"/>
            <a:ext cx="2543175" cy="579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1"/>
              </a:lnSpc>
            </a:pPr>
            <a:r>
              <a:rPr b="0" sz="787" i="0" u="none">
                <a:solidFill>
                  <a:srgbClr val="64748B"/>
                </a:solidFill>
                <a:latin typeface="Pretendard"/>
              </a:rPr>
              <a:t>- 60+30건 골든셋 통계 검정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McNemar &amp; Bootstrap 검증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멱등성 100% 검증 (DoD 18종)</a:t>
            </a:r>
            <a:r>
              <a:t>
</a:t>
            </a:r>
            <a:r>
              <a:rPr b="0" sz="787" i="0" u="none">
                <a:solidFill>
                  <a:srgbClr val="64748B"/>
                </a:solidFill>
                <a:latin typeface="Pretendard"/>
              </a:rPr>
              <a:t> - 최종 시연 및 패키징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