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한 달 동안 뭘 했는지, 그리고 왜 지금 주제를 다시 좁히고 있는지 말씀드리겠습니다.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제약이 이후 모든 판단의 배경입니다. 기술은 정해져 있고 도메인만 우리가 정합니다.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응대 자동화에만 초점을 두면 결과물이 다 비슷해진다는 지적이 있어서 B2B 쪽도 같이 봤습니다.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구간에서 계획서가 두 번 개정됐습니다.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성능 수치는 오늘 안 넣었습니다. 지금은 무엇이 서 있는지를 보고드리는 자리입니다.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구매자 관점 기록이 5,773행인데 판매자 관점 실데이터는 아직 없습니다. 그게 멘토가 지적한 부분입니다.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셋 다 문서로 남겼습니다. 문서 드리프트는 재발 방지로 검사기까지 만들었습니다.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여기가 방향을 다시 본 계기입니다. 우리가 스스로 의심한 게 아니라 밖에서 두 번 같은 말을 들었습니다.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정세환 님은 아예 다른 주제 방향도 두 개 냈습니다. 복합 문제 해결형과 맞춤형 응대 전략형입니다.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1번과 2번이 묶여 있습니다. 세그먼트가 정해져야 어느 데이터를 모을지가 정해집니다.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측정 없이 좋아졌다고 말하지 않는 것이 이 프로젝트 원칙입니다.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C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187452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A-COP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297180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CED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다중 에이전트 CS 자동화 — 한 달간의 경과와, 지금 다시 좁히는 중인 것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370332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3B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2026.08.05 팀 결성 – 09.04   ·   6명   ·   커밋 270건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58064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3B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SKN32 Final 6팀   ·   김지혜 서유현 송채영 정세환 최상욱 최연우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188720" cy="310896"/>
          </a:xfrm>
          <a:prstGeom prst="roundRect">
            <a:avLst>
              <a:gd name="adj" fmla="val 17647"/>
            </a:avLst>
          </a:prstGeom>
          <a:solidFill>
            <a:srgbClr val="2F5BD8"/>
          </a:solidFill>
          <a:ln w="12700">
            <a:solidFill>
              <a:srgbClr val="2F5BD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85800" y="56692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08.05–07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05156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1C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주제는 받았다. 고를 수 있는 건 도메인 하나였다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194560"/>
            <a:ext cx="75895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2500"/>
              </a:lnSpc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6B74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8월 5일 팀이 만들어지고, 7일에 주제를 배정받았다</a:t>
            </a:r>
            <a:endParaRPr lang="en-US" sz="1500" dirty="0"/>
          </a:p>
          <a:p>
            <a:pPr marL="342900" indent="-342900">
              <a:lnSpc>
                <a:spcPts val="2500"/>
              </a:lnSpc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6B74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"다중 에이전트 서빙 기반 고객 피드백 분석 및 맞춤형 응대 자동화"</a:t>
            </a:r>
            <a:endParaRPr lang="en-US" sz="1500" dirty="0"/>
          </a:p>
          <a:p>
            <a:pPr marL="342900" indent="-342900">
              <a:lnSpc>
                <a:spcPts val="2500"/>
              </a:lnSpc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6B74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기술 구조는 요구사항에 다 정해져 있었다</a:t>
            </a:r>
            <a:endParaRPr lang="en-US" sz="1500" dirty="0"/>
          </a:p>
          <a:p>
            <a:pPr marL="342900" indent="-342900">
              <a:lnSpc>
                <a:spcPts val="2500"/>
              </a:lnSpc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6B74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자유 변수는 하나였다 — 어느 도메인의 피드백을 다룰 것인가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915400" y="2194560"/>
            <a:ext cx="2560320" cy="1691640"/>
          </a:xfrm>
          <a:prstGeom prst="roundRect">
            <a:avLst>
              <a:gd name="adj" fmla="val 5405"/>
            </a:avLst>
          </a:prstGeom>
          <a:solidFill>
            <a:srgbClr val="F4F6FA"/>
          </a:solidFill>
          <a:ln w="12700">
            <a:solidFill>
              <a:srgbClr val="DBE0E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052560" y="237744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F5B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9052560" y="315468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4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자유 변수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B74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(어느 도메인이냐)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188720" cy="310896"/>
          </a:xfrm>
          <a:prstGeom prst="roundRect">
            <a:avLst>
              <a:gd name="adj" fmla="val 17647"/>
            </a:avLst>
          </a:prstGeom>
          <a:solidFill>
            <a:srgbClr val="0D7A4D"/>
          </a:solidFill>
          <a:ln w="12700">
            <a:solidFill>
              <a:srgbClr val="0D7A4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85800" y="56692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08.12–15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05156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1C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2주를 도메인 찾는 데 썼다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048256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4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여섯 명이 각자 후보를 만들어 올렸다. 겹치는 건 걸러냈다.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542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5B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최연우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011680" y="2542032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4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이전 기수 141개 저장소와 대조해 중복 제거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3145536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5B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서유현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2011680" y="3145536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4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3층 에스컬레이션 · 역할 인식 멀티페르소나 · 강의 플랫폼 CS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374904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5B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최상욱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2011680" y="37490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4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이커머스 마켓플레이스 A-COP + 서비스 스토리보드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4352544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5B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송채영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2011680" y="4352544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4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에이전트 세부 기능과 데이터 수집 계획 · 응답/검토 에이전트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4956048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5B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김지혜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2011680" y="4956048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4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문의에서 기획전·상품 제안을 뽑는 확장안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555955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5B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정세환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2011680" y="5559552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4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스마트스토어 주문·반품·교환·리뷰 데이터 확보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188720" cy="310896"/>
          </a:xfrm>
          <a:prstGeom prst="roundRect">
            <a:avLst>
              <a:gd name="adj" fmla="val 17647"/>
            </a:avLst>
          </a:prstGeom>
          <a:solidFill>
            <a:srgbClr val="2F5BD8"/>
          </a:solidFill>
          <a:ln w="12700">
            <a:solidFill>
              <a:srgbClr val="2F5BD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85800" y="56692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08.16–27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05156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1C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이커머스로 좁히고 구조를 세웠다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194560"/>
            <a:ext cx="75895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2500"/>
              </a:lnSpc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6B74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Agent Team 6개로 나눴다 — 고객응대, 카탈로그, 주문·결제, 물류, 반품·환불, VOC</a:t>
            </a:r>
            <a:endParaRPr lang="en-US" sz="1500" dirty="0"/>
          </a:p>
          <a:p>
            <a:pPr marL="342900" indent="-342900">
              <a:lnSpc>
                <a:spcPts val="2500"/>
              </a:lnSpc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6B74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구현계획서를 v6 에서 v7 로 올리고 시스템 지도를 그렸다</a:t>
            </a:r>
            <a:endParaRPr lang="en-US" sz="1500" dirty="0"/>
          </a:p>
          <a:p>
            <a:pPr marL="342900" indent="-342900">
              <a:lnSpc>
                <a:spcPts val="2500"/>
              </a:lnSpc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6B74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문서가 어려워서 쉬운 설명 버전을 따로 만들었다</a:t>
            </a:r>
            <a:endParaRPr lang="en-US" sz="1500" dirty="0"/>
          </a:p>
          <a:p>
            <a:pPr marL="342900" indent="-342900">
              <a:lnSpc>
                <a:spcPts val="2500"/>
              </a:lnSpc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6B74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8월 29일 팀장을 뽑았다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915400" y="2194560"/>
            <a:ext cx="2560320" cy="1691640"/>
          </a:xfrm>
          <a:prstGeom prst="roundRect">
            <a:avLst>
              <a:gd name="adj" fmla="val 5405"/>
            </a:avLst>
          </a:prstGeom>
          <a:solidFill>
            <a:srgbClr val="F4F6FA"/>
          </a:solidFill>
          <a:ln w="12700">
            <a:solidFill>
              <a:srgbClr val="DBE0E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052560" y="237744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F5B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9052560" y="31546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4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Agent Team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66928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1C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만들어 둔 것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481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4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뼈대는 돌아간다. 성능을 말할 단계는 아니고, 무엇이 서 있는지를 적는다.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2276856"/>
            <a:ext cx="256032" cy="256032"/>
          </a:xfrm>
          <a:prstGeom prst="ellipse">
            <a:avLst/>
          </a:prstGeom>
          <a:solidFill>
            <a:srgbClr val="2F5BD8"/>
          </a:solidFill>
          <a:ln w="12700">
            <a:solidFill>
              <a:srgbClr val="2F5BD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69848" y="21488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C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Case 런타임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1069848" y="2478024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4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상태전이 21이벤트 / 24전이. 상태를 바꾸는 문은 하나뿐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172200" y="2276856"/>
            <a:ext cx="256032" cy="256032"/>
          </a:xfrm>
          <a:prstGeom prst="ellipse">
            <a:avLst/>
          </a:prstGeom>
          <a:solidFill>
            <a:srgbClr val="2F5BD8"/>
          </a:solidFill>
          <a:ln w="12700">
            <a:solidFill>
              <a:srgbClr val="2F5BD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56248" y="21488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C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DB 스키마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6556248" y="2478024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4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 테이블. 마이그레이션 재실행 안전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85800" y="3209544"/>
            <a:ext cx="256032" cy="256032"/>
          </a:xfrm>
          <a:prstGeom prst="ellipse">
            <a:avLst/>
          </a:prstGeom>
          <a:solidFill>
            <a:srgbClr val="2F5BD8"/>
          </a:solidFill>
          <a:ln w="12700">
            <a:solidFill>
              <a:srgbClr val="2F5BD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69848" y="3081528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C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REST · MCP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1069848" y="3410712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4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엔드포인트 5개 + MCP 도구 3개. 전부 읽기 전용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172200" y="3209544"/>
            <a:ext cx="256032" cy="256032"/>
          </a:xfrm>
          <a:prstGeom prst="ellipse">
            <a:avLst/>
          </a:prstGeom>
          <a:solidFill>
            <a:srgbClr val="2F5BD8"/>
          </a:solidFill>
          <a:ln w="12700">
            <a:solidFill>
              <a:srgbClr val="2F5BD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56248" y="3081528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C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Context Broker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6556248" y="3410712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4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12,000 토큰 예산으로 근거를 자르고, 자른 걸 기록한다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85800" y="4142232"/>
            <a:ext cx="256032" cy="256032"/>
          </a:xfrm>
          <a:prstGeom prst="ellipse">
            <a:avLst/>
          </a:prstGeom>
          <a:solidFill>
            <a:srgbClr val="2F5BD8"/>
          </a:solidFill>
          <a:ln w="12700">
            <a:solidFill>
              <a:srgbClr val="2F5BD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69848" y="4014216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C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RAG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1069848" y="434340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4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지식 문서 25개 · 청크 306개 적재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172200" y="4142232"/>
            <a:ext cx="256032" cy="256032"/>
          </a:xfrm>
          <a:prstGeom prst="ellipse">
            <a:avLst/>
          </a:prstGeom>
          <a:solidFill>
            <a:srgbClr val="2F5BD8"/>
          </a:solidFill>
          <a:ln w="12700">
            <a:solidFill>
              <a:srgbClr val="2F5BD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556248" y="4014216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C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 대조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6556248" y="434340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4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제안한 금액·주문번호를 DB 와 맞춰 보고 안 맞으면 막는다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85800" y="5074920"/>
            <a:ext cx="256032" cy="256032"/>
          </a:xfrm>
          <a:prstGeom prst="ellipse">
            <a:avLst/>
          </a:prstGeom>
          <a:solidFill>
            <a:srgbClr val="2F5BD8"/>
          </a:solidFill>
          <a:ln w="12700">
            <a:solidFill>
              <a:srgbClr val="2F5BD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069848" y="4946904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C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 harness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1069848" y="5276088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4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골든셋 72건을 반복 실행하고 결과를 파일로 남긴다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172200" y="5074920"/>
            <a:ext cx="256032" cy="256032"/>
          </a:xfrm>
          <a:prstGeom prst="ellipse">
            <a:avLst/>
          </a:prstGeom>
          <a:solidFill>
            <a:srgbClr val="2F5BD8"/>
          </a:solidFill>
          <a:ln w="12700">
            <a:solidFill>
              <a:srgbClr val="2F5BD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556248" y="4946904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C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 자료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6556248" y="5276088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4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취소·환불 한 건이 전 구조를 지나는 길을 그림 17장으로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66928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1C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모으고 있는 데이터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481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4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공개 자료와 팀원 실계정 기록을 함께 쓴다. 개인정보는 가리고 넣는다.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2148840"/>
            <a:ext cx="10789920" cy="822960"/>
          </a:xfrm>
          <a:prstGeom prst="roundRect">
            <a:avLst>
              <a:gd name="adj" fmla="val 11111"/>
            </a:avLst>
          </a:prstGeom>
          <a:solidFill>
            <a:srgbClr val="F4F6FA"/>
          </a:solidFill>
          <a:ln w="12700">
            <a:solidFill>
              <a:srgbClr val="DBE0E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60120" y="2295144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D7A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322건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2880360" y="225856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1C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반품·환불 분쟁 사례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6172200" y="2295144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4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소비자24 에서 1,704건 받아 걸러 동결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85800" y="3108960"/>
            <a:ext cx="10789920" cy="822960"/>
          </a:xfrm>
          <a:prstGeom prst="roundRect">
            <a:avLst>
              <a:gd name="adj" fmla="val 11111"/>
            </a:avLst>
          </a:prstGeom>
          <a:solidFill>
            <a:srgbClr val="F4F6FA"/>
          </a:solidFill>
          <a:ln w="12700">
            <a:solidFill>
              <a:srgbClr val="DBE0E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60120" y="3255264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D7A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173건</a:t>
            </a:r>
            <a:endParaRPr lang="en-US" sz="2100" dirty="0"/>
          </a:p>
        </p:txBody>
      </p:sp>
      <p:sp>
        <p:nvSpPr>
          <p:cNvPr id="10" name="Text 8"/>
          <p:cNvSpPr txBox="1"/>
          <p:nvPr/>
        </p:nvSpPr>
        <p:spPr>
          <a:xfrm>
            <a:off x="2880360" y="321868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1C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판매자 소명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6172200" y="3255264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4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S1~S9 유형으로 나눠 판독 중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85800" y="4069080"/>
            <a:ext cx="10789920" cy="822960"/>
          </a:xfrm>
          <a:prstGeom prst="roundRect">
            <a:avLst>
              <a:gd name="adj" fmla="val 11111"/>
            </a:avLst>
          </a:prstGeom>
          <a:solidFill>
            <a:srgbClr val="F4F6FA"/>
          </a:solidFill>
          <a:ln w="12700">
            <a:solidFill>
              <a:srgbClr val="DBE0E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60120" y="4215384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F5B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5,773행</a:t>
            </a:r>
            <a:endParaRPr lang="en-US" sz="2100" dirty="0"/>
          </a:p>
        </p:txBody>
      </p:sp>
      <p:sp>
        <p:nvSpPr>
          <p:cNvPr id="14" name="Text 12"/>
          <p:cNvSpPr txBox="1"/>
          <p:nvPr/>
        </p:nvSpPr>
        <p:spPr>
          <a:xfrm>
            <a:off x="2880360" y="417880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1C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주문·배송 기록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6172200" y="4215384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4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팀원 여섯 명 실계정을 쇼핑몰별 4파일로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85800" y="5029200"/>
            <a:ext cx="10789920" cy="822960"/>
          </a:xfrm>
          <a:prstGeom prst="roundRect">
            <a:avLst>
              <a:gd name="adj" fmla="val 11111"/>
            </a:avLst>
          </a:prstGeom>
          <a:solidFill>
            <a:srgbClr val="F4F6FA"/>
          </a:solidFill>
          <a:ln w="12700">
            <a:solidFill>
              <a:srgbClr val="DBE0E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60120" y="5175504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A8720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28개</a:t>
            </a:r>
            <a:endParaRPr lang="en-US" sz="2100" dirty="0"/>
          </a:p>
        </p:txBody>
      </p:sp>
      <p:sp>
        <p:nvSpPr>
          <p:cNvPr id="18" name="Text 16"/>
          <p:cNvSpPr txBox="1"/>
          <p:nvPr/>
        </p:nvSpPr>
        <p:spPr>
          <a:xfrm>
            <a:off x="2880360" y="513892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1C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법령·고시 조항 앵커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6172200" y="5175504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4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전자상거래법·시행령·분쟁해결기준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685800" y="60807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B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밖에 AI Hub K쇼핑 상담 데이터와 공정위 소비자 민원 데이터를 함께 쓰고 있다.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66928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1C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해봤지만 접은 것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481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4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돌려 보고 안 되는 걸 확인했다. 되살리지 않고 이유를 기록으로 뒀다.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2103120"/>
            <a:ext cx="3383280" cy="2926080"/>
          </a:xfrm>
          <a:prstGeom prst="roundRect">
            <a:avLst>
              <a:gd name="adj" fmla="val 3125"/>
            </a:avLst>
          </a:prstGeom>
          <a:solidFill>
            <a:srgbClr val="FBF3E3"/>
          </a:solidFill>
          <a:ln w="12700">
            <a:solidFill>
              <a:srgbClr val="E8D9B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60120" y="233172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8720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파인튜닝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278892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1C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stage3 v1~v7 전부 채택 불가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3566160"/>
            <a:ext cx="28346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4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모델이 근거를 그대로 베껴 쓰는 법을 배웠다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89120" y="2103120"/>
            <a:ext cx="3383280" cy="2926080"/>
          </a:xfrm>
          <a:prstGeom prst="roundRect">
            <a:avLst>
              <a:gd name="adj" fmla="val 3125"/>
            </a:avLst>
          </a:prstGeom>
          <a:solidFill>
            <a:srgbClr val="FBF3E3"/>
          </a:solidFill>
          <a:ln w="12700">
            <a:solidFill>
              <a:srgbClr val="E8D9B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63440" y="233172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8720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12GB 벽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663440" y="278892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1C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10,670 → 1,024 토큰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663440" y="3566160"/>
            <a:ext cx="28346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4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 최고 사양이 4070 SUPER 12GB. 입력을 10분의 1로 깎아야 돌았다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92440" y="2103120"/>
            <a:ext cx="3383280" cy="2926080"/>
          </a:xfrm>
          <a:prstGeom prst="roundRect">
            <a:avLst>
              <a:gd name="adj" fmla="val 3125"/>
            </a:avLst>
          </a:prstGeom>
          <a:solidFill>
            <a:srgbClr val="FBF3E3"/>
          </a:solidFill>
          <a:ln w="12700">
            <a:solidFill>
              <a:srgbClr val="E8D9B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66760" y="233172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8720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드리프트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8366760" y="278892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1C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제품이 이틀간 기동 불가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8366760" y="3566160"/>
            <a:ext cx="28346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4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개정이 한 절에만 반영돼 코드가 낡은 쪽을 따랐다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61C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9601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그런데 같은 지적을 두 번 받았다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85800" y="2148840"/>
            <a:ext cx="10789920" cy="1463040"/>
          </a:xfrm>
          <a:prstGeom prst="roundRect">
            <a:avLst>
              <a:gd name="adj" fmla="val 6250"/>
            </a:avLst>
          </a:prstGeom>
          <a:solidFill>
            <a:srgbClr val="222834"/>
          </a:solidFill>
          <a:ln w="12700">
            <a:solidFill>
              <a:srgbClr val="39404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51560" y="235000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8720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강사 · 08.28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51560" y="2697480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DCE2E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"표준과 기술을 많이 사용하는 것이 프로젝트 목표가 되어서는 안 된다.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DCE2E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핵심은 Case lifecycle 이 실제로 동작하는 것이다."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3840480"/>
            <a:ext cx="10789920" cy="1463040"/>
          </a:xfrm>
          <a:prstGeom prst="roundRect">
            <a:avLst>
              <a:gd name="adj" fmla="val 6250"/>
            </a:avLst>
          </a:prstGeom>
          <a:solidFill>
            <a:srgbClr val="222834"/>
          </a:solidFill>
          <a:ln w="12700">
            <a:solidFill>
              <a:srgbClr val="39404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40416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8720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멘토 · 09.01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4389120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DCE2E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"기술 구현보다 프로젝트 가치 증명이 핵심이다.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DCE2E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실사용자인가 모의 사용자인가?"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571500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3B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만드는 건 되는데, 누구에게 왜 값이 있는지를 못 대고 있었다.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188720" cy="310896"/>
          </a:xfrm>
          <a:prstGeom prst="roundRect">
            <a:avLst>
              <a:gd name="adj" fmla="val 17647"/>
            </a:avLst>
          </a:prstGeom>
          <a:solidFill>
            <a:srgbClr val="A8720C"/>
          </a:solidFill>
          <a:ln w="12700">
            <a:solidFill>
              <a:srgbClr val="A872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85800" y="56692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09.02–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05156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1C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시장을 다시 좁히는 중이다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048256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4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CS 를 넓게 훑고 세그먼트에 점수를 매겨 후보를 줄이고 있다. 아직 정하지 않았다.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85800" y="2377440"/>
            <a:ext cx="10789920" cy="777240"/>
          </a:xfrm>
          <a:prstGeom prst="roundRect">
            <a:avLst>
              <a:gd name="adj" fmla="val 11765"/>
            </a:avLst>
          </a:prstGeom>
          <a:solidFill>
            <a:srgbClr val="F4F6FA"/>
          </a:solidFill>
          <a:ln w="12700">
            <a:solidFill>
              <a:srgbClr val="DBE0E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05840" y="24688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C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해외구매대행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434840" y="2487168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4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직전 후보. 통관·지연·환불 규정이 복잡해 판정 여지가 크다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85800" y="3291840"/>
            <a:ext cx="10789920" cy="777240"/>
          </a:xfrm>
          <a:prstGeom prst="roundRect">
            <a:avLst>
              <a:gd name="adj" fmla="val 11765"/>
            </a:avLst>
          </a:prstGeom>
          <a:solidFill>
            <a:srgbClr val="F4F6FA"/>
          </a:solidFill>
          <a:ln w="12700">
            <a:solidFill>
              <a:srgbClr val="DBE0E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05840" y="33832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C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여행·숙박 중소사업자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434840" y="3401568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4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현재 심층 조사 중. 취소·환불 규정이 법으로 정해져 있다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85800" y="4206240"/>
            <a:ext cx="10789920" cy="777240"/>
          </a:xfrm>
          <a:prstGeom prst="roundRect">
            <a:avLst>
              <a:gd name="adj" fmla="val 11765"/>
            </a:avLst>
          </a:prstGeom>
          <a:solidFill>
            <a:srgbClr val="F4F6FA"/>
          </a:solidFill>
          <a:ln w="12700">
            <a:solidFill>
              <a:srgbClr val="DBE0E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05840" y="42976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C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상담사 훈련 시뮬레이터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434840" y="4315968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4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CS 를 응대가 아니라 훈련으로 뒤집어 본 안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85800" y="5120640"/>
            <a:ext cx="10789920" cy="777240"/>
          </a:xfrm>
          <a:prstGeom prst="roundRect">
            <a:avLst>
              <a:gd name="adj" fmla="val 11765"/>
            </a:avLst>
          </a:prstGeom>
          <a:solidFill>
            <a:srgbClr val="F4F6FA"/>
          </a:solidFill>
          <a:ln w="12700">
            <a:solidFill>
              <a:srgbClr val="DBE0E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05840" y="52120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C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소상공인 일반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4434840" y="5230368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4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정부 AI 바우처 지원이 있다. 김지혜 조사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66928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1C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중간발표까지 11일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85800" y="1965960"/>
            <a:ext cx="384048" cy="384048"/>
          </a:xfrm>
          <a:prstGeom prst="ellipse">
            <a:avLst/>
          </a:prstGeom>
          <a:solidFill>
            <a:srgbClr val="B8442F"/>
          </a:solidFill>
          <a:ln w="12700">
            <a:solidFill>
              <a:srgbClr val="B8442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85623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1C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세그먼트를 확정한다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240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4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여행·숙박이냐 해외구매대행이냐, 아니면 다른 방향이냐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85800" y="3063240"/>
            <a:ext cx="384048" cy="384048"/>
          </a:xfrm>
          <a:prstGeom prst="ellipse">
            <a:avLst/>
          </a:prstGeom>
          <a:solidFill>
            <a:srgbClr val="B8442F"/>
          </a:solidFill>
          <a:ln w="12700">
            <a:solidFill>
              <a:srgbClr val="B8442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3063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280160" y="295351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1C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실사용자 데이터를 확보한다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3375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4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멘토가 지적한 부분. 지금 판매자 관점 실데이터가 0건이다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85800" y="4160520"/>
            <a:ext cx="384048" cy="384048"/>
          </a:xfrm>
          <a:prstGeom prst="ellipse">
            <a:avLst/>
          </a:prstGeom>
          <a:solidFill>
            <a:srgbClr val="A8720C"/>
          </a:solidFill>
          <a:ln w="12700">
            <a:solidFill>
              <a:srgbClr val="A8720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4160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405079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1C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과잉 기권 35% 를 낮춘다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44348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4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근거가 충분한데 사람에게 넘기는 비율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85800" y="5257800"/>
            <a:ext cx="384048" cy="384048"/>
          </a:xfrm>
          <a:prstGeom prst="ellipse">
            <a:avLst/>
          </a:prstGeom>
          <a:solidFill>
            <a:srgbClr val="2F5BD8"/>
          </a:solidFill>
          <a:ln w="12700">
            <a:solidFill>
              <a:srgbClr val="2F5BD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" y="5257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280160" y="514807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1C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Case lifecycle 이 도는 걸 보여준다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55321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4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강사가 말한 핵심. 기술 나열이 아니라 한 건이 끝까지 가는 것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61C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210312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달 동안 여기까지 왔다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3200400"/>
            <a:ext cx="10332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600" dirty="0">
                <a:solidFill>
                  <a:srgbClr val="C7CED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도메인을 찾고, 구조를 세우고, 데이터를 모았다.</a:t>
            </a:r>
            <a:endParaRPr lang="en-US" sz="16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600" dirty="0">
                <a:solidFill>
                  <a:srgbClr val="C7CED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지적을 받고 나서, 어느 시장부터 들어갈지를 다시 보고 있다. 그게 지금 하는 일이다.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A-COP 진행 경과</dc:title>
  <dc:subject>PptxGenJS Presentation</dc:subject>
  <dc:creator>SKN32 Final 6팀</dc:creator>
  <cp:lastModifiedBy>SKN32 Final 6팀</cp:lastModifiedBy>
  <cp:revision>1</cp:revision>
  <dcterms:created xsi:type="dcterms:W3CDTF">2026-09-03T23:37:50Z</dcterms:created>
  <dcterms:modified xsi:type="dcterms:W3CDTF">2026-09-03T23:37:50Z</dcterms:modified>
</cp:coreProperties>
</file>