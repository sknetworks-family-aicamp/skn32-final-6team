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858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달 동안 뭘 해왔는지, 그리고 왜 지금 시장을 다시 좁히고 있는지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전체를 보고 나서 구간별로 들어가겠습니다. 지금은 다섯 번째 구간입니다.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제약이 이후 모든 판단의 배경입니다.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응대 자동화에만 초점을 두면 결과물이 다 비슷해진다는 지적이 있어서 B2B 쪽도 같이 봤습니다.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기획서 1장에 적은 정의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계획서 v8 의 전체 구성 그림을 그대로 옮긴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성능 수치는 오늘 안 넣었습니다. 무엇이 서 있는지를 보고드리는 자리입니다.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 5,773행은 구매자 관점 기록입니다. 판매자 관점 실데이터는 아직 없고, 그게 멘토가 지적한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둘 다 되돌리지 않고 이유를 남겼습니다. 문서 재정리는 지금 진행 중인 작업입니다.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우리가 스스로 의심한 게 아니라 밖에서 두 번 같은 말을 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검증 문서는 team_branch 의 fail 폴더에 넣었습니다. 접은 방향도 기록으로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정세환 님은 아예 다른 주제 방향도 두 개 냈습니다. 복합 문제 해결형과 맞춤형 응대 전략형입니다.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A-COP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2971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다중 에이전트 CS 자동화 — 한 달간 해온 일과, 지금 좁히는 중인 것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2026.08.05 팀 결성 – 09.04   ·   6명   ·   커밋 270건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SKN32 Final 6팀   ·   김지혜 서유현 송채영 정세환 최상욱 최연우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달을 다섯 구간으로 나누면 이렇다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구간에서 무엇을 했는지 뒤에서 하나씩 본다.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07008" y="3063240"/>
            <a:ext cx="9747504" cy="0"/>
          </a:xfrm>
          <a:prstGeom prst="line">
            <a:avLst/>
          </a:prstGeom>
          <a:noFill/>
          <a:ln w="31750">
            <a:solidFill>
              <a:srgbClr val="DB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20140" y="2976372"/>
            <a:ext cx="173736" cy="173736"/>
          </a:xfrm>
          <a:prstGeom prst="ellipse">
            <a:avLst/>
          </a:prstGeom>
          <a:solidFill>
            <a:srgbClr val="2F5B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4048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08.05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2608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결성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219456" y="374904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주제를 배정받았다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69641" y="2976372"/>
            <a:ext cx="173736" cy="173736"/>
          </a:xfrm>
          <a:prstGeom prst="ellipse">
            <a:avLst/>
          </a:prstGeom>
          <a:solidFill>
            <a:srgbClr val="0D7A4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33549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08.12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42109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탐색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168957" y="374904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명이 후보를 냈다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19142" y="2976372"/>
            <a:ext cx="173736" cy="173736"/>
          </a:xfrm>
          <a:prstGeom prst="ellipse">
            <a:avLst/>
          </a:prstGeom>
          <a:solidFill>
            <a:srgbClr val="2F5B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83050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08.16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91610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설계·구현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118458" y="374904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이커머스로 좁히고 만들기 시작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68642" y="2976372"/>
            <a:ext cx="173736" cy="173736"/>
          </a:xfrm>
          <a:prstGeom prst="ellipse">
            <a:avLst/>
          </a:prstGeom>
          <a:solidFill>
            <a:srgbClr val="A872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32550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72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08.28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141110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지적을 받았다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067958" y="374904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강사·멘토가 같은 말을 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86139" y="2944368"/>
            <a:ext cx="237744" cy="237744"/>
          </a:xfrm>
          <a:prstGeom prst="ellipse">
            <a:avLst/>
          </a:prstGeom>
          <a:solidFill>
            <a:srgbClr val="B8442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82051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44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09.02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90611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재탐색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017459" y="374904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시장부터 들어갈지 다시 본다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547811" y="1984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44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867644" y="2976372"/>
            <a:ext cx="173736" cy="173736"/>
          </a:xfrm>
          <a:prstGeom prst="ellipse">
            <a:avLst/>
          </a:prstGeom>
          <a:solidFill>
            <a:srgbClr val="9AA3B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31552" y="23500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AA3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09.15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40112" y="33558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중간발표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966960" y="3749040"/>
            <a:ext cx="1975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세그먼트를 정한다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5074920"/>
            <a:ext cx="10789920" cy="1051560"/>
          </a:xfrm>
          <a:prstGeom prst="roundRect">
            <a:avLst>
              <a:gd name="adj" fmla="val 8696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5156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세 구간은 만드는 일이었고, 뒤의 두 구간은 어디에 팔 것인지를 다시 정하는 일이다. 오늘은 그 경계에 서 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669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08.05–07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주제는 받았다. 고를 수 있는 건 도메인 하나였다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7589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5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8월 5일 팀이 만들어지고, 7일에 주제를 배정받았다</a:t>
            </a:r>
            <a:endParaRPr lang="en-US" sz="1500" dirty="0"/>
          </a:p>
          <a:p>
            <a:pPr marL="342900" indent="-342900">
              <a:lnSpc>
                <a:spcPts val="25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"다중 에이전트 서빙 기반 고객 피드백 분석 및 맞춤형 응대 자동화"</a:t>
            </a:r>
            <a:endParaRPr lang="en-US" sz="1500" dirty="0"/>
          </a:p>
          <a:p>
            <a:pPr marL="342900" indent="-342900">
              <a:lnSpc>
                <a:spcPts val="25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구조는 요구사항에 이미 정해져 있었다</a:t>
            </a:r>
            <a:endParaRPr lang="en-US" sz="1500" dirty="0"/>
          </a:p>
          <a:p>
            <a:pPr marL="342900" indent="-342900">
              <a:lnSpc>
                <a:spcPts val="25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우리가 정할 수 있는 건 하나였다 — 어느 도메인의 고객 문의를 다룰 것인가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915400" y="219456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EDF2FD"/>
          </a:solidFill>
          <a:ln w="12700">
            <a:solidFill>
              <a:srgbClr val="C6D6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0" y="23774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3154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정할 수 있었던 것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(어느 도메인이냐)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0D7A4D"/>
          </a:solidFill>
          <a:ln w="12700">
            <a:solidFill>
              <a:srgbClr val="0D7A4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669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08.12–15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</a:t>
            </a:r>
            <a:r>
              <a:rPr lang="ko-KR" altLang="en-US" sz="2900" b="1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</a:t>
            </a:r>
            <a:r>
              <a:rPr lang="en-US" sz="2900" b="1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주를 </a:t>
            </a:r>
            <a:r>
              <a:rPr lang="en-US" sz="29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 찾는 데 썼다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4825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명이 각자 후보를 만들어 올렸다. 이전 기수 141개 저장소와 대조해 겹치는 건 걸렀다.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최연우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26060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기수 141개 저장소 대조 · 구현계획서 초안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912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서유현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319125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3층 에스컬레이션 · 역할 인식 멀티페르소나 · 강의 플랫폼 CS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77647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최상욱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7764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이커머스 마켓플레이스 구성 + 서비스 스토리보드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3616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송채영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43616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 세부 기능과 데이터 수집 계획 · 응답/검토 에이전트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46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김지혜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011680" y="494690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문의에서 기획전·상품 제안을 뽑는 확장안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532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정세환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55321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스마트스토어 주문·반품·교환·리뷰 데이터 확보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669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08.16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이커머스로 좁히고, 파는 물건을 이렇게 정했다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EDF2FD"/>
          </a:solidFill>
          <a:ln w="12700">
            <a:solidFill>
              <a:srgbClr val="C6D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자사 고객 응대를 스스로 판단하는 AI 로 운영하도록 구축하고 판매하는 B2B 플랫폼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614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고객사의 소비자는 자기 AI 로 제한된 범위의 문의와 조회를 쓴다. 상품·주문·배송·반품 전체 운영 자동화는 다음 단계로 둔다.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813048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9848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40325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하나를 접수부터 종료까지 추적하는 업무 단위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3813048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6248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Team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56248" y="40325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업무별 전문 에이전트 묶음. 판단만 하고 실행은 안 한다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4864608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대조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69848" y="50840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제안한 금액·주문번호를 DB 와 맞춰 보고 안 맞으면 막는다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4864608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56248" y="4754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경계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50840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돈이 나가는 일은 사람이 승인한다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구조는 이렇게 세웠다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바깥에서 들어온 요청은 코어 1 로 모이고, 쓰기는 반드시 코어 2 의 승인·감사를 지난다.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2011680"/>
            <a:ext cx="5760720" cy="502920"/>
          </a:xfrm>
          <a:prstGeom prst="roundRect">
            <a:avLst>
              <a:gd name="adj" fmla="val 12727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0" y="2011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 접근    REST · MCP · 운영 화면 · 개인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2743200"/>
            <a:ext cx="7406640" cy="868680"/>
          </a:xfrm>
          <a:prstGeom prst="roundRect">
            <a:avLst>
              <a:gd name="adj" fmla="val 7368"/>
            </a:avLst>
          </a:prstGeom>
          <a:solidFill>
            <a:srgbClr val="EDF2FD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77440" y="27432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코어 1  ·  Case 런타임과 조정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Controller · Case · Shared State · Registry · 대기/재개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4114800" cy="777240"/>
          </a:xfrm>
          <a:prstGeom prst="roundRect">
            <a:avLst>
              <a:gd name="adj" fmla="val 8235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31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 Broker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모아 예산 안으로 자른다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23760" y="3931920"/>
            <a:ext cx="4114800" cy="777240"/>
          </a:xfrm>
          <a:prstGeom prst="roundRect">
            <a:avLst>
              <a:gd name="adj" fmla="val 8235"/>
            </a:avLst>
          </a:prstGeom>
          <a:solidFill>
            <a:srgbClr val="EAF3EE"/>
          </a:solidFill>
          <a:ln w="12700">
            <a:solidFill>
              <a:srgbClr val="0D7A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0" y="3931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Team</a:t>
            </a:r>
            <a:endParaRPr lang="en-US" sz="11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15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주문·물류·반품·VOC·응답검토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77440" y="5074920"/>
            <a:ext cx="7406640" cy="731520"/>
          </a:xfrm>
          <a:prstGeom prst="roundRect">
            <a:avLst>
              <a:gd name="adj" fmla="val 8750"/>
            </a:avLst>
          </a:prstGeom>
          <a:solidFill>
            <a:srgbClr val="F7EDEB"/>
          </a:solidFill>
          <a:ln w="12700">
            <a:solidFill>
              <a:srgbClr val="B844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77440" y="50749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코어 2  ·  접근과 실행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Gateway · 도구 실행 · 승인 · 중복 방지 · 감사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80760" y="2514600"/>
            <a:ext cx="0" cy="228600"/>
          </a:xfrm>
          <a:prstGeom prst="line">
            <a:avLst/>
          </a:prstGeom>
          <a:noFill/>
          <a:ln w="15875">
            <a:solidFill>
              <a:srgbClr val="9AA3B4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0480" y="3611880"/>
            <a:ext cx="0" cy="320040"/>
          </a:xfrm>
          <a:prstGeom prst="line">
            <a:avLst/>
          </a:prstGeom>
          <a:noFill/>
          <a:ln w="15875">
            <a:solidFill>
              <a:srgbClr val="9AA3B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595360" y="3611880"/>
            <a:ext cx="0" cy="320040"/>
          </a:xfrm>
          <a:prstGeom prst="line">
            <a:avLst/>
          </a:prstGeom>
          <a:noFill/>
          <a:ln w="15875">
            <a:solidFill>
              <a:srgbClr val="9AA3B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95360" y="4709160"/>
            <a:ext cx="0" cy="365760"/>
          </a:xfrm>
          <a:prstGeom prst="line">
            <a:avLst/>
          </a:prstGeom>
          <a:noFill/>
          <a:ln w="15875">
            <a:solidFill>
              <a:srgbClr val="9AA3B4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732520" y="4709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제안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Team 은 제안만 낸다. 실제로 돈이 움직이는 일은 코어 2 에서 승인을 거쳐야 실행된다.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만들어 둔 것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뼈대는 돌아간다. 성능을 말할 단계는 아니고, 무엇이 서 있는지를 적는다.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276856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9848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런타임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4780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전이 21가지. 상태를 바꾸는 문은 하나뿐이다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2276856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6248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스키마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24780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18개 표. 다시 실행해도 안전한 마이그레이션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209544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3081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· MCP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" y="34107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엔드포인트 5개 + 외부 AI 도구 3개. 전부 읽기 전용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209544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56248" y="30815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 Broker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556248" y="34107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12,000 토큰 예산으로 근거를 자르고, 자른 걸 기록한다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142232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40142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지식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69848" y="4343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문서 25개 · 조각 306개 적재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4142232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56248" y="40142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대조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43434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제안한 금액·주문번호를 DB 와 맞춰 보고 안 맞으면 막는다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5074920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69848" y="4946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도구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69848" y="5276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정답셋 72건을 반복 실행하고 결과를 파일로 남긴다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72200" y="5074920"/>
            <a:ext cx="256032" cy="256032"/>
          </a:xfrm>
          <a:prstGeom prst="ellipse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56248" y="4946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자료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56248" y="52760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한 건이 전 구조를 지나는 길을 그림 17장으로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모으고 있는 데이터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자료와 팀원 실계정 기록을 함께 쓴다. 개인정보는 가리고 넣는다.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789920" cy="822960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2951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322건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22585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반품·환불 분쟁 사례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2951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소비자24 에서 1,704건 받아 걸러 동결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108960"/>
            <a:ext cx="10789920" cy="822960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2552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7A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173건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2186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판매자 소명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32552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아홉 가지 유형으로 나눠 판독 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10789920" cy="822960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2153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5,773행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41788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주문·배송 기록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42153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실계정을 쇼핑몰별 네 파일로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029200"/>
            <a:ext cx="10789920" cy="822960"/>
          </a:xfrm>
          <a:prstGeom prst="roundRect">
            <a:avLst>
              <a:gd name="adj" fmla="val 11111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1755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872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28개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5138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법령·고시 조항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5175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전자상거래법·시행령·분쟁해결기준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밖에 AI Hub 홈쇼핑 상담 데이터와 공정거래위원회 소비자 민원 데이터를 함께 쓰고 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해봤지만 접은 것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 보고 안 되는 걸 확인했다. 되살리지 않고 왜 안 됐는지를 기록으로 뒀다.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BF3E3"/>
          </a:solidFill>
          <a:ln w="12700">
            <a:solidFill>
              <a:srgbClr val="E8D9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872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모델을 따로 학습시키는 것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— 오픈소스 소형 모델(30억 개 규모)을 우리 응대 데이터로 추가 학습시켰다. 상용 API 대신 쓰려는 목적이었다.</a:t>
            </a:r>
            <a:endParaRPr lang="en-US" sz="1150" dirty="0"/>
          </a:p>
          <a:p>
            <a:pPr marL="0" indent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안 됐나 — 처음 학습 데이터는 "문의 → 답변" 짝뿐이라, 근거 자료를 읽고 인용하는 법을 가르치지 못했다. 근거를 넣어 다시 학습했더니 이번엔 근거를 그대로 베껴 쓰는 요령만 익혔다. 학습 예시가 전부 근거와 답이 잘 맞는 경우뿐이었기 때문이다.</a:t>
            </a:r>
            <a:endParaRPr lang="en-US" sz="1150" dirty="0"/>
          </a:p>
          <a:p>
            <a:pPr marL="0" indent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— 우리에게 필요한 건 근거가 없으면 답을 멈추는 것인데, 베끼기는 그게 아니다. 상용 API 를 계속 쓰기로 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1031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BF3E3"/>
          </a:solidFill>
          <a:ln w="12700">
            <a:solidFill>
              <a:srgbClr val="E8D9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331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A872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문서를 계속 키우는 방식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78892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— 설계를 문서 하나에 계속 쌓았다. 계획서가 4판에서 8판까지 가면서 90KB 를 넘었고 브리핑은 110KB 가 됐다.</a:t>
            </a:r>
            <a:endParaRPr lang="en-US" sz="1150" dirty="0"/>
          </a:p>
          <a:p>
            <a:pPr marL="0" indent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안 됐나 — 팀원이 원본을 못 읽는 상태가 됐다. 쉬운 설명 버전을 따로 만들어야 했고, 그것도 190KB 가 됐다. 같은 내용이 여러 문서에 흩어져 서로 어긋나기 시작했다.</a:t>
            </a:r>
            <a:endParaRPr lang="en-US" sz="1150" dirty="0"/>
          </a:p>
          <a:p>
            <a:pPr marL="0" indent="0">
              <a:lnSpc>
                <a:spcPts val="1800"/>
              </a:lnSpc>
              <a:spcAft>
                <a:spcPts val="700"/>
              </a:spcAft>
              <a:buNone/>
            </a:pPr>
            <a:r>
              <a:rPr lang="en-US" sz="11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— 지금 문서 전체를 다시 나누는 중이다. 한 주제를 한 곳에만 두고, 나머지는 그곳을 가리키게 바꾸고 있다.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720C"/>
          </a:solidFill>
          <a:ln w="12700">
            <a:solidFill>
              <a:srgbClr val="A872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A872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같은 지적을 두 번 받았다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0789920" cy="1508760"/>
          </a:xfrm>
          <a:prstGeom prst="roundRect">
            <a:avLst>
              <a:gd name="adj" fmla="val 6061"/>
            </a:avLst>
          </a:prstGeom>
          <a:solidFill>
            <a:srgbClr val="FBF3E3"/>
          </a:solidFill>
          <a:ln w="12700">
            <a:solidFill>
              <a:srgbClr val="E8D9B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72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강사 · 08.28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97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"표준과 기술을 많이 사용하는 것이 프로젝트 목표가 되어서는 안 된다.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핵심은 문의 한 건이 접수부터 종료까지 실제로 도는 것이다."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10789920" cy="1508760"/>
          </a:xfrm>
          <a:prstGeom prst="roundRect">
            <a:avLst>
              <a:gd name="adj" fmla="val 6061"/>
            </a:avLst>
          </a:prstGeom>
          <a:solidFill>
            <a:srgbClr val="FBF3E3"/>
          </a:solidFill>
          <a:ln w="12700">
            <a:solidFill>
              <a:srgbClr val="E8D9B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087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72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멘토 · 09.01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4434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"기술 구현보다 프로젝트 가치 증명이 핵심이다.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실사용자인가 모의 사용자인가?"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만드는 건 되는데, 누구에게 왜 값이 있는지를 못 대고 있었다.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8442F"/>
          </a:solidFill>
          <a:ln w="12700">
            <a:solidFill>
              <a:srgbClr val="B844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868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B844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팔려던 자리에 이미 큰 업체가 들어와 있었다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금융 이상거래 탐지 이후 대응을 자동화하는 방향을 검토하다가, 경쟁 검증에서 접었다.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33172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4597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4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ServiceNow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247802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탐지 시스템 경보를 받아 사건을 만들고 조사·승인·종결까지 관리한다. 한국 파트너 조직도 운영 중이라 국내에서도 실제 대체재다.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7472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6027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4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Fraud.com · NICE Actimize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62102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시스템 위에 사건 관리와 조사 자동화를 얹는 제품이 이미 있다. 카테고리 자체가 새롭지 않다.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4617720"/>
            <a:ext cx="10789920" cy="960120"/>
          </a:xfrm>
          <a:prstGeom prst="roundRect">
            <a:avLst>
              <a:gd name="adj" fmla="val 9524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7457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4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4764024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탐지, 추가 인증, AI 상담, 무인 심사, 조사관 화면이 각각 이미 확인된다.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852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플랫폼으로 판다는 기획 자체가 이미 점유된 자리였다. 그래서 대안을 찾는 중이다.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669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A8720C"/>
          </a:solidFill>
          <a:ln w="12700">
            <a:solidFill>
              <a:srgbClr val="A872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56692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09.02–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시장을 다시 좁히는 중이다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48256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응대 시장을 넓게 훑고 후보에 점수를 매겨 줄이고 있다. 아직 정하지 않았다.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606040"/>
            <a:ext cx="10789920" cy="749808"/>
          </a:xfrm>
          <a:prstGeom prst="roundRect">
            <a:avLst>
              <a:gd name="adj" fmla="val 12195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구매대행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2715768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직전 후보. 통관·지연·환불 규정이 복잡해 판정할 거리가 많다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3502152"/>
            <a:ext cx="10789920" cy="749808"/>
          </a:xfrm>
          <a:prstGeom prst="roundRect">
            <a:avLst>
              <a:gd name="adj" fmla="val 12195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05840" y="35935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여행·숙박 중소사업자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36118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심층 조사 중. 취소·환불 규정이 법으로 정해져 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398264"/>
            <a:ext cx="10789920" cy="749808"/>
          </a:xfrm>
          <a:prstGeom prst="roundRect">
            <a:avLst>
              <a:gd name="adj" fmla="val 12195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4897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 dirty="0" err="1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엑티비티</a:t>
            </a:r>
            <a:r>
              <a:rPr lang="ko-KR" alt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</a:t>
            </a:r>
            <a:r>
              <a:rPr lang="ko-KR" alt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4507992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 err="1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골프과</a:t>
            </a:r>
            <a:r>
              <a:rPr lang="ko-KR" alt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같은 </a:t>
            </a:r>
            <a:r>
              <a:rPr lang="ko-KR" altLang="en-US" sz="1250" dirty="0" err="1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엑티비티에서</a:t>
            </a:r>
            <a:r>
              <a:rPr lang="ko-KR" alt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부족한 </a:t>
            </a:r>
            <a:r>
              <a:rPr lang="en-US" altLang="ko-KR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</a:t>
            </a:r>
            <a:r>
              <a:rPr lang="ko-KR" alt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제공에 대한 </a:t>
            </a:r>
            <a:r>
              <a:rPr lang="en-US" altLang="ko-KR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 </a:t>
            </a:r>
            <a:r>
              <a:rPr lang="ko-KR" alt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구축 </a:t>
            </a:r>
            <a:r>
              <a:rPr lang="en-US" altLang="ko-KR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우천취소 등</a:t>
            </a:r>
            <a:r>
              <a:rPr lang="en-US" altLang="ko-KR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5294376"/>
            <a:ext cx="10789920" cy="749808"/>
          </a:xfrm>
          <a:prstGeom prst="roundRect">
            <a:avLst>
              <a:gd name="adj" fmla="val 12195"/>
            </a:avLst>
          </a:prstGeom>
          <a:solidFill>
            <a:srgbClr val="F4F6FA"/>
          </a:solidFill>
          <a:ln w="12700">
            <a:solidFill>
              <a:srgbClr val="DB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385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소상공인 일반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540410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AI 바우처 지원이 있다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3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중간발표 09.15 까지 세그먼트를 확정하고, 그에 맞는 실사용자 데이터를 확보하는 것이 다음 일이다.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5BD8"/>
          </a:solidFill>
          <a:ln w="12700">
            <a:solidFill>
              <a:srgbClr val="2F5BD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F5B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 동안 여기까지 왔다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32918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60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도메인을 찾고, 구조를 세우고, 데이터를 모으고, 뼈대를 만들었다.</a:t>
            </a:r>
            <a:endParaRPr lang="en-US" sz="16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600" dirty="0">
                <a:solidFill>
                  <a:srgbClr val="161C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지적을 받고 경쟁을 확인한 뒤, 어느 시장부터 들어갈지를 다시 보고 있다. 그게 지금 하는 일이다.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1289</Words>
  <Application>Microsoft Office PowerPoint</Application>
  <PresentationFormat>와이드스크린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A-COP 진행 경과</dc:title>
  <dc:subject>PptxGenJS Presentation</dc:subject>
  <dc:creator>SKN32 Final 6팀</dc:creator>
  <cp:lastModifiedBy>playdata2</cp:lastModifiedBy>
  <cp:revision>3</cp:revision>
  <dcterms:created xsi:type="dcterms:W3CDTF">2026-09-04T00:09:08Z</dcterms:created>
  <dcterms:modified xsi:type="dcterms:W3CDTF">2026-09-04T00:20:20Z</dcterms:modified>
</cp:coreProperties>
</file>