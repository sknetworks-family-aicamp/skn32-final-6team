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8" r:id="rId20"/>
    <p:sldId id="269" r:id="rId21"/>
    <p:sldId id="261" r:id="rId12"/>
    <p:sldId id="270" r:id="rId22"/>
    <p:sldId id="262" r:id="rId13"/>
    <p:sldId id="263" r:id="rId14"/>
    <p:sldId id="264" r:id="rId15"/>
    <p:sldId id="271" r:id="rId23"/>
    <p:sldId id="272" r:id="rId24"/>
    <p:sldId id="273" r:id="rId25"/>
    <p:sldId id="265" r:id="rId16"/>
    <p:sldId id="274" r:id="rId26"/>
    <p:sldId id="266" r:id="rId17"/>
    <p:sldId id="267" r:id="rId1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jfs7eAajgBJceg2no6+hz/phH7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CE567F-DF25-4B98-AB8C-8CCFA220AA65}">
  <a:tblStyle styleId="{37CE567F-DF25-4B98-AB8C-8CCFA220AA6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customschemas.google.com/relationships/presentationmetadata" Target="metadata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7" name="Google Shape;4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3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23.png"/><Relationship Id="rId10" Type="http://schemas.openxmlformats.org/officeDocument/2006/relationships/image" Target="../media/image15.png"/><Relationship Id="rId11" Type="http://schemas.openxmlformats.org/officeDocument/2006/relationships/image" Target="../media/image9.png"/><Relationship Id="rId1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32.png"/><Relationship Id="rId9" Type="http://schemas.openxmlformats.org/officeDocument/2006/relationships/image" Target="../media/image14.png"/><Relationship Id="rId10" Type="http://schemas.openxmlformats.org/officeDocument/2006/relationships/image" Target="../media/image21.png"/><Relationship Id="rId11" Type="http://schemas.openxmlformats.org/officeDocument/2006/relationships/image" Target="../media/image12.png"/><Relationship Id="rId12" Type="http://schemas.openxmlformats.org/officeDocument/2006/relationships/image" Target="../media/image22.png"/><Relationship Id="rId13" Type="http://schemas.openxmlformats.org/officeDocument/2006/relationships/image" Target="../media/image33.png"/><Relationship Id="rId14" Type="http://schemas.openxmlformats.org/officeDocument/2006/relationships/image" Target="../media/image5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36.png"/><Relationship Id="rId9" Type="http://schemas.openxmlformats.org/officeDocument/2006/relationships/image" Target="../media/image29.png"/><Relationship Id="rId10" Type="http://schemas.openxmlformats.org/officeDocument/2006/relationships/image" Target="../media/image40.png"/><Relationship Id="rId11" Type="http://schemas.openxmlformats.org/officeDocument/2006/relationships/image" Target="../media/image33.png"/><Relationship Id="rId12" Type="http://schemas.openxmlformats.org/officeDocument/2006/relationships/image" Target="../media/image5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37.png"/><Relationship Id="rId8" Type="http://schemas.openxmlformats.org/officeDocument/2006/relationships/image" Target="../media/image41.png"/><Relationship Id="rId9" Type="http://schemas.openxmlformats.org/officeDocument/2006/relationships/image" Target="../media/image33.png"/><Relationship Id="rId10" Type="http://schemas.openxmlformats.org/officeDocument/2006/relationships/image" Target="../media/image5.png"/><Relationship Id="rId11" Type="http://schemas.openxmlformats.org/officeDocument/2006/relationships/image" Target="../media/image2.png"/><Relationship Id="rId12" Type="http://schemas.openxmlformats.org/officeDocument/2006/relationships/image" Target="../media/image3.png"/><Relationship Id="rId13" Type="http://schemas.openxmlformats.org/officeDocument/2006/relationships/image" Target="../media/image28.png"/><Relationship Id="rId14" Type="http://schemas.openxmlformats.org/officeDocument/2006/relationships/image" Target="../media/image50.png"/><Relationship Id="rId15" Type="http://schemas.openxmlformats.org/officeDocument/2006/relationships/image" Target="../media/image42.png"/><Relationship Id="rId16" Type="http://schemas.openxmlformats.org/officeDocument/2006/relationships/image" Target="../media/image46.png"/><Relationship Id="rId17" Type="http://schemas.openxmlformats.org/officeDocument/2006/relationships/image" Target="../media/image45.png"/><Relationship Id="rId18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28.png"/><Relationship Id="rId10" Type="http://schemas.openxmlformats.org/officeDocument/2006/relationships/image" Target="../media/image1.png"/><Relationship Id="rId11" Type="http://schemas.openxmlformats.org/officeDocument/2006/relationships/image" Target="../media/image51.png"/><Relationship Id="rId12" Type="http://schemas.openxmlformats.org/officeDocument/2006/relationships/image" Target="../media/image47.png"/><Relationship Id="rId13" Type="http://schemas.openxmlformats.org/officeDocument/2006/relationships/image" Target="../media/image55.png"/><Relationship Id="rId14" Type="http://schemas.openxmlformats.org/officeDocument/2006/relationships/image" Target="../media/image49.png"/><Relationship Id="rId15" Type="http://schemas.openxmlformats.org/officeDocument/2006/relationships/image" Target="../media/image56.png"/><Relationship Id="rId16" Type="http://schemas.openxmlformats.org/officeDocument/2006/relationships/image" Target="../media/image5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28.png"/><Relationship Id="rId10" Type="http://schemas.openxmlformats.org/officeDocument/2006/relationships/image" Target="../media/image1.png"/><Relationship Id="rId11" Type="http://schemas.openxmlformats.org/officeDocument/2006/relationships/image" Target="../media/image53.png"/><Relationship Id="rId12" Type="http://schemas.openxmlformats.org/officeDocument/2006/relationships/image" Target="../media/image65.png"/><Relationship Id="rId13" Type="http://schemas.openxmlformats.org/officeDocument/2006/relationships/image" Target="../media/image57.png"/><Relationship Id="rId14" Type="http://schemas.openxmlformats.org/officeDocument/2006/relationships/image" Target="../media/image74.png"/><Relationship Id="rId15" Type="http://schemas.openxmlformats.org/officeDocument/2006/relationships/image" Target="../media/image73.png"/><Relationship Id="rId16" Type="http://schemas.openxmlformats.org/officeDocument/2006/relationships/image" Target="../media/image5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1.png"/><Relationship Id="rId10" Type="http://schemas.openxmlformats.org/officeDocument/2006/relationships/image" Target="../media/image28.png"/><Relationship Id="rId11" Type="http://schemas.openxmlformats.org/officeDocument/2006/relationships/image" Target="../media/image71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0.png"/><Relationship Id="rId15" Type="http://schemas.openxmlformats.org/officeDocument/2006/relationships/image" Target="../media/image6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1.png"/><Relationship Id="rId10" Type="http://schemas.openxmlformats.org/officeDocument/2006/relationships/image" Target="../media/image28.png"/><Relationship Id="rId11" Type="http://schemas.openxmlformats.org/officeDocument/2006/relationships/image" Target="../media/image64.png"/><Relationship Id="rId12" Type="http://schemas.openxmlformats.org/officeDocument/2006/relationships/image" Target="../media/image67.png"/><Relationship Id="rId13" Type="http://schemas.openxmlformats.org/officeDocument/2006/relationships/image" Target="../media/image6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23.png"/><Relationship Id="rId9" Type="http://schemas.openxmlformats.org/officeDocument/2006/relationships/image" Target="../media/image69.png"/><Relationship Id="rId10" Type="http://schemas.openxmlformats.org/officeDocument/2006/relationships/image" Target="../media/image15.png"/><Relationship Id="rId11" Type="http://schemas.openxmlformats.org/officeDocument/2006/relationships/image" Target="../media/image9.png"/><Relationship Id="rId1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28.png"/><Relationship Id="rId10" Type="http://schemas.openxmlformats.org/officeDocument/2006/relationships/image" Target="../media/image56.png"/><Relationship Id="rId11" Type="http://schemas.openxmlformats.org/officeDocument/2006/relationships/image" Target="../media/image49.png"/><Relationship Id="rId12" Type="http://schemas.openxmlformats.org/officeDocument/2006/relationships/image" Target="../media/image52.png"/><Relationship Id="rId13" Type="http://schemas.openxmlformats.org/officeDocument/2006/relationships/image" Target="../media/image33.png"/><Relationship Id="rId14" Type="http://schemas.openxmlformats.org/officeDocument/2006/relationships/image" Target="../media/image5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28.png"/><Relationship Id="rId10" Type="http://schemas.openxmlformats.org/officeDocument/2006/relationships/image" Target="../media/image56.png"/><Relationship Id="rId11" Type="http://schemas.openxmlformats.org/officeDocument/2006/relationships/image" Target="../media/image49.png"/><Relationship Id="rId12" Type="http://schemas.openxmlformats.org/officeDocument/2006/relationships/image" Target="../media/image52.png"/><Relationship Id="rId13" Type="http://schemas.openxmlformats.org/officeDocument/2006/relationships/image" Target="../media/image33.png"/><Relationship Id="rId14" Type="http://schemas.openxmlformats.org/officeDocument/2006/relationships/image" Target="../media/image5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Relationship Id="rId17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28.png"/><Relationship Id="rId10" Type="http://schemas.openxmlformats.org/officeDocument/2006/relationships/image" Target="../media/image56.png"/><Relationship Id="rId11" Type="http://schemas.openxmlformats.org/officeDocument/2006/relationships/image" Target="../media/image49.png"/><Relationship Id="rId12" Type="http://schemas.openxmlformats.org/officeDocument/2006/relationships/image" Target="../media/image52.png"/><Relationship Id="rId13" Type="http://schemas.openxmlformats.org/officeDocument/2006/relationships/image" Target="../media/image33.png"/><Relationship Id="rId14" Type="http://schemas.openxmlformats.org/officeDocument/2006/relationships/image" Target="../media/image5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Relationship Id="rId17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28.png"/><Relationship Id="rId10" Type="http://schemas.openxmlformats.org/officeDocument/2006/relationships/image" Target="../media/image56.png"/><Relationship Id="rId11" Type="http://schemas.openxmlformats.org/officeDocument/2006/relationships/image" Target="../media/image49.png"/><Relationship Id="rId12" Type="http://schemas.openxmlformats.org/officeDocument/2006/relationships/image" Target="../media/image52.png"/><Relationship Id="rId13" Type="http://schemas.openxmlformats.org/officeDocument/2006/relationships/image" Target="../media/image33.png"/><Relationship Id="rId14" Type="http://schemas.openxmlformats.org/officeDocument/2006/relationships/image" Target="../media/image5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28.png"/><Relationship Id="rId10" Type="http://schemas.openxmlformats.org/officeDocument/2006/relationships/image" Target="../media/image56.png"/><Relationship Id="rId11" Type="http://schemas.openxmlformats.org/officeDocument/2006/relationships/image" Target="../media/image49.png"/><Relationship Id="rId12" Type="http://schemas.openxmlformats.org/officeDocument/2006/relationships/image" Target="../media/image52.png"/><Relationship Id="rId13" Type="http://schemas.openxmlformats.org/officeDocument/2006/relationships/image" Target="../media/image33.png"/><Relationship Id="rId14" Type="http://schemas.openxmlformats.org/officeDocument/2006/relationships/image" Target="../media/image5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Relationship Id="rId17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28.png"/><Relationship Id="rId10" Type="http://schemas.openxmlformats.org/officeDocument/2006/relationships/image" Target="../media/image56.png"/><Relationship Id="rId11" Type="http://schemas.openxmlformats.org/officeDocument/2006/relationships/image" Target="../media/image49.png"/><Relationship Id="rId12" Type="http://schemas.openxmlformats.org/officeDocument/2006/relationships/image" Target="../media/image52.png"/><Relationship Id="rId13" Type="http://schemas.openxmlformats.org/officeDocument/2006/relationships/image" Target="../media/image33.png"/><Relationship Id="rId14" Type="http://schemas.openxmlformats.org/officeDocument/2006/relationships/image" Target="../media/image5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28.png"/><Relationship Id="rId10" Type="http://schemas.openxmlformats.org/officeDocument/2006/relationships/image" Target="../media/image56.png"/><Relationship Id="rId11" Type="http://schemas.openxmlformats.org/officeDocument/2006/relationships/image" Target="../media/image49.png"/><Relationship Id="rId12" Type="http://schemas.openxmlformats.org/officeDocument/2006/relationships/image" Target="../media/image52.png"/><Relationship Id="rId13" Type="http://schemas.openxmlformats.org/officeDocument/2006/relationships/image" Target="../media/image33.png"/><Relationship Id="rId14" Type="http://schemas.openxmlformats.org/officeDocument/2006/relationships/image" Target="../media/image5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889000"/>
            <a:ext cx="16497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45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590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162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734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70376" y="4394200"/>
            <a:ext cx="1193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3776" y="47371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6376" y="47371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56515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63881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71247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11">
            <a:alphaModFix amt="15000"/>
          </a:blip>
          <a:srcRect b="0" l="0" r="0" t="0"/>
          <a:stretch/>
        </p:blipFill>
        <p:spPr>
          <a:xfrm rot="-3180000">
            <a:off x="13017500" y="8432800"/>
            <a:ext cx="24765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77763" y="2895600"/>
            <a:ext cx="29718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77763" y="3479800"/>
            <a:ext cx="29718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1971876" y="25400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en-US" sz="7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고객 응대를</a:t>
            </a:r>
            <a:endParaRPr b="0" i="0" sz="8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5819976" y="4076700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en-US" sz="7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끝내는 멀티</a:t>
            </a:r>
            <a:endParaRPr b="0" i="0" sz="8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3966655" y="5626100"/>
            <a:ext cx="6172200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en-US" sz="7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에이전트 플랫폼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11657721" y="2311400"/>
            <a:ext cx="622300" cy="19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0" i="0" lang="en-US" sz="110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0253085" y="5473700"/>
            <a:ext cx="1308100" cy="2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00"/>
              <a:buFont typeface="Arial"/>
              <a:buNone/>
            </a:pPr>
            <a:r>
              <a:rPr b="0" i="0" lang="en-US" sz="157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2581476" y="5626100"/>
            <a:ext cx="1993900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en-US" sz="86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[     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3683000" y="1181100"/>
            <a:ext cx="87782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대주제명: 다중 에이전트 서빙 기반 고객 피드백 분석 및 맞춤형 응대 자동화 시스템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3639800" y="1181100"/>
            <a:ext cx="32004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1582400" y="7937500"/>
            <a:ext cx="58420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6Team A-COPilot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presenter : 송채영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팀원 : 김지혜 · 서유현 · 정세환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최상욱 · 최연우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b="0" i="0" lang="en-US" sz="269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b="0" i="0" lang="en-US" sz="299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447800" y="1079500"/>
            <a:ext cx="35433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0700" y="2603500"/>
            <a:ext cx="61087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90000" y="2603500"/>
            <a:ext cx="85344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90000" y="7531100"/>
            <a:ext cx="85344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90000" y="5067300"/>
            <a:ext cx="85344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99400" y="3530600"/>
            <a:ext cx="1041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99400" y="5994400"/>
            <a:ext cx="1041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99400" y="8445500"/>
            <a:ext cx="1041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971800" y="3530600"/>
            <a:ext cx="13462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"/>
          <p:cNvSpPr txBox="1"/>
          <p:nvPr/>
        </p:nvSpPr>
        <p:spPr>
          <a:xfrm>
            <a:off x="3975100" y="2844800"/>
            <a:ext cx="34671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2108200" y="2933700"/>
            <a:ext cx="12954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90700" y="5067300"/>
            <a:ext cx="61087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2971800" y="5994400"/>
            <a:ext cx="13462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"/>
          <p:cNvSpPr txBox="1"/>
          <p:nvPr/>
        </p:nvSpPr>
        <p:spPr>
          <a:xfrm>
            <a:off x="3975100" y="5308600"/>
            <a:ext cx="34671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진행 현황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2108200" y="5397500"/>
            <a:ext cx="12954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0700" y="7531100"/>
            <a:ext cx="610870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971800" y="8458200"/>
            <a:ext cx="1346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"/>
          <p:cNvSpPr txBox="1"/>
          <p:nvPr/>
        </p:nvSpPr>
        <p:spPr>
          <a:xfrm>
            <a:off x="3975100" y="7772400"/>
            <a:ext cx="3467100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예상 결과 목표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2108200" y="7861300"/>
            <a:ext cx="12954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9398000" y="3035300"/>
            <a:ext cx="552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프로젝트 주제 소개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기획 소개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9398000" y="5499100"/>
            <a:ext cx="552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 WBS기반 진행 현황 전반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 이슈사항, 트러블 슈팅 등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9398000" y="7962900"/>
            <a:ext cx="5346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 결과 목표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⑥ 기타</a:t>
            </a:r>
            <a:endParaRPr b="0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889000"/>
            <a:ext cx="16497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90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2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34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56515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63881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71247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"/>
          <p:cNvPicPr preferRelativeResize="0"/>
          <p:nvPr/>
        </p:nvPicPr>
        <p:blipFill rotWithShape="1">
          <a:blip r:embed="rId9">
            <a:alphaModFix amt="15000"/>
          </a:blip>
          <a:srcRect b="0" l="0" r="0" t="0"/>
          <a:stretch/>
        </p:blipFill>
        <p:spPr>
          <a:xfrm rot="-3180000">
            <a:off x="13017500" y="8432800"/>
            <a:ext cx="2476500" cy="20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"/>
          <p:cNvSpPr txBox="1"/>
          <p:nvPr/>
        </p:nvSpPr>
        <p:spPr>
          <a:xfrm>
            <a:off x="5538888" y="4758785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 b="0" i="0" sz="8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3683000" y="1181100"/>
            <a:ext cx="87782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대주제명: 다중 에이전트 서빙 기반 고객 피드백 분석 및 맞춤형 응대 자동화 시스템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13639800" y="1181100"/>
            <a:ext cx="32004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b="0" i="0" lang="en-US" sz="269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b="0" i="0" lang="en-US" sz="299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5473700" y="3695700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PART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07208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90700" y="2603500"/>
            <a:ext cx="55499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1800" y="2603500"/>
            <a:ext cx="810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1800" y="4368800"/>
            <a:ext cx="810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1800" y="6134100"/>
            <a:ext cx="810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1800" y="7912100"/>
            <a:ext cx="8102600" cy="15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88300" y="5600700"/>
            <a:ext cx="6731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90700" y="6134100"/>
            <a:ext cx="55499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2120900" y="3924300"/>
            <a:ext cx="4889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2120900" y="7454900"/>
            <a:ext cx="4889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4521200" y="1079500"/>
            <a:ext cx="34798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9563100" y="3022600"/>
            <a:ext cx="76073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고객 문의를 상태를 가진 Case 로 관리한다</a:t>
            </a:r>
            <a:endParaRPr b="0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 txBox="1"/>
          <p:nvPr/>
        </p:nvSpPr>
        <p:spPr>
          <a:xfrm>
            <a:off x="9550400" y="4787900"/>
            <a:ext cx="76454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은 제안만 반환하고 실행은 승인 경로에서 한다</a:t>
            </a:r>
            <a:endParaRPr b="0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9537700" y="6553200"/>
            <a:ext cx="76708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을 추가해도 Core 코드는 바뀌지 않는다</a:t>
            </a:r>
            <a:endParaRPr b="0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9461500" y="8331200"/>
            <a:ext cx="78105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판단과 근거를 함께 기록해 재생하고 감사한다</a:t>
            </a:r>
            <a:endParaRPr b="0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1955800" y="3048000"/>
            <a:ext cx="5143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3378200" y="4305300"/>
            <a:ext cx="237490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A-COP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1955800" y="6565900"/>
            <a:ext cx="51181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개발 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 txBox="1"/>
          <p:nvPr/>
        </p:nvSpPr>
        <p:spPr>
          <a:xfrm>
            <a:off x="3289300" y="7835900"/>
            <a:ext cx="2552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8. 17. - 10. 26.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5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6959600" y="3352800"/>
            <a:ext cx="5308600" cy="53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5"/>
          <p:cNvPicPr preferRelativeResize="0"/>
          <p:nvPr/>
        </p:nvPicPr>
        <p:blipFill rotWithShape="1">
          <a:blip r:embed="rId6">
            <a:alphaModFix amt="50000"/>
          </a:blip>
          <a:srcRect b="0" l="0" r="0" t="0"/>
          <a:stretch/>
        </p:blipFill>
        <p:spPr>
          <a:xfrm>
            <a:off x="7543800" y="3937000"/>
            <a:ext cx="4140200" cy="414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5"/>
          <p:cNvPicPr preferRelativeResize="0"/>
          <p:nvPr/>
        </p:nvPicPr>
        <p:blipFill rotWithShape="1">
          <a:blip r:embed="rId7">
            <a:alphaModFix amt="50000"/>
          </a:blip>
          <a:srcRect b="0" l="0" r="0" t="0"/>
          <a:stretch/>
        </p:blipFill>
        <p:spPr>
          <a:xfrm>
            <a:off x="6451600" y="2857500"/>
            <a:ext cx="6311900" cy="63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5168900" y="4178300"/>
            <a:ext cx="3937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1500" y="2807208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790700" y="2603500"/>
            <a:ext cx="7137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790700" y="8051800"/>
            <a:ext cx="7137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790700" y="4927600"/>
            <a:ext cx="71374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13652500" y="4178300"/>
            <a:ext cx="3937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287000" y="4927600"/>
            <a:ext cx="7137400" cy="215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87000" y="2603500"/>
            <a:ext cx="7137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287000" y="8051800"/>
            <a:ext cx="7137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10800000">
            <a:off x="1981200" y="7086600"/>
            <a:ext cx="67691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10800000">
            <a:off x="10464800" y="7086600"/>
            <a:ext cx="67691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5168900" y="7289800"/>
            <a:ext cx="3937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13652500" y="7289800"/>
            <a:ext cx="3937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5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4521200" y="1079500"/>
            <a:ext cx="34798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주요 기능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5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 txBox="1"/>
          <p:nvPr/>
        </p:nvSpPr>
        <p:spPr>
          <a:xfrm>
            <a:off x="2044700" y="3022600"/>
            <a:ext cx="66294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생명주기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 txBox="1"/>
          <p:nvPr/>
        </p:nvSpPr>
        <p:spPr>
          <a:xfrm>
            <a:off x="3479800" y="5422900"/>
            <a:ext cx="377190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접수부터 종료까지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12개 상태로 추적한다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/>
          <p:cNvSpPr txBox="1"/>
          <p:nvPr/>
        </p:nvSpPr>
        <p:spPr>
          <a:xfrm>
            <a:off x="2019300" y="8458200"/>
            <a:ext cx="66929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보류와 승인 대기를 상태로 표현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10655300" y="3022600"/>
            <a:ext cx="63881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승인 경계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11963400" y="5422900"/>
            <a:ext cx="377190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고위험 Action 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사람이 승인해야 실행된다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10541000" y="8458200"/>
            <a:ext cx="66167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같은 요청 10회에 실제 처리는 1회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050791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53200" y="3276600"/>
            <a:ext cx="6096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907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136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6365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"/>
          <p:cNvPicPr preferRelativeResize="0"/>
          <p:nvPr/>
        </p:nvPicPr>
        <p:blipFill rotWithShape="1">
          <a:blip r:embed="rId13">
            <a:alphaModFix amt="10000"/>
          </a:blip>
          <a:srcRect b="0" l="0" r="0" t="0"/>
          <a:stretch/>
        </p:blipFill>
        <p:spPr>
          <a:xfrm>
            <a:off x="17780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6"/>
          <p:cNvPicPr preferRelativeResize="0"/>
          <p:nvPr/>
        </p:nvPicPr>
        <p:blipFill rotWithShape="1">
          <a:blip r:embed="rId13">
            <a:alphaModFix amt="10000"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"/>
          <p:cNvPicPr preferRelativeResize="0"/>
          <p:nvPr/>
        </p:nvPicPr>
        <p:blipFill rotWithShape="1">
          <a:blip r:embed="rId13">
            <a:alphaModFix amt="10000"/>
          </a:blip>
          <a:srcRect b="0" l="0" r="0" t="0"/>
          <a:stretch/>
        </p:blipFill>
        <p:spPr>
          <a:xfrm>
            <a:off x="126365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7907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636500" y="4622800"/>
            <a:ext cx="4787900" cy="48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5400000">
            <a:off x="38354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5400000">
            <a:off x="92583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5400000">
            <a:off x="146812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기술스택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1993900" y="3022600"/>
            <a:ext cx="4381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 txBox="1"/>
          <p:nvPr/>
        </p:nvSpPr>
        <p:spPr>
          <a:xfrm>
            <a:off x="7480300" y="3022600"/>
            <a:ext cx="4254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12877800" y="3022600"/>
            <a:ext cx="43053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20701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Python, FastAPI, LangGraph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최상위 흐름은 LangGraph 로 짜고 Agentic Controller 가 어느 Team 에 일을 줄지 정한다. Team 은 Registry 등록형이다.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74803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자체 호스팅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고객사 환경에 올려 데이터가 밖으로 나가지 않게 한다. Docker 와 AWS 는 Phase 2 다. 지금 로컬은 PostgreSQL 을 직접 띄운다.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12915900" y="5473700"/>
            <a:ext cx="42291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PostgreSQL, pgvector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업무 상태와 지식 검색을 한 저장소에 둔다. MySQL 이 아니라 PostgreSQL 인 이유는 pgvector 확장 때문이다.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050791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90700" y="2603500"/>
            <a:ext cx="76454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90700" y="4584700"/>
            <a:ext cx="36703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79000" y="2603500"/>
            <a:ext cx="76454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65800" y="4584700"/>
            <a:ext cx="36703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79000" y="4584700"/>
            <a:ext cx="36703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54100" y="4584700"/>
            <a:ext cx="3670300" cy="11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581400" y="4114800"/>
            <a:ext cx="40767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400000">
            <a:off x="5410200" y="3898900"/>
            <a:ext cx="419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69700" y="4114800"/>
            <a:ext cx="40767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400000">
            <a:off x="13398500" y="3898900"/>
            <a:ext cx="419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7"/>
          <p:cNvPicPr preferRelativeResize="0"/>
          <p:nvPr/>
        </p:nvPicPr>
        <p:blipFill rotWithShape="1">
          <a:blip r:embed="rId15">
            <a:alphaModFix amt="10000"/>
          </a:blip>
          <a:srcRect b="0" l="0" r="0" t="0"/>
          <a:stretch/>
        </p:blipFill>
        <p:spPr>
          <a:xfrm>
            <a:off x="17907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7907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7"/>
          <p:cNvPicPr preferRelativeResize="0"/>
          <p:nvPr/>
        </p:nvPicPr>
        <p:blipFill rotWithShape="1">
          <a:blip r:embed="rId15">
            <a:alphaModFix amt="10000"/>
          </a:blip>
          <a:srcRect b="0" l="0" r="0" t="0"/>
          <a:stretch/>
        </p:blipFill>
        <p:spPr>
          <a:xfrm>
            <a:off x="57658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7"/>
          <p:cNvPicPr preferRelativeResize="0"/>
          <p:nvPr/>
        </p:nvPicPr>
        <p:blipFill rotWithShape="1">
          <a:blip r:embed="rId15">
            <a:alphaModFix amt="10000"/>
          </a:blip>
          <a:srcRect b="0" l="0" r="0" t="0"/>
          <a:stretch/>
        </p:blipFill>
        <p:spPr>
          <a:xfrm>
            <a:off x="97790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7"/>
          <p:cNvPicPr preferRelativeResize="0"/>
          <p:nvPr/>
        </p:nvPicPr>
        <p:blipFill rotWithShape="1">
          <a:blip r:embed="rId15">
            <a:alphaModFix amt="10000"/>
          </a:blip>
          <a:srcRect b="0" l="0" r="0" t="0"/>
          <a:stretch/>
        </p:blipFill>
        <p:spPr>
          <a:xfrm>
            <a:off x="137541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7658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7790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3754100" y="5956300"/>
            <a:ext cx="3670300" cy="35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7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팀원분담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2057400" y="2882900"/>
            <a:ext cx="71247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"/>
          <p:cNvSpPr txBox="1"/>
          <p:nvPr/>
        </p:nvSpPr>
        <p:spPr>
          <a:xfrm>
            <a:off x="10134600" y="2882900"/>
            <a:ext cx="69469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Team Module 과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2082800" y="4889500"/>
            <a:ext cx="30861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최연우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"/>
          <p:cNvSpPr txBox="1"/>
          <p:nvPr/>
        </p:nvSpPr>
        <p:spPr>
          <a:xfrm>
            <a:off x="5994400" y="4889500"/>
            <a:ext cx="32131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정세환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10007600" y="4889500"/>
            <a:ext cx="32258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송채영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"/>
          <p:cNvSpPr txBox="1"/>
          <p:nvPr/>
        </p:nvSpPr>
        <p:spPr>
          <a:xfrm>
            <a:off x="13957300" y="4889500"/>
            <a:ext cx="32639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최상욱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2222500" y="6413500"/>
            <a:ext cx="2895600" cy="1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코어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Case 생명주기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Shared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Registry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"/>
          <p:cNvSpPr txBox="1"/>
          <p:nvPr/>
        </p:nvSpPr>
        <p:spPr>
          <a:xfrm>
            <a:off x="6350000" y="6413500"/>
            <a:ext cx="2590800" cy="2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코어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REST 와 MCP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A2A 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Action 실행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승인과 감사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"/>
          <p:cNvSpPr txBox="1"/>
          <p:nvPr/>
        </p:nvSpPr>
        <p:spPr>
          <a:xfrm>
            <a:off x="10058400" y="6413500"/>
            <a:ext cx="3187700" cy="1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모델 총괄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VOC 와 응대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주문결제 김지혜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배송반품 서유현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카탈로그 공동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"/>
          <p:cNvSpPr txBox="1"/>
          <p:nvPr/>
        </p:nvSpPr>
        <p:spPr>
          <a:xfrm>
            <a:off x="14160500" y="6413500"/>
            <a:ext cx="2933700" cy="1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평가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golden 관리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holdout 관리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통계 검정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운영 콘솔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889000"/>
            <a:ext cx="16497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90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2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34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8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56515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8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63881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8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71247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8"/>
          <p:cNvPicPr preferRelativeResize="0"/>
          <p:nvPr/>
        </p:nvPicPr>
        <p:blipFill rotWithShape="1">
          <a:blip r:embed="rId9">
            <a:alphaModFix amt="15000"/>
          </a:blip>
          <a:srcRect b="0" l="0" r="0" t="0"/>
          <a:stretch/>
        </p:blipFill>
        <p:spPr>
          <a:xfrm rot="-3180000">
            <a:off x="13017500" y="8432800"/>
            <a:ext cx="2476500" cy="20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8"/>
          <p:cNvSpPr txBox="1"/>
          <p:nvPr/>
        </p:nvSpPr>
        <p:spPr>
          <a:xfrm>
            <a:off x="5538888" y="4758785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진행 현황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8"/>
          <p:cNvSpPr txBox="1"/>
          <p:nvPr/>
        </p:nvSpPr>
        <p:spPr>
          <a:xfrm>
            <a:off x="3683000" y="1181100"/>
            <a:ext cx="87782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대주제명: 다중 에이전트 서빙 기반 고객 피드백 분석 및 맞춤형 응대 자동화 시스템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 txBox="1"/>
          <p:nvPr/>
        </p:nvSpPr>
        <p:spPr>
          <a:xfrm>
            <a:off x="13639800" y="1181100"/>
            <a:ext cx="32004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b="0" i="0" lang="en-US" sz="269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b="0" i="0" lang="en-US" sz="299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 txBox="1"/>
          <p:nvPr/>
        </p:nvSpPr>
        <p:spPr>
          <a:xfrm>
            <a:off x="5473700" y="3695700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PART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5285232"/>
            <a:ext cx="520700" cy="520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6" name="Google Shape;386;p9"/>
          <p:cNvGraphicFramePr/>
          <p:nvPr/>
        </p:nvGraphicFramePr>
        <p:xfrm>
          <a:off x="1968500" y="260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{37CE567F-DF25-4B98-AB8C-8CCFA220AA65}</a:tableStyleId>
              </a:tblPr>
              <a:tblGrid>
                <a:gridCol w="3492500"/>
                <a:gridCol w="2400300"/>
                <a:gridCol w="2400300"/>
                <a:gridCol w="2400300"/>
                <a:gridCol w="2400300"/>
                <a:gridCol w="2400300"/>
              </a:tblGrid>
              <a:tr h="7747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 일정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b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 hMerge="1"/>
                <a:tc hMerge="1"/>
                <a:tc hMerge="1"/>
                <a:tc hMerge="1"/>
              </a:tr>
              <a:tr h="774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1주차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56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2주차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D0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3주차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3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4주차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FF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0" i="0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5주차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73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7" name="Google Shape;387;p9"/>
          <p:cNvGraphicFramePr/>
          <p:nvPr/>
        </p:nvGraphicFramePr>
        <p:xfrm>
          <a:off x="1968500" y="422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{37CE567F-DF25-4B98-AB8C-8CCFA220AA65}</a:tableStyleId>
              </a:tblPr>
              <a:tblGrid>
                <a:gridCol w="3454400"/>
                <a:gridCol w="2400300"/>
                <a:gridCol w="2400300"/>
                <a:gridCol w="2400300"/>
                <a:gridCol w="2400300"/>
                <a:gridCol w="2400300"/>
              </a:tblGrid>
              <a:tr h="13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프로젝트명을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475">
                      <a:solidFill>
                        <a:srgbClr val="0C07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L cap="flat" cmpd="sng" w="9525">
                      <a:solidFill>
                        <a:srgbClr val="41C5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735"/>
                    </a:solidFill>
                  </a:tcPr>
                </a:tc>
              </a:tr>
            </a:tbl>
          </a:graphicData>
        </a:graphic>
      </p:graphicFrame>
      <p:pic>
        <p:nvPicPr>
          <p:cNvPr id="388" name="Google Shape;388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2200" y="4521200"/>
            <a:ext cx="51689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37400" y="5880100"/>
            <a:ext cx="48514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94700" y="7175500"/>
            <a:ext cx="84455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172200" y="8521700"/>
            <a:ext cx="33909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3081000" y="8521700"/>
            <a:ext cx="38354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9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9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개발 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9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9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9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9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9"/>
          <p:cNvSpPr txBox="1"/>
          <p:nvPr/>
        </p:nvSpPr>
        <p:spPr>
          <a:xfrm>
            <a:off x="7137400" y="4686300"/>
            <a:ext cx="330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S1 기반 계약 고정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08.28 - 09.15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9"/>
          <p:cNvSpPr txBox="1"/>
          <p:nvPr/>
        </p:nvSpPr>
        <p:spPr>
          <a:xfrm>
            <a:off x="7950200" y="6032500"/>
            <a:ext cx="330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S2 도메인 팀 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09.16 - 09.30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 txBox="1"/>
          <p:nvPr/>
        </p:nvSpPr>
        <p:spPr>
          <a:xfrm>
            <a:off x="10998200" y="7340600"/>
            <a:ext cx="330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 평가와 통합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10.01 - 10.14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 txBox="1"/>
          <p:nvPr/>
        </p:nvSpPr>
        <p:spPr>
          <a:xfrm>
            <a:off x="7289800" y="8686800"/>
            <a:ext cx="1219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스프린트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9"/>
          <p:cNvSpPr txBox="1"/>
          <p:nvPr/>
        </p:nvSpPr>
        <p:spPr>
          <a:xfrm>
            <a:off x="13373100" y="8686800"/>
            <a:ext cx="330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S4 배포와 시연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10.15 - 10.26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889000"/>
            <a:ext cx="16497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90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2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34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10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56515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10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63881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0"/>
          <p:cNvPicPr preferRelativeResize="0"/>
          <p:nvPr/>
        </p:nvPicPr>
        <p:blipFill rotWithShape="1">
          <a:blip r:embed="rId8">
            <a:alphaModFix amt="20000"/>
          </a:blip>
          <a:srcRect b="0" l="0" r="0" t="0"/>
          <a:stretch/>
        </p:blipFill>
        <p:spPr>
          <a:xfrm>
            <a:off x="16573500" y="71247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0"/>
          <p:cNvPicPr preferRelativeResize="0"/>
          <p:nvPr/>
        </p:nvPicPr>
        <p:blipFill rotWithShape="1">
          <a:blip r:embed="rId9">
            <a:alphaModFix amt="15000"/>
          </a:blip>
          <a:srcRect b="0" l="0" r="0" t="0"/>
          <a:stretch/>
        </p:blipFill>
        <p:spPr>
          <a:xfrm rot="-3180000">
            <a:off x="13017500" y="8432800"/>
            <a:ext cx="2476500" cy="20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0"/>
          <p:cNvSpPr txBox="1"/>
          <p:nvPr/>
        </p:nvSpPr>
        <p:spPr>
          <a:xfrm>
            <a:off x="5538888" y="4758785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예상 결과 목표</a:t>
            </a:r>
            <a:endParaRPr b="0" i="0" sz="8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 txBox="1"/>
          <p:nvPr/>
        </p:nvSpPr>
        <p:spPr>
          <a:xfrm>
            <a:off x="3683000" y="1181100"/>
            <a:ext cx="87782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대주제명: 다중 에이전트 서빙 기반 고객 피드백 분석 및 맞춤형 응대 자동화 시스템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0"/>
          <p:cNvSpPr txBox="1"/>
          <p:nvPr/>
        </p:nvSpPr>
        <p:spPr>
          <a:xfrm>
            <a:off x="13639800" y="1181100"/>
            <a:ext cx="32004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0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b="0" i="0" lang="en-US" sz="269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b="0" i="0" lang="en-US" sz="299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 txBox="1"/>
          <p:nvPr/>
        </p:nvSpPr>
        <p:spPr>
          <a:xfrm>
            <a:off x="5473700" y="3695700"/>
            <a:ext cx="7210224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PART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978900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01900" y="2603500"/>
            <a:ext cx="14122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83000" y="7315200"/>
            <a:ext cx="11760200" cy="15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441700" y="6667500"/>
            <a:ext cx="122428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1"/>
          <p:cNvSpPr txBox="1"/>
          <p:nvPr/>
        </p:nvSpPr>
        <p:spPr>
          <a:xfrm>
            <a:off x="3670300" y="4254500"/>
            <a:ext cx="11772900" cy="2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관련 궁금한 점을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자유롭게 질문해주세요!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1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1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1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1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1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1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1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1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1"/>
          <p:cNvSpPr txBox="1"/>
          <p:nvPr/>
        </p:nvSpPr>
        <p:spPr>
          <a:xfrm>
            <a:off x="7112000" y="7658100"/>
            <a:ext cx="50165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Ask me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1"/>
          <p:cNvSpPr txBox="1"/>
          <p:nvPr/>
        </p:nvSpPr>
        <p:spPr>
          <a:xfrm>
            <a:off x="9105900" y="2806700"/>
            <a:ext cx="1308100" cy="2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00"/>
              <a:buFont typeface="Arial"/>
              <a:buNone/>
            </a:pPr>
            <a:r>
              <a:rPr b="0" i="0" lang="en-US" sz="1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1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35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889000"/>
            <a:ext cx="16497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90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2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3400" y="1231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23230" y="4356100"/>
            <a:ext cx="11938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953674" y="32258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36274" y="32258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12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56515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2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63881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2"/>
          <p:cNvPicPr preferRelativeResize="0"/>
          <p:nvPr/>
        </p:nvPicPr>
        <p:blipFill rotWithShape="1">
          <a:blip r:embed="rId10">
            <a:alphaModFix amt="20000"/>
          </a:blip>
          <a:srcRect b="0" l="0" r="0" t="0"/>
          <a:stretch/>
        </p:blipFill>
        <p:spPr>
          <a:xfrm>
            <a:off x="16573500" y="7124700"/>
            <a:ext cx="5130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2"/>
          <p:cNvPicPr preferRelativeResize="0"/>
          <p:nvPr/>
        </p:nvPicPr>
        <p:blipFill rotWithShape="1">
          <a:blip r:embed="rId11">
            <a:alphaModFix amt="15000"/>
          </a:blip>
          <a:srcRect b="0" l="0" r="0" t="0"/>
          <a:stretch/>
        </p:blipFill>
        <p:spPr>
          <a:xfrm rot="-3180000">
            <a:off x="13017500" y="8432800"/>
            <a:ext cx="2476500" cy="20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48427" y="2900136"/>
            <a:ext cx="29718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48427" y="3484336"/>
            <a:ext cx="29718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2"/>
          <p:cNvSpPr txBox="1"/>
          <p:nvPr/>
        </p:nvSpPr>
        <p:spPr>
          <a:xfrm>
            <a:off x="5150593" y="4356100"/>
            <a:ext cx="8050313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0" i="0" lang="en-US" sz="1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2"/>
          <p:cNvSpPr txBox="1"/>
          <p:nvPr/>
        </p:nvSpPr>
        <p:spPr>
          <a:xfrm>
            <a:off x="13227050" y="3886200"/>
            <a:ext cx="622300" cy="19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0" i="0" lang="en-US" sz="110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 txBox="1"/>
          <p:nvPr/>
        </p:nvSpPr>
        <p:spPr>
          <a:xfrm>
            <a:off x="11299624" y="5994400"/>
            <a:ext cx="1308100" cy="2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00"/>
              <a:buFont typeface="Arial"/>
              <a:buNone/>
            </a:pPr>
            <a:r>
              <a:rPr b="0" i="0" lang="en-US" sz="157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2"/>
          <p:cNvSpPr txBox="1"/>
          <p:nvPr/>
        </p:nvSpPr>
        <p:spPr>
          <a:xfrm>
            <a:off x="2686050" y="5626100"/>
            <a:ext cx="1993900" cy="1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en-US" sz="86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[     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2"/>
          <p:cNvSpPr txBox="1"/>
          <p:nvPr/>
        </p:nvSpPr>
        <p:spPr>
          <a:xfrm>
            <a:off x="3683000" y="1181100"/>
            <a:ext cx="87782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대주제명: 다중 에이전트 서빙 기반 고객 피드백 분석 및 맞춤형 응대 자동화 시스템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2"/>
          <p:cNvSpPr txBox="1"/>
          <p:nvPr/>
        </p:nvSpPr>
        <p:spPr>
          <a:xfrm>
            <a:off x="2298700" y="7937500"/>
            <a:ext cx="49784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6Team A-COPilot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presenter : 송채영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팀원 : 김지혜 · 서유현 · 정세환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최상욱 · 최연우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 txBox="1"/>
          <p:nvPr/>
        </p:nvSpPr>
        <p:spPr>
          <a:xfrm>
            <a:off x="16992600" y="-1054100"/>
            <a:ext cx="151130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b="0" i="0" lang="en-US" sz="26900" u="none" cap="none" strike="noStrike">
                <a:solidFill>
                  <a:srgbClr val="DC56A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 txBox="1"/>
          <p:nvPr/>
        </p:nvSpPr>
        <p:spPr>
          <a:xfrm>
            <a:off x="14757400" y="2324100"/>
            <a:ext cx="2489200" cy="53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b="0" i="0" lang="en-US" sz="29900" u="none" cap="none" strike="noStrike">
                <a:solidFill>
                  <a:srgbClr val="FF630E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8" name="Google Shape;26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807208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200" y="3276600"/>
            <a:ext cx="6096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07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36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365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17780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126365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907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636500" y="4622800"/>
            <a:ext cx="4787900" cy="48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38354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92583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46812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왜 필요한가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1993900" y="3022600"/>
            <a:ext cx="4381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도입은 됐는데 작동하지 않는다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 txBox="1"/>
          <p:nvPr/>
        </p:nvSpPr>
        <p:spPr>
          <a:xfrm>
            <a:off x="7480300" y="3022600"/>
            <a:ext cx="4254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한 줄 흐름으로는 안 되는 일들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12877800" y="3022600"/>
            <a:ext cx="43053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1군 제품의 공백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20701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콜센터의 88퍼센트가 AI 를 쓰지만 완전히 통합한 곳은 25퍼센트다. Gartner 는 2027년까지 agentic AI 프로젝트의 40퍼센트 이상이 폐기될 것으로 봤고, 원인을 모델 실패가 아니라 운영화 실패로 지목했다.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74803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수집하고 분류하고 검색해 답변하는 한 줄 파이프라인으로는 실제 고객센터를 담지 못한다. 며칠 멈춰 있는 보류 건, 사람 결재가 필요한 환불 건, 여러 부서를 거치는 건이 그 밖에 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12915900" y="5473700"/>
            <a:ext cx="42291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Intercom Fin 은 단일 에이전트이고 자체 호스팅이 되지 않는다는 공개 근거가 있다. 데이터 반출이 금지된 규제 산업에는 그대로 들어가기 어렵다.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8" name="Google Shape;26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807208"/>
            <a:ext cx="52070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도입과 실제의 격차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Picture 304" descr="02_adoption_ga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54669" y="2697480"/>
            <a:ext cx="13274773" cy="5852160"/>
          </a:xfrm>
          <a:prstGeom prst="rect">
            <a:avLst/>
          </a:prstGeom>
        </p:spPr>
      </p:pic>
      <p:sp>
        <p:nvSpPr>
          <p:cNvPr id="306" name="TextBox 305"/>
          <p:cNvSpPr txBox="1"/>
          <p:nvPr/>
        </p:nvSpPr>
        <p:spPr>
          <a:xfrm>
            <a:off x="1773936" y="8732520"/>
            <a:ext cx="15636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출처: 제출표 근거 D1, D3. 부족한 것은 모델 성능이 아니라 운영에 얹을 수 있는 구조다.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8" name="Google Shape;26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050791"/>
            <a:ext cx="52070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시스템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Picture 304" descr="uml_component_v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27646" y="2697480"/>
            <a:ext cx="6928818" cy="5852160"/>
          </a:xfrm>
          <a:prstGeom prst="rect">
            <a:avLst/>
          </a:prstGeom>
        </p:spPr>
      </p:pic>
      <p:sp>
        <p:nvSpPr>
          <p:cNvPr id="306" name="TextBox 305"/>
          <p:cNvSpPr txBox="1"/>
          <p:nvPr/>
        </p:nvSpPr>
        <p:spPr>
          <a:xfrm>
            <a:off x="1773936" y="8732520"/>
            <a:ext cx="15636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파란 영역이 코어 1 Case Runtime, 붉은 영역이 코어 2 Access and Action, 초록 영역이 Registry 에 등록되는 도메인 팩이다.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8" name="Google Shape;26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285232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200" y="3276600"/>
            <a:ext cx="6096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07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36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365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17780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126365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907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636500" y="4622800"/>
            <a:ext cx="4787900" cy="48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38354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92583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46812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지금까지 된 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1993900" y="3022600"/>
            <a:ext cx="4381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DoD 판정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 txBox="1"/>
          <p:nvPr/>
        </p:nvSpPr>
        <p:spPr>
          <a:xfrm>
            <a:off x="7480300" y="3022600"/>
            <a:ext cx="4254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평가 실행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12877800" y="3022600"/>
            <a:ext cx="43053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Composer 쓰기 채널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20701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통과 26, 부분통과 3, 판정 없음 1. 2026-08-30 개발 콘솔로 evidence 폴더를 읽어 판정했다. 막힌 3건은 AB holdout, 마일스톤 게이트, 파인튜닝 방어지표다.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74803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리포트 40건이 쌓였다. run 단위로만 비교한다. arm 과 dataset 과 실행 방식이 다르면 평균을 견줄 수 없다. 이 경고를 화면 머리에 고정해 두었다.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12915900" y="5473700"/>
            <a:ext cx="42291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카탈로그 조회와 변경 요청 계약을 참고 구현체에서 먼저 만들어 검증했다. 릴리스 대상으로 이식하는 일이 남아 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8" name="Google Shape;26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285232"/>
            <a:ext cx="52070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무엇이 막혀 있나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Picture 304" descr="shot_scr02_card2_do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73936" y="3285499"/>
            <a:ext cx="15636240" cy="4676120"/>
          </a:xfrm>
          <a:prstGeom prst="rect">
            <a:avLst/>
          </a:prstGeom>
        </p:spPr>
      </p:pic>
      <p:sp>
        <p:nvSpPr>
          <p:cNvPr id="306" name="TextBox 305"/>
          <p:cNvSpPr txBox="1"/>
          <p:nvPr/>
        </p:nvSpPr>
        <p:spPr>
          <a:xfrm>
            <a:off x="1773936" y="8732520"/>
            <a:ext cx="15636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운영 콘솔의 실제 화면이다. 막힌 항목만 표에 남기고 통과한 26건은 접어 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8" name="Google Shape;26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510528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200" y="3276600"/>
            <a:ext cx="6096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07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36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365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17780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126365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907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636500" y="4622800"/>
            <a:ext cx="4787900" cy="48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38354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92583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46812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이슈와 트러블 슈팅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1993900" y="3022600"/>
            <a:ext cx="4381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평가 점수가 0퍼센트로 나왔다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 txBox="1"/>
          <p:nvPr/>
        </p:nvSpPr>
        <p:spPr>
          <a:xfrm>
            <a:off x="7480300" y="3022600"/>
            <a:ext cx="4254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설정을 고객 서버에서 고치고 있었다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12877800" y="3022600"/>
            <a:ext cx="43053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적용 버튼이 항상 거부됐다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20701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군 정확도가 0.0퍼센트였다. 채점기가 승인 대기를 실패로 세고, 성공 판정을 뒤에서 덮어쓰고 있었다. 모델이 아니라 채점 코드의 결함이었다. 지시서로 담당에게 넘겼다.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74803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쓰기 가능한 구성 관리가 고객 대면 경로에 있으면 취약점 하나가 서비스 전체에 닿는다. 중앙 설정 저장소로 옮기기로 2026-08-29 에 결정했다.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12915900" y="5473700"/>
            <a:ext cx="42291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화면이 사유를 안 보내서 422 였다. 대상이 사유를 필수로 요구한다. 감사 기록의 근거이기 때문이다. 가짜 대상을 세워 끝까지 다시 확인했다.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8" name="Google Shape;26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287500" y="889000"/>
            <a:ext cx="31369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7100" y="889000"/>
            <a:ext cx="128270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316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9888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4460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903200" y="1358900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7735824"/>
            <a:ext cx="5207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-2184400" y="6108700"/>
            <a:ext cx="70358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200" y="3276600"/>
            <a:ext cx="6096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07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36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36500" y="2603500"/>
            <a:ext cx="47879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17780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126365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907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00900" y="4635500"/>
            <a:ext cx="47879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636500" y="4622800"/>
            <a:ext cx="4787900" cy="48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38354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92583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4681200" y="4305300"/>
            <a:ext cx="6985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"/>
          <p:cNvSpPr txBox="1"/>
          <p:nvPr/>
        </p:nvSpPr>
        <p:spPr>
          <a:xfrm>
            <a:off x="1447800" y="1079500"/>
            <a:ext cx="2286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PART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723900" y="90170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3657600" y="1003300"/>
            <a:ext cx="7874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41C5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4521200" y="1079500"/>
            <a:ext cx="22606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예상 결과 목표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723900" y="2870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723900" y="4102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723900" y="5321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723900" y="65532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723900" y="77851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 txBox="1"/>
          <p:nvPr/>
        </p:nvSpPr>
        <p:spPr>
          <a:xfrm>
            <a:off x="1993900" y="3022600"/>
            <a:ext cx="4381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숫자로 증명한다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 txBox="1"/>
          <p:nvPr/>
        </p:nvSpPr>
        <p:spPr>
          <a:xfrm>
            <a:off x="7480300" y="3022600"/>
            <a:ext cx="42545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멱등성과 승인 경계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12877800" y="3022600"/>
            <a:ext cx="43053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구성으로 늘어나는 확장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20701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golden 과 holdout 으로 A 군, B 군, 제안군을 비교하고 bootstrap 과 McNemar 로 검정한다. 좋아졌다를 느낌이 아니라 수치로 말한다.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7480300" y="5473700"/>
            <a:ext cx="42291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같은 요청 10회에 실제 부수효과는 1회다. 고위험 Action 은 승인 없이 실행되지 않는다. 이 둘을 테스트로 고정한다.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12915900" y="5473700"/>
            <a:ext cx="42291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을 하나 추가할 때 Core 코드가 바뀌지 않는 것을 아키텍처 테스트로 막는다. 최종 시연은 검증 쇼핑몰 연동이다.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14947900" y="1333500"/>
            <a:ext cx="18923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SK네트웍스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Family AI 캠프 32기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HYUNJOO KWON</dc:creator>
</cp:coreProperties>
</file>