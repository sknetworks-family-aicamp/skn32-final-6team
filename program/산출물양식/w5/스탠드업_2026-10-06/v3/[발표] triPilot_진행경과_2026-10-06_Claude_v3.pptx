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triPilot 5주차 진행 경과를 말씀드리겠습니다. triPilot 은 자유여행자가 이미 짠 여행 계획을 받아서, 여행이 끝날 때까지 문제가 생기지 않는지 지켜보고 바꿔 주는 서비스입니다.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서비스, 모델, 비용, 검증, 남은 일의 다섯 파트로 말씀드리겠습니다. 장마다 오른쪽 위에 지금 어느 파트인지 표시해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고객이 계획을 올리면 코드가 시간 겹침과 이동 가능 여부를 검사하고 고객이 확인합니다. 등록하면 여행 중 3분마다 휴관, 마감, 날씨 위험을 점검하고, 문제가 생기면 식당 · 활동 담당 AI 가 바꿀 안을 만들어 알립니다. 이 점검과 수정은 여행이 끝날 때까지 되풀이됩니다. 이번 주에는 화면 연결, 실시간 진행 표시와 개인 AI 입구, 고객 말을 일정 항목에 매칭하는 모델을 다뤘습니다.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주 규모입니다. 모든 브랜치를 합쳐 커밋 531건이었고 10월 3일이 112건으로 가장 많았습니다. 고객 웹 화면 12개를 연결했고, 자동 시험은 4,251개 중 4,245개를 통과했습니다. 일정 항목 매칭 모델은 파인튜닝으로 688개에서 760개까지 맞혔고, 산출물은 6종을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고객은 계획을 붙여 넣고, 읽는 동안 취향 질문에 답하고, 항로 지킴이를 켤지 고릅니다. 항로 지킴이는 문제가 생기면 서비스가 먼저 바꿔 두고 알릴지, 먼저 물어볼지를 정하는 스위치입니다. 계획을 확인한 뒤 여행 중에는 일정, 지도, 채팅을 쓰고, 재난 문자가 오면 남은 일정을 멈추고 안전 안내를 보여 줍니다. mock 서버로 화면 반응을 확인했고, 실서버 확인은 계획 확인 화면 일부만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쪽은 두 가지가 컸습니다. 고객이 평소 쓰는 AI 비서가 triPilot 에 들어와 본인 여행만 읽을 수 있고, 고치는 기능은 기본으로 꺼 두었습니다. 오래 걸리는 일을 하는 동안에는 몇 단계인지와 살아 있다는 신호를 3초마다 보내서, 고객이 멈췄는지 기다리는 중인지 알 수 있게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모델이 푸는 문제는 하나입니다. 고객이 한 말이 일정표의 몇 번 항목을 가리키는지 찾습니다. 금요일 전시를 물은 뒤 「뒤에 거 예매해야 돼」라고 하면 정답은 25번 피크닉 전시이고, 일정에 없는 남산타워를 물으면 정답은 없음입니다. 이걸 맞혀야 그 장소의 영업시간이나 예약을 확인하고 바꿀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4B 크기의 Gemma 4 E4B 를 우리 연습문제로 파인튜닝하니 688개에서 750개, 다시 학습하면 760개를 맞혔습니다. 파인튜닝하지 않은 26B, 27B 로컬 모델이 732개, 749개라서, 작은 모델로 큰 모델만큼 맞힌 셈입니다. 다만 같은 방법으로 두 번 학습해도 10문제쯤 흔들리기 때문에 4B 모델끼리 순위는 매기지 않습니다. CPU 만으로도 이어지는 질문은 평균 4.5초에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파인튜닝은 이렇게 했습니다. 사람이 처음 문제와 체크리스트를 쓰고, Claude 가 이를 바탕으로 여행자 10명의 일정과 연습문제 1,760개를 만들었습니다. 별도 풀이로 정답이 모두 일치하는지 확인하고, 시험 문제와 같거나 비슷한 122개를 뺀 뒤, 여행자 8명 몫 1,313개로 학습하고 다른 2명 몫 325개로 검증했습니다. Gemma 4 E4B 를 4비트로 올려 QLoRA 로 2 epoch 학습했고, 설정은 평가를 보기 전에 하나로 고정했습니다. 검증 세트에서 265개에서 320개로, 시험지에서 688개에서 750개로 올라 미리 정한 기준을 통과했고, 시드만 바꿔 다시 학습한 760개, CPU 용 8비트 파일로 바꾼 748개도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시험은 네 가지입니다. A, B, C 는 같은 835문제를 채점 기준만 바꾼 것입니다. 한 문장에 일정 둘을 묻는 질문을, A 는 먼저 말한 항목만, B 는 하나라도 맞으면, C 는 둘 다 맞혀야 정답으로 봅니다. D 는 실제 채팅처럼 일정 질문 사이에 관광지 질문, 일상 대화, 구어체를 섞은 2,735문제입니다. 파인튜닝한 Gemma 4 E4B 는 769문제 750~760개, B 채점 816~826개로 26B, 27B 로컬 모델보다 높았고, C 에서는 항목을 하나만 내는 구조라 상용 모델보다 낮습니다. D 는 지금 우리 모델만 쟀고 다른 모델은 측정을 맡겨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상용 모델 점수는 자기가 낸 문제까지 푼 것이라, Codex 가 쓴 문제에서는 Codex 를, Claude 가 쓴 문제에서는 Claude 를 빼고 다시 셌습니다. 그래도 상용 모델이 가장 높았습니다. 문제는 비용입니다. 서버는 어차피 우리가 확보해야 하는데, 상용 API 를 쓰면 한 달 5~10만원이 더 들고, RunPod 는 24만원 고정입니다. 오라클 무료 서버는 2 CPU, 12GB, 월 10TB 트래픽까지 0원이라, 파인튜닝한 작은 모델을 여기서 얼마나 감당할 수 있는지 지금 재고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금액은 이렇게 나왔습니다. API 한 건은 질의 1,700토큰과 답 12토큰에 공개 단가를 곱한 값으로 Luna 0.25원, Sol 4.93원, Astra 24.64원이고, API 를 써도 앱 서버가 필요해 월 5.4만원이 더해집니다. RunPod 은 월 24.5만원 고정에 한 대가 하루 약 4만 건을 처리합니다. 오라클 무료 서버는 0원인데 하루 약 2,500건까지로 예상하고 지금 실제로 재고 있습니다. 그래서 하루 2,500건까지는 무료 서버가 가장 싸고, 그 위로는 Sol 기준 하루 1,300건, Astra 기준 260건부터 GPU 서버가 API 보다 쌉니다.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결론입니다. 질문이 적을 때는 무료 서버로 운영하되, 새 일정의 첫 질문은 무료 서버에서 112초나 걸리므로 처음부터 API 로 보냅니다. 하루 7천 건쯤에서 무료 서버가 차면 넘치는 질문도 API 로 보내고, API 비용이 GPU 서버 월세 24.5만원을 넘는 하루 약 3.8만 건에서 RunPod GPU 서버로 넘어갑니다. GPU 한 대가 차는 5.8만 건부터는 다시 API 로 넘치는 몫을 받다가, 9만 건쯤에서 GPU 를 한 대 늘리는 식으로 반복합니다. 품질을 우선해 Sol 을 쓰면 API 단계가 짧아져 하루 7천 건 남짓에서 바로 GPU 로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여러 단계로 이어 붙이면 좋아지는지 실제로 돌려 봤습니다. 835문제를 넣으면 정해 둔 말 패턴의 규칙이 125개를 바로 처리하고, 작은 분류 모델이 잡담 36개를 걸러서 큰 모델은 674번만 부르면 됩니다. 점수는 혼자 풀 때와 같고 호출은 19% 줄었습니다. 파인튜닝하지 않은 Jev 계열 모델을 라우터로 넣으면 697로 떨어졌지만 학습 조건이 달라 공정한 비교는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채팅처럼 잡담, 관광 질문, 구어체를 섞은 2,735문제로 다시 돌렸습니다. 모델의 생각 모드를 끄니 빈 답 81건이 모두 사라지고 정답률이 90.8%에서 93.6%로 올랐습니다. 이 상태에서는 앞단의 규칙과 분류 모델이 정확도를 더 올린다고 말할 수 없었고, 남는 이득은 큰 모델 호출을 23% 줄이는 것입니다. 제품 호출은 이미 생각 모드를 끄고 있다는 것도 실서버에서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말에는 꼬리표 네 개를 붙입니다. 무엇을 원하는지, 식당인지 활동인지, 감정은 어떤지, 얼마나 급한지입니다. 이 중 긴급도가 가장 어려웠는데, 학습 없이 지시문만 준 모델은 60.9%였고 우리 문장으로 학습한 작은 분류 모델은 88.4%였습니다.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규정 검색입니다. 고객이 창덕궁 임시 휴관이면 어쩌죠라고 물으면 운영 중단 규정의 임시 휴관 절을 찾아야 합니다. 지금은 정답 규정이 상위 3개 안에 드는 비율이 62.5%로 목표 90%에 못 미칩니다. 개선안을 두 가지 시험했습니다. 첫째, 규정을 찾을 때 비교하는 글을 고객용 문장으로 바꾸면 정답은 늘지만 예약 요청 같은 말에도 규정을 붙이는 오응답이 22%에서 37%로 늘었습니다. 둘째, 후보 20개를 다시 줄 세우는 재순위는 따로 둔 보류 세트에서 92.6%로 목표를 넘었고, 지금 제품 반영을 준비하고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직접 35행을 검수했습니다. 원문, 답, 근거를 보고 맞다, 중간, 틀리다로 판정했고, 기계 의견은 판단 보조로만 썼습니다. 기계 검사와 사람 판정은 19개 중 18개가 같아서 기계 검사를 믿을 만하다는 것을 확인했습니다. 어긋난 한 건은 답의 앞뒤 문장이 서로 모순되는 결함이었는데, 정답 줄 검사로는 잡을 수 없는 문제라 검수에서 찾아 제품 문구를 고쳤습니다.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지표는 공개 벤치마크와 논문 기준에 맞춰 우리 서비스에 맞는 것을 골랐습니다. 규정 검색은 고객에게 실제로 보이는 두 줄 기준의 Hit@2 와 Recall@3, 답할지 거절할지는 선택적 위험, 근거는 문장 일치와 숫자 보존, 분류는 네 꼬리표 동시 정답과 보정, 에이전트는 같은 일을 세 번 모두 맞히는 pass^3, 지연은 p95 로 봅니다. 모든 비율에는 95% 구간을 붙이고, 두 방법 비교는 같은 질문끼리 짝지은 McNemar 검정으로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상용화 기준을 정리했습니다. 양식과 계획서에 정해진 기준은 응답 15초, 규정 검색 90%, 결정 단위 95%와 엉뚱한 변경 0건, 지어낸 값 0건입니다. 나머지는 틀렸을 때 고객이 입는 손해를 기준으로 제안했습니다. 일정을 잘못 바꾸거나 금액을 바꾸는 것처럼 되돌리기 어려운 일은 0건, 답의 정확도는 90~95%입니다. 지금 넷은 기준을 넘었고, 규정 검색은 개선안을 제품에 넣으면 넘으며, 여섯은 아직 미달입니다. 그리고 이 모든 값은 사람이 쓴 실제 질문에서, 구간의 아래 끝으로 기준을 넘어야 상용화라고 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주에 고친 것이 넷입니다. 번역 금액 단위 대조를 제품에 넣었고, 사람 검수로 찾은 문구 모순을 고쳤고, 무료 서버 처리량을 쟀고, 빈 답 문제는 제품 호출이 이미 생각 모드를 끄고 있어 생기지 않는다는 것을 실서버에서 확인했습니다. 남은 다섯은 오응답 실제 경로 측정, 재순위 검색의 제품 반영, 엉뚱한 일정 변경을 막는 안전장치, 계획 읽기의 글자 오독, 그리고 실서버에서 실제 사용자 흐름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주에는 오응답을 실제 제품 경로에서 다시 재고, 규정 답 직전에 관련성 검증 단계를 넣고, 모델 자체를 다시 학습해 오응답을 줄이겠습니다. 재순위 검색을 제품에 넣고, 엉뚱한 일정 변경 안전장치와 받아쓰기 오독을 마무리하고, 실서버에서 실제 사용자 흐름까지 확인합니다. 다른 모델의 D 시험과 시드 반복, 다른 Jev 계열 후보 비교도 이어서 합니다.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부록은 이 발표에서 팀이 붙인 이름을 모은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pic>
        <p:nvPicPr>
          <p:cNvPr id="2" name="Picture 1" descr="tripilot-home-02-paper-seoul.png"/>
          <p:cNvPicPr>
            <a:picLocks noChangeAspect="1"/>
          </p:cNvPicPr>
          <p:nvPr/>
        </p:nvPicPr>
        <p:blipFill>
          <a:blip r:embed="rId2"/>
          <a:stretch>
            <a:fillRect/>
          </a:stretch>
        </p:blipFill>
        <p:spPr>
          <a:xfrm>
            <a:off x="0" y="0"/>
            <a:ext cx="12191695" cy="6861474"/>
          </a:xfrm>
          <a:prstGeom prst="rect">
            <a:avLst/>
          </a:prstGeom>
        </p:spPr>
      </p:pic>
      <p:pic>
        <p:nvPicPr>
          <p:cNvPr id="3" name="Picture 2" descr="veil_left.png"/>
          <p:cNvPicPr>
            <a:picLocks noChangeAspect="1"/>
          </p:cNvPicPr>
          <p:nvPr/>
        </p:nvPicPr>
        <p:blipFill>
          <a:blip r:embed="rId3"/>
          <a:stretch>
            <a:fillRect/>
          </a:stretch>
        </p:blipFill>
        <p:spPr>
          <a:xfrm>
            <a:off x="0" y="0"/>
            <a:ext cx="12191695" cy="6857828"/>
          </a:xfrm>
          <a:prstGeom prst="rect">
            <a:avLst/>
          </a:prstGeom>
        </p:spPr>
      </p:pic>
      <p:sp>
        <p:nvSpPr>
          <p:cNvPr id="4" name="Rounded Rectangle 3"/>
          <p:cNvSpPr/>
          <p:nvPr/>
        </p:nvSpPr>
        <p:spPr>
          <a:xfrm>
            <a:off x="685800" y="1143000"/>
            <a:ext cx="566928" cy="566928"/>
          </a:xfrm>
          <a:prstGeom prst="roundRect">
            <a:avLst>
              <a:gd name="adj" fmla="val 31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24712"/>
            <a:ext cx="566928" cy="566928"/>
          </a:xfrm>
          <a:prstGeom prst="rect">
            <a:avLst/>
          </a:prstGeom>
          <a:noFill/>
        </p:spPr>
        <p:txBody>
          <a:bodyPr wrap="square" anchor="ctr" lIns="0" rIns="0" tIns="0" bIns="0">
            <a:spAutoFit/>
          </a:bodyPr>
          <a:lstStyle/>
          <a:p>
            <a:pPr algn="ctr"/>
            <a:r>
              <a:rPr sz="2728" b="1">
                <a:solidFill>
                  <a:srgbClr val="FFFFFF"/>
                </a:solidFill>
                <a:latin typeface="맑은 고딕"/>
              </a:rPr>
              <a:t>t</a:t>
            </a:r>
          </a:p>
        </p:txBody>
      </p:sp>
      <p:sp>
        <p:nvSpPr>
          <p:cNvPr id="6" name="TextBox 5"/>
          <p:cNvSpPr txBox="1"/>
          <p:nvPr/>
        </p:nvSpPr>
        <p:spPr>
          <a:xfrm>
            <a:off x="1399032" y="1188720"/>
            <a:ext cx="3657600" cy="502920"/>
          </a:xfrm>
          <a:prstGeom prst="rect">
            <a:avLst/>
          </a:prstGeom>
          <a:noFill/>
        </p:spPr>
        <p:txBody>
          <a:bodyPr wrap="square" anchor="t" lIns="0" rIns="0" tIns="0" bIns="0">
            <a:spAutoFit/>
          </a:bodyPr>
          <a:lstStyle/>
          <a:p>
            <a:pPr algn="l"/>
            <a:r>
              <a:rPr sz="2600" b="1" spc="-50">
                <a:solidFill>
                  <a:srgbClr val="24392F"/>
                </a:solidFill>
                <a:latin typeface="맑은 고딕"/>
              </a:rPr>
              <a:t>triPilot</a:t>
            </a:r>
          </a:p>
        </p:txBody>
      </p:sp>
      <p:sp>
        <p:nvSpPr>
          <p:cNvPr id="7" name="TextBox 6"/>
          <p:cNvSpPr txBox="1"/>
          <p:nvPr/>
        </p:nvSpPr>
        <p:spPr>
          <a:xfrm>
            <a:off x="685800" y="2331720"/>
            <a:ext cx="5852160" cy="274320"/>
          </a:xfrm>
          <a:prstGeom prst="rect">
            <a:avLst/>
          </a:prstGeom>
          <a:noFill/>
        </p:spPr>
        <p:txBody>
          <a:bodyPr wrap="square" anchor="t" lIns="0" rIns="0" tIns="0" bIns="0">
            <a:spAutoFit/>
          </a:bodyPr>
          <a:lstStyle/>
          <a:p>
            <a:pPr algn="l"/>
            <a:r>
              <a:rPr sz="1100" b="1" spc="200">
                <a:solidFill>
                  <a:srgbClr val="2E6047"/>
                </a:solidFill>
                <a:latin typeface="맑은 고딕"/>
              </a:rPr>
              <a:t>WEEK 5 STANDUP  ·  SKN32 6팀 A-COPilot</a:t>
            </a:r>
          </a:p>
        </p:txBody>
      </p:sp>
      <p:sp>
        <p:nvSpPr>
          <p:cNvPr id="8" name="TextBox 7"/>
          <p:cNvSpPr txBox="1"/>
          <p:nvPr/>
        </p:nvSpPr>
        <p:spPr>
          <a:xfrm>
            <a:off x="685800" y="2697480"/>
            <a:ext cx="5852160" cy="914400"/>
          </a:xfrm>
          <a:prstGeom prst="rect">
            <a:avLst/>
          </a:prstGeom>
          <a:noFill/>
        </p:spPr>
        <p:txBody>
          <a:bodyPr wrap="square" anchor="t" lIns="0" rIns="0" tIns="0" bIns="0">
            <a:spAutoFit/>
          </a:bodyPr>
          <a:lstStyle/>
          <a:p>
            <a:pPr algn="l"/>
            <a:r>
              <a:rPr sz="5000" b="1" spc="-150">
                <a:solidFill>
                  <a:srgbClr val="24392F"/>
                </a:solidFill>
                <a:latin typeface="맑은 고딕"/>
              </a:rPr>
              <a:t>5주차 진행 경과</a:t>
            </a:r>
          </a:p>
        </p:txBody>
      </p:sp>
      <p:sp>
        <p:nvSpPr>
          <p:cNvPr id="9" name="TextBox 8"/>
          <p:cNvSpPr txBox="1"/>
          <p:nvPr/>
        </p:nvSpPr>
        <p:spPr>
          <a:xfrm>
            <a:off x="685800" y="3840480"/>
            <a:ext cx="5486400" cy="914400"/>
          </a:xfrm>
          <a:prstGeom prst="rect">
            <a:avLst/>
          </a:prstGeom>
          <a:noFill/>
        </p:spPr>
        <p:txBody>
          <a:bodyPr wrap="square" anchor="t" lIns="0" rIns="0" tIns="0" bIns="0">
            <a:spAutoFit/>
          </a:bodyPr>
          <a:lstStyle/>
          <a:p>
            <a:pPr algn="l">
              <a:lnSpc>
                <a:spcPct val="125000"/>
              </a:lnSpc>
            </a:pPr>
            <a:r>
              <a:rPr sz="1900" b="0">
                <a:solidFill>
                  <a:srgbClr val="526858"/>
                </a:solidFill>
                <a:latin typeface="맑은 고딕"/>
              </a:rPr>
              <a:t>자유여행자가 올린 여행 계획을
여행이 끝날 때까지 지켜 주는 서비스</a:t>
            </a:r>
          </a:p>
        </p:txBody>
      </p:sp>
      <p:sp>
        <p:nvSpPr>
          <p:cNvPr id="10" name="TextBox 9"/>
          <p:cNvSpPr txBox="1"/>
          <p:nvPr/>
        </p:nvSpPr>
        <p:spPr>
          <a:xfrm>
            <a:off x="685800" y="5989320"/>
            <a:ext cx="5486400" cy="320040"/>
          </a:xfrm>
          <a:prstGeom prst="rect">
            <a:avLst/>
          </a:prstGeom>
          <a:noFill/>
        </p:spPr>
        <p:txBody>
          <a:bodyPr wrap="square" anchor="t" lIns="0" rIns="0" tIns="0" bIns="0">
            <a:spAutoFit/>
          </a:bodyPr>
          <a:lstStyle/>
          <a:p>
            <a:pPr algn="l"/>
            <a:r>
              <a:rPr sz="1300" b="1">
                <a:solidFill>
                  <a:srgbClr val="6D7C73"/>
                </a:solidFill>
                <a:latin typeface="맑은 고딕"/>
              </a:rPr>
              <a:t>2026.09.29 ~ 10.06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TextBox 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AGENDA</a:t>
            </a:r>
          </a:p>
        </p:txBody>
      </p:sp>
      <p:sp>
        <p:nvSpPr>
          <p:cNvPr id="3" name="TextBox 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오늘은 다섯 파트로 말씀드립니다</a:t>
            </a:r>
          </a:p>
        </p:txBody>
      </p:sp>
      <p:sp>
        <p:nvSpPr>
          <p:cNvPr id="4" name="Rounded Rectangle 3"/>
          <p:cNvSpPr/>
          <p:nvPr/>
        </p:nvSpPr>
        <p:spPr>
          <a:xfrm>
            <a:off x="685800" y="1645920"/>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01</a:t>
            </a:r>
          </a:p>
        </p:txBody>
      </p:sp>
      <p:sp>
        <p:nvSpPr>
          <p:cNvPr id="6" name="TextBox 5"/>
          <p:cNvSpPr txBox="1"/>
          <p:nvPr/>
        </p:nvSpPr>
        <p:spPr>
          <a:xfrm>
            <a:off x="1874519" y="1645920"/>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서비스</a:t>
            </a:r>
          </a:p>
        </p:txBody>
      </p:sp>
      <p:sp>
        <p:nvSpPr>
          <p:cNvPr id="7" name="TextBox 6"/>
          <p:cNvSpPr txBox="1"/>
          <p:nvPr/>
        </p:nvSpPr>
        <p:spPr>
          <a:xfrm>
            <a:off x="3886200" y="1645920"/>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triPilot 이 하는 일 · 한 주 규모 · 화면 · 서버</a:t>
            </a:r>
          </a:p>
        </p:txBody>
      </p:sp>
      <p:sp>
        <p:nvSpPr>
          <p:cNvPr id="8" name="Rounded Rectangle 7"/>
          <p:cNvSpPr/>
          <p:nvPr/>
        </p:nvSpPr>
        <p:spPr>
          <a:xfrm>
            <a:off x="685800" y="2542032"/>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542032"/>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02</a:t>
            </a:r>
          </a:p>
        </p:txBody>
      </p:sp>
      <p:sp>
        <p:nvSpPr>
          <p:cNvPr id="10" name="TextBox 9"/>
          <p:cNvSpPr txBox="1"/>
          <p:nvPr/>
        </p:nvSpPr>
        <p:spPr>
          <a:xfrm>
            <a:off x="1874519" y="2542032"/>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모델</a:t>
            </a:r>
          </a:p>
        </p:txBody>
      </p:sp>
      <p:sp>
        <p:nvSpPr>
          <p:cNvPr id="11" name="TextBox 10"/>
          <p:cNvSpPr txBox="1"/>
          <p:nvPr/>
        </p:nvSpPr>
        <p:spPr>
          <a:xfrm>
            <a:off x="3886200" y="2542032"/>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모델이 푸는 문제 · 파인튜닝 방법과 검증 · 시험 A · B · C · D</a:t>
            </a:r>
          </a:p>
        </p:txBody>
      </p:sp>
      <p:sp>
        <p:nvSpPr>
          <p:cNvPr id="12" name="Rounded Rectangle 11"/>
          <p:cNvSpPr/>
          <p:nvPr/>
        </p:nvSpPr>
        <p:spPr>
          <a:xfrm>
            <a:off x="685800" y="3438144"/>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38144"/>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03</a:t>
            </a:r>
          </a:p>
        </p:txBody>
      </p:sp>
      <p:sp>
        <p:nvSpPr>
          <p:cNvPr id="14" name="TextBox 13"/>
          <p:cNvSpPr txBox="1"/>
          <p:nvPr/>
        </p:nvSpPr>
        <p:spPr>
          <a:xfrm>
            <a:off x="1874519" y="3438144"/>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비용</a:t>
            </a:r>
          </a:p>
        </p:txBody>
      </p:sp>
      <p:sp>
        <p:nvSpPr>
          <p:cNvPr id="15" name="TextBox 14"/>
          <p:cNvSpPr txBox="1"/>
          <p:nvPr/>
        </p:nvSpPr>
        <p:spPr>
          <a:xfrm>
            <a:off x="3886200" y="3438144"/>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상용 모델과 비교 · 손익 분기 · 단계별 전환 계획</a:t>
            </a:r>
          </a:p>
        </p:txBody>
      </p:sp>
      <p:sp>
        <p:nvSpPr>
          <p:cNvPr id="16" name="Rounded Rectangle 15"/>
          <p:cNvSpPr/>
          <p:nvPr/>
        </p:nvSpPr>
        <p:spPr>
          <a:xfrm>
            <a:off x="685800" y="4334256"/>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334256"/>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04</a:t>
            </a:r>
          </a:p>
        </p:txBody>
      </p:sp>
      <p:sp>
        <p:nvSpPr>
          <p:cNvPr id="18" name="TextBox 17"/>
          <p:cNvSpPr txBox="1"/>
          <p:nvPr/>
        </p:nvSpPr>
        <p:spPr>
          <a:xfrm>
            <a:off x="1874519" y="4334256"/>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검증</a:t>
            </a:r>
          </a:p>
        </p:txBody>
      </p:sp>
      <p:sp>
        <p:nvSpPr>
          <p:cNvPr id="19" name="TextBox 18"/>
          <p:cNvSpPr txBox="1"/>
          <p:nvPr/>
        </p:nvSpPr>
        <p:spPr>
          <a:xfrm>
            <a:off x="3886200" y="4334256"/>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여러 단계 잇기 · 혼합 트래픽 · 분류 · 규정 검색 · 사람 검수 · 측정 방법</a:t>
            </a:r>
          </a:p>
        </p:txBody>
      </p:sp>
      <p:sp>
        <p:nvSpPr>
          <p:cNvPr id="20" name="Rounded Rectangle 19"/>
          <p:cNvSpPr/>
          <p:nvPr/>
        </p:nvSpPr>
        <p:spPr>
          <a:xfrm>
            <a:off x="685800" y="5230368"/>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230368"/>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05</a:t>
            </a:r>
          </a:p>
        </p:txBody>
      </p:sp>
      <p:sp>
        <p:nvSpPr>
          <p:cNvPr id="22" name="TextBox 21"/>
          <p:cNvSpPr txBox="1"/>
          <p:nvPr/>
        </p:nvSpPr>
        <p:spPr>
          <a:xfrm>
            <a:off x="1874519" y="5230368"/>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남은 일</a:t>
            </a:r>
          </a:p>
        </p:txBody>
      </p:sp>
      <p:sp>
        <p:nvSpPr>
          <p:cNvPr id="23" name="TextBox 22"/>
          <p:cNvSpPr txBox="1"/>
          <p:nvPr/>
        </p:nvSpPr>
        <p:spPr>
          <a:xfrm>
            <a:off x="3886200" y="5230368"/>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해결한 것과 남은 것 · 다음 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HOW IT WORKS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계획을 받아 여행이 끝날 때까지 지킵니다</a:t>
            </a:r>
          </a:p>
        </p:txBody>
      </p:sp>
      <p:pic>
        <p:nvPicPr>
          <p:cNvPr id="14" name="Picture 13" descr="flow.png"/>
          <p:cNvPicPr>
            <a:picLocks noChangeAspect="1"/>
          </p:cNvPicPr>
          <p:nvPr/>
        </p:nvPicPr>
        <p:blipFill>
          <a:blip r:embed="rId2"/>
          <a:stretch>
            <a:fillRect/>
          </a:stretch>
        </p:blipFill>
        <p:spPr>
          <a:xfrm>
            <a:off x="640080" y="1600200"/>
            <a:ext cx="10908792" cy="3908984"/>
          </a:xfrm>
          <a:prstGeom prst="rect">
            <a:avLst/>
          </a:prstGeom>
        </p:spPr>
      </p:pic>
      <p:sp>
        <p:nvSpPr>
          <p:cNvPr id="15" name="TextBox 14"/>
          <p:cNvSpPr txBox="1"/>
          <p:nvPr/>
        </p:nvSpPr>
        <p:spPr>
          <a:xfrm>
            <a:off x="685800" y="5193792"/>
            <a:ext cx="2743200" cy="274320"/>
          </a:xfrm>
          <a:prstGeom prst="rect">
            <a:avLst/>
          </a:prstGeom>
          <a:noFill/>
        </p:spPr>
        <p:txBody>
          <a:bodyPr wrap="square" anchor="t" lIns="0" rIns="0" tIns="0" bIns="0">
            <a:spAutoFit/>
          </a:bodyPr>
          <a:lstStyle/>
          <a:p>
            <a:pPr algn="l"/>
            <a:r>
              <a:rPr sz="1100" b="1" spc="100">
                <a:solidFill>
                  <a:srgbClr val="6D7C73"/>
                </a:solidFill>
                <a:latin typeface="맑은 고딕"/>
              </a:rPr>
              <a:t>이번 주에 손댄 곳</a:t>
            </a:r>
          </a:p>
        </p:txBody>
      </p:sp>
      <p:sp>
        <p:nvSpPr>
          <p:cNvPr id="16" name="Oval 15"/>
          <p:cNvSpPr/>
          <p:nvPr/>
        </p:nvSpPr>
        <p:spPr>
          <a:xfrm>
            <a:off x="685800" y="5669279"/>
            <a:ext cx="109728" cy="10972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5577840"/>
            <a:ext cx="3383280" cy="320040"/>
          </a:xfrm>
          <a:prstGeom prst="rect">
            <a:avLst/>
          </a:prstGeom>
          <a:noFill/>
        </p:spPr>
        <p:txBody>
          <a:bodyPr wrap="square" anchor="t" lIns="0" rIns="0" tIns="0" bIns="0">
            <a:spAutoFit/>
          </a:bodyPr>
          <a:lstStyle/>
          <a:p>
            <a:pPr algn="l"/>
            <a:r>
              <a:rPr sz="1300" b="1">
                <a:solidFill>
                  <a:srgbClr val="24392F"/>
                </a:solidFill>
                <a:latin typeface="맑은 고딕"/>
              </a:rPr>
              <a:t>화면 12개를 cs 프로젝트 서버에 연결</a:t>
            </a:r>
          </a:p>
        </p:txBody>
      </p:sp>
      <p:sp>
        <p:nvSpPr>
          <p:cNvPr id="18" name="Oval 17"/>
          <p:cNvSpPr/>
          <p:nvPr/>
        </p:nvSpPr>
        <p:spPr>
          <a:xfrm>
            <a:off x="4389120" y="5669279"/>
            <a:ext cx="109728" cy="10972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5577840"/>
            <a:ext cx="3383280" cy="320040"/>
          </a:xfrm>
          <a:prstGeom prst="rect">
            <a:avLst/>
          </a:prstGeom>
          <a:noFill/>
        </p:spPr>
        <p:txBody>
          <a:bodyPr wrap="square" anchor="t" lIns="0" rIns="0" tIns="0" bIns="0">
            <a:spAutoFit/>
          </a:bodyPr>
          <a:lstStyle/>
          <a:p>
            <a:pPr algn="l"/>
            <a:r>
              <a:rPr sz="1300" b="1">
                <a:solidFill>
                  <a:srgbClr val="24392F"/>
                </a:solidFill>
                <a:latin typeface="맑은 고딕"/>
              </a:rPr>
              <a:t>실시간 진행 표시 · 개인 AI 입구</a:t>
            </a:r>
          </a:p>
        </p:txBody>
      </p:sp>
      <p:sp>
        <p:nvSpPr>
          <p:cNvPr id="20" name="Oval 19"/>
          <p:cNvSpPr/>
          <p:nvPr/>
        </p:nvSpPr>
        <p:spPr>
          <a:xfrm>
            <a:off x="8092440" y="5669279"/>
            <a:ext cx="109728" cy="10972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5577840"/>
            <a:ext cx="3383280" cy="320040"/>
          </a:xfrm>
          <a:prstGeom prst="rect">
            <a:avLst/>
          </a:prstGeom>
          <a:noFill/>
        </p:spPr>
        <p:txBody>
          <a:bodyPr wrap="square" anchor="t" lIns="0" rIns="0" tIns="0" bIns="0">
            <a:spAutoFit/>
          </a:bodyPr>
          <a:lstStyle/>
          <a:p>
            <a:pPr algn="l"/>
            <a:r>
              <a:rPr sz="1300" b="1">
                <a:solidFill>
                  <a:srgbClr val="24392F"/>
                </a:solidFill>
                <a:latin typeface="맑은 고딕"/>
              </a:rPr>
              <a:t>고객 말 → 일정 항목 매칭 모델</a:t>
            </a:r>
          </a:p>
        </p:txBody>
      </p:sp>
      <p:sp>
        <p:nvSpPr>
          <p:cNvPr id="22" name="TextBox 21"/>
          <p:cNvSpPr txBox="1"/>
          <p:nvPr/>
        </p:nvSpPr>
        <p:spPr>
          <a:xfrm>
            <a:off x="886968" y="5879592"/>
            <a:ext cx="3383280" cy="274320"/>
          </a:xfrm>
          <a:prstGeom prst="rect">
            <a:avLst/>
          </a:prstGeom>
          <a:noFill/>
        </p:spPr>
        <p:txBody>
          <a:bodyPr wrap="square" anchor="t" lIns="0" rIns="0" tIns="0" bIns="0">
            <a:spAutoFit/>
          </a:bodyPr>
          <a:lstStyle/>
          <a:p>
            <a:pPr algn="l"/>
            <a:r>
              <a:rPr sz="1050" b="0">
                <a:solidFill>
                  <a:srgbClr val="526858"/>
                </a:solidFill>
                <a:latin typeface="맑은 고딕"/>
              </a:rPr>
              <a:t>계획 올리기부터 재난 시 일정 정지까지</a:t>
            </a:r>
          </a:p>
        </p:txBody>
      </p:sp>
      <p:sp>
        <p:nvSpPr>
          <p:cNvPr id="23" name="TextBox 22"/>
          <p:cNvSpPr txBox="1"/>
          <p:nvPr/>
        </p:nvSpPr>
        <p:spPr>
          <a:xfrm>
            <a:off x="4590288" y="5879592"/>
            <a:ext cx="3383280" cy="274320"/>
          </a:xfrm>
          <a:prstGeom prst="rect">
            <a:avLst/>
          </a:prstGeom>
          <a:noFill/>
        </p:spPr>
        <p:txBody>
          <a:bodyPr wrap="square" anchor="t" lIns="0" rIns="0" tIns="0" bIns="0">
            <a:spAutoFit/>
          </a:bodyPr>
          <a:lstStyle/>
          <a:p>
            <a:pPr algn="l"/>
            <a:r>
              <a:rPr sz="1050" b="0">
                <a:solidFill>
                  <a:srgbClr val="526858"/>
                </a:solidFill>
                <a:latin typeface="맑은 고딕"/>
              </a:rPr>
              <a:t>오래 걸리는 일의 단계 표시 · 본인 여행만</a:t>
            </a:r>
          </a:p>
        </p:txBody>
      </p:sp>
      <p:sp>
        <p:nvSpPr>
          <p:cNvPr id="24" name="TextBox 23"/>
          <p:cNvSpPr txBox="1"/>
          <p:nvPr/>
        </p:nvSpPr>
        <p:spPr>
          <a:xfrm>
            <a:off x="8293608" y="5879592"/>
            <a:ext cx="3383280" cy="274320"/>
          </a:xfrm>
          <a:prstGeom prst="rect">
            <a:avLst/>
          </a:prstGeom>
          <a:noFill/>
        </p:spPr>
        <p:txBody>
          <a:bodyPr wrap="square" anchor="t" lIns="0" rIns="0" tIns="0" bIns="0">
            <a:spAutoFit/>
          </a:bodyPr>
          <a:lstStyle/>
          <a:p>
            <a:pPr algn="l"/>
            <a:r>
              <a:rPr sz="1050" b="0">
                <a:solidFill>
                  <a:srgbClr val="526858"/>
                </a:solidFill>
                <a:latin typeface="맑은 고딕"/>
              </a:rPr>
              <a:t>파인튜닝 시험 중 · 제품 미연결</a:t>
            </a:r>
          </a:p>
        </p:txBody>
      </p:sp>
      <p:sp>
        <p:nvSpPr>
          <p:cNvPr id="25" name="TextBox 24"/>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「아키텍처 한눈에 v26」 그림 1 · 4 를 줄인 흐름입니다. 알림은 디스코드 등으로 보내고, 바뀐 내용은 로그인 없이 열리는 여행계획서 링크에도 반영됩니다.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THIS WEEK</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한 주 동안 커밋 531건을 쌓았습니다</a:t>
            </a:r>
          </a:p>
        </p:txBody>
      </p:sp>
      <p:sp>
        <p:nvSpPr>
          <p:cNvPr id="14" name="TextBox 13"/>
          <p:cNvSpPr txBox="1"/>
          <p:nvPr/>
        </p:nvSpPr>
        <p:spPr>
          <a:xfrm>
            <a:off x="685800" y="1600200"/>
            <a:ext cx="3657600" cy="1188720"/>
          </a:xfrm>
          <a:prstGeom prst="rect">
            <a:avLst/>
          </a:prstGeom>
          <a:noFill/>
        </p:spPr>
        <p:txBody>
          <a:bodyPr wrap="square" anchor="t" lIns="0" rIns="0" tIns="0" bIns="0">
            <a:spAutoFit/>
          </a:bodyPr>
          <a:lstStyle/>
          <a:p>
            <a:pPr algn="l"/>
            <a:r>
              <a:rPr sz="9600" b="1" spc="-300">
                <a:solidFill>
                  <a:srgbClr val="2E6047"/>
                </a:solidFill>
                <a:latin typeface="맑은 고딕"/>
              </a:rPr>
              <a:t>531</a:t>
            </a:r>
          </a:p>
        </p:txBody>
      </p:sp>
      <p:sp>
        <p:nvSpPr>
          <p:cNvPr id="15" name="TextBox 14"/>
          <p:cNvSpPr txBox="1"/>
          <p:nvPr/>
        </p:nvSpPr>
        <p:spPr>
          <a:xfrm>
            <a:off x="731520" y="2926080"/>
            <a:ext cx="3657600" cy="320040"/>
          </a:xfrm>
          <a:prstGeom prst="rect">
            <a:avLst/>
          </a:prstGeom>
          <a:noFill/>
        </p:spPr>
        <p:txBody>
          <a:bodyPr wrap="square" anchor="t" lIns="0" rIns="0" tIns="0" bIns="0">
            <a:spAutoFit/>
          </a:bodyPr>
          <a:lstStyle/>
          <a:p>
            <a:pPr algn="l"/>
            <a:r>
              <a:rPr sz="1300" b="1">
                <a:solidFill>
                  <a:srgbClr val="24392F"/>
                </a:solidFill>
                <a:latin typeface="맑은 고딕"/>
              </a:rPr>
              <a:t>커밋 · 모든 브랜치(팀원 포함)</a:t>
            </a:r>
          </a:p>
        </p:txBody>
      </p:sp>
      <p:sp>
        <p:nvSpPr>
          <p:cNvPr id="16" name="TextBox 15"/>
          <p:cNvSpPr txBox="1"/>
          <p:nvPr/>
        </p:nvSpPr>
        <p:spPr>
          <a:xfrm>
            <a:off x="731520" y="3218688"/>
            <a:ext cx="3657600" cy="274320"/>
          </a:xfrm>
          <a:prstGeom prst="rect">
            <a:avLst/>
          </a:prstGeom>
          <a:noFill/>
        </p:spPr>
        <p:txBody>
          <a:bodyPr wrap="square" anchor="t" lIns="0" rIns="0" tIns="0" bIns="0">
            <a:spAutoFit/>
          </a:bodyPr>
          <a:lstStyle/>
          <a:p>
            <a:pPr algn="l"/>
            <a:r>
              <a:rPr sz="1050" b="0">
                <a:solidFill>
                  <a:srgbClr val="526858"/>
                </a:solidFill>
                <a:latin typeface="맑은 고딕"/>
              </a:rPr>
              <a:t>작업 브랜치만 세면 402건</a:t>
            </a:r>
          </a:p>
        </p:txBody>
      </p:sp>
      <p:pic>
        <p:nvPicPr>
          <p:cNvPr id="17" name="Picture 16" descr="commits.png"/>
          <p:cNvPicPr>
            <a:picLocks noChangeAspect="1"/>
          </p:cNvPicPr>
          <p:nvPr/>
        </p:nvPicPr>
        <p:blipFill>
          <a:blip r:embed="rId2"/>
          <a:stretch>
            <a:fillRect/>
          </a:stretch>
        </p:blipFill>
        <p:spPr>
          <a:xfrm>
            <a:off x="1261893" y="3657600"/>
            <a:ext cx="4425653" cy="2560320"/>
          </a:xfrm>
          <a:prstGeom prst="rect">
            <a:avLst/>
          </a:prstGeom>
        </p:spPr>
      </p:pic>
      <p:sp>
        <p:nvSpPr>
          <p:cNvPr id="18" name="TextBox 17"/>
          <p:cNvSpPr txBox="1"/>
          <p:nvPr/>
        </p:nvSpPr>
        <p:spPr>
          <a:xfrm>
            <a:off x="6949440" y="1645920"/>
            <a:ext cx="4553712" cy="548640"/>
          </a:xfrm>
          <a:prstGeom prst="rect">
            <a:avLst/>
          </a:prstGeom>
          <a:noFill/>
        </p:spPr>
        <p:txBody>
          <a:bodyPr wrap="square" anchor="t" lIns="0" rIns="0" tIns="0" bIns="0">
            <a:spAutoFit/>
          </a:bodyPr>
          <a:lstStyle/>
          <a:p>
            <a:pPr algn="l"/>
            <a:r>
              <a:rPr sz="3000" b="1" spc="-50">
                <a:solidFill>
                  <a:srgbClr val="2E6047"/>
                </a:solidFill>
                <a:latin typeface="맑은 고딕"/>
              </a:rPr>
              <a:t>12</a:t>
            </a:r>
          </a:p>
        </p:txBody>
      </p:sp>
      <p:sp>
        <p:nvSpPr>
          <p:cNvPr id="19" name="TextBox 18"/>
          <p:cNvSpPr txBox="1"/>
          <p:nvPr/>
        </p:nvSpPr>
        <p:spPr>
          <a:xfrm>
            <a:off x="6949440" y="2148840"/>
            <a:ext cx="4553712" cy="274320"/>
          </a:xfrm>
          <a:prstGeom prst="rect">
            <a:avLst/>
          </a:prstGeom>
          <a:noFill/>
        </p:spPr>
        <p:txBody>
          <a:bodyPr wrap="square" anchor="t" lIns="0" rIns="0" tIns="0" bIns="0">
            <a:spAutoFit/>
          </a:bodyPr>
          <a:lstStyle/>
          <a:p>
            <a:pPr algn="l"/>
            <a:r>
              <a:rPr sz="1300" b="1">
                <a:solidFill>
                  <a:srgbClr val="24392F"/>
                </a:solidFill>
                <a:latin typeface="맑은 고딕"/>
              </a:rPr>
              <a:t>고객 웹 화면 연결</a:t>
            </a:r>
          </a:p>
        </p:txBody>
      </p:sp>
      <p:sp>
        <p:nvSpPr>
          <p:cNvPr id="20" name="TextBox 19"/>
          <p:cNvSpPr txBox="1"/>
          <p:nvPr/>
        </p:nvSpPr>
        <p:spPr>
          <a:xfrm>
            <a:off x="6949440" y="2414016"/>
            <a:ext cx="4553712" cy="274320"/>
          </a:xfrm>
          <a:prstGeom prst="rect">
            <a:avLst/>
          </a:prstGeom>
          <a:noFill/>
        </p:spPr>
        <p:txBody>
          <a:bodyPr wrap="square" anchor="t" lIns="0" rIns="0" tIns="0" bIns="0">
            <a:spAutoFit/>
          </a:bodyPr>
          <a:lstStyle/>
          <a:p>
            <a:pPr algn="l"/>
            <a:r>
              <a:rPr sz="1000" b="0">
                <a:solidFill>
                  <a:srgbClr val="526858"/>
                </a:solidFill>
                <a:latin typeface="맑은 고딕"/>
              </a:rPr>
              <a:t>계획 올리기부터 재난 시 일정 정지까지</a:t>
            </a:r>
          </a:p>
        </p:txBody>
      </p:sp>
      <p:cxnSp>
        <p:nvCxnSpPr>
          <p:cNvPr id="21" name="Connector 20"/>
          <p:cNvCxnSpPr/>
          <p:nvPr/>
        </p:nvCxnSpPr>
        <p:spPr>
          <a:xfrm>
            <a:off x="6949440" y="2670048"/>
            <a:ext cx="455371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949440" y="2816352"/>
            <a:ext cx="4553712" cy="548640"/>
          </a:xfrm>
          <a:prstGeom prst="rect">
            <a:avLst/>
          </a:prstGeom>
          <a:noFill/>
        </p:spPr>
        <p:txBody>
          <a:bodyPr wrap="square" anchor="t" lIns="0" rIns="0" tIns="0" bIns="0">
            <a:spAutoFit/>
          </a:bodyPr>
          <a:lstStyle/>
          <a:p>
            <a:pPr algn="l"/>
            <a:r>
              <a:rPr sz="3000" b="1" spc="-50">
                <a:solidFill>
                  <a:srgbClr val="2E6047"/>
                </a:solidFill>
                <a:latin typeface="맑은 고딕"/>
              </a:rPr>
              <a:t>4,245 / 4,251</a:t>
            </a:r>
          </a:p>
        </p:txBody>
      </p:sp>
      <p:sp>
        <p:nvSpPr>
          <p:cNvPr id="23" name="TextBox 22"/>
          <p:cNvSpPr txBox="1"/>
          <p:nvPr/>
        </p:nvSpPr>
        <p:spPr>
          <a:xfrm>
            <a:off x="6949440" y="3319272"/>
            <a:ext cx="4553712" cy="274320"/>
          </a:xfrm>
          <a:prstGeom prst="rect">
            <a:avLst/>
          </a:prstGeom>
          <a:noFill/>
        </p:spPr>
        <p:txBody>
          <a:bodyPr wrap="square" anchor="t" lIns="0" rIns="0" tIns="0" bIns="0">
            <a:spAutoFit/>
          </a:bodyPr>
          <a:lstStyle/>
          <a:p>
            <a:pPr algn="l"/>
            <a:r>
              <a:rPr sz="1300" b="1">
                <a:solidFill>
                  <a:srgbClr val="24392F"/>
                </a:solidFill>
                <a:latin typeface="맑은 고딕"/>
              </a:rPr>
              <a:t>자동 시험 통과 (99.9%)</a:t>
            </a:r>
          </a:p>
        </p:txBody>
      </p:sp>
      <p:sp>
        <p:nvSpPr>
          <p:cNvPr id="24" name="TextBox 23"/>
          <p:cNvSpPr txBox="1"/>
          <p:nvPr/>
        </p:nvSpPr>
        <p:spPr>
          <a:xfrm>
            <a:off x="6949440" y="3584448"/>
            <a:ext cx="4553712" cy="274320"/>
          </a:xfrm>
          <a:prstGeom prst="rect">
            <a:avLst/>
          </a:prstGeom>
          <a:noFill/>
        </p:spPr>
        <p:txBody>
          <a:bodyPr wrap="square" anchor="t" lIns="0" rIns="0" tIns="0" bIns="0">
            <a:spAutoFit/>
          </a:bodyPr>
          <a:lstStyle/>
          <a:p>
            <a:pPr algn="l"/>
            <a:r>
              <a:rPr sz="1000" b="0">
                <a:solidFill>
                  <a:srgbClr val="526858"/>
                </a:solidFill>
                <a:latin typeface="맑은 고딕"/>
              </a:rPr>
              <a:t>10-06 18:09, 실제 모델 시험 238개 제외</a:t>
            </a:r>
          </a:p>
        </p:txBody>
      </p:sp>
      <p:cxnSp>
        <p:nvCxnSpPr>
          <p:cNvPr id="25" name="Connector 24"/>
          <p:cNvCxnSpPr/>
          <p:nvPr/>
        </p:nvCxnSpPr>
        <p:spPr>
          <a:xfrm>
            <a:off x="6949440" y="3840480"/>
            <a:ext cx="455371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949440" y="3986784"/>
            <a:ext cx="4553712" cy="548640"/>
          </a:xfrm>
          <a:prstGeom prst="rect">
            <a:avLst/>
          </a:prstGeom>
          <a:noFill/>
        </p:spPr>
        <p:txBody>
          <a:bodyPr wrap="square" anchor="t" lIns="0" rIns="0" tIns="0" bIns="0">
            <a:spAutoFit/>
          </a:bodyPr>
          <a:lstStyle/>
          <a:p>
            <a:pPr algn="l"/>
            <a:r>
              <a:rPr sz="3000" b="1" spc="-50">
                <a:solidFill>
                  <a:srgbClr val="2E6047"/>
                </a:solidFill>
                <a:latin typeface="맑은 고딕"/>
              </a:rPr>
              <a:t>688 → 760</a:t>
            </a:r>
          </a:p>
        </p:txBody>
      </p:sp>
      <p:sp>
        <p:nvSpPr>
          <p:cNvPr id="27" name="TextBox 26"/>
          <p:cNvSpPr txBox="1"/>
          <p:nvPr/>
        </p:nvSpPr>
        <p:spPr>
          <a:xfrm>
            <a:off x="6949440" y="4489704"/>
            <a:ext cx="4553712" cy="274320"/>
          </a:xfrm>
          <a:prstGeom prst="rect">
            <a:avLst/>
          </a:prstGeom>
          <a:noFill/>
        </p:spPr>
        <p:txBody>
          <a:bodyPr wrap="square" anchor="t" lIns="0" rIns="0" tIns="0" bIns="0">
            <a:spAutoFit/>
          </a:bodyPr>
          <a:lstStyle/>
          <a:p>
            <a:pPr algn="l"/>
            <a:r>
              <a:rPr sz="1300" b="1">
                <a:solidFill>
                  <a:srgbClr val="24392F"/>
                </a:solidFill>
                <a:latin typeface="맑은 고딕"/>
              </a:rPr>
              <a:t>일정 항목 매칭, 769문제 중</a:t>
            </a:r>
          </a:p>
        </p:txBody>
      </p:sp>
      <p:sp>
        <p:nvSpPr>
          <p:cNvPr id="28" name="TextBox 27"/>
          <p:cNvSpPr txBox="1"/>
          <p:nvPr/>
        </p:nvSpPr>
        <p:spPr>
          <a:xfrm>
            <a:off x="6949440" y="4754880"/>
            <a:ext cx="4553712" cy="274320"/>
          </a:xfrm>
          <a:prstGeom prst="rect">
            <a:avLst/>
          </a:prstGeom>
          <a:noFill/>
        </p:spPr>
        <p:txBody>
          <a:bodyPr wrap="square" anchor="t" lIns="0" rIns="0" tIns="0" bIns="0">
            <a:spAutoFit/>
          </a:bodyPr>
          <a:lstStyle/>
          <a:p>
            <a:pPr algn="l"/>
            <a:r>
              <a:rPr sz="1000" b="0">
                <a:solidFill>
                  <a:srgbClr val="526858"/>
                </a:solidFill>
                <a:latin typeface="맑은 고딕"/>
              </a:rPr>
              <a:t>약 4B 모델 파인튜닝 전 → 후(2회차)</a:t>
            </a:r>
          </a:p>
        </p:txBody>
      </p:sp>
      <p:cxnSp>
        <p:nvCxnSpPr>
          <p:cNvPr id="29" name="Connector 28"/>
          <p:cNvCxnSpPr/>
          <p:nvPr/>
        </p:nvCxnSpPr>
        <p:spPr>
          <a:xfrm>
            <a:off x="6949440" y="5010912"/>
            <a:ext cx="455371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49440" y="5157216"/>
            <a:ext cx="4553712" cy="548640"/>
          </a:xfrm>
          <a:prstGeom prst="rect">
            <a:avLst/>
          </a:prstGeom>
          <a:noFill/>
        </p:spPr>
        <p:txBody>
          <a:bodyPr wrap="square" anchor="t" lIns="0" rIns="0" tIns="0" bIns="0">
            <a:spAutoFit/>
          </a:bodyPr>
          <a:lstStyle/>
          <a:p>
            <a:pPr algn="l"/>
            <a:r>
              <a:rPr sz="3000" b="1" spc="-50">
                <a:solidFill>
                  <a:srgbClr val="2E6047"/>
                </a:solidFill>
                <a:latin typeface="맑은 고딕"/>
              </a:rPr>
              <a:t>6종</a:t>
            </a:r>
          </a:p>
        </p:txBody>
      </p:sp>
      <p:sp>
        <p:nvSpPr>
          <p:cNvPr id="31" name="TextBox 30"/>
          <p:cNvSpPr txBox="1"/>
          <p:nvPr/>
        </p:nvSpPr>
        <p:spPr>
          <a:xfrm>
            <a:off x="6949440" y="5660136"/>
            <a:ext cx="4553712" cy="274320"/>
          </a:xfrm>
          <a:prstGeom prst="rect">
            <a:avLst/>
          </a:prstGeom>
          <a:noFill/>
        </p:spPr>
        <p:txBody>
          <a:bodyPr wrap="square" anchor="t" lIns="0" rIns="0" tIns="0" bIns="0">
            <a:spAutoFit/>
          </a:bodyPr>
          <a:lstStyle/>
          <a:p>
            <a:pPr algn="l"/>
            <a:r>
              <a:rPr sz="1300" b="1">
                <a:solidFill>
                  <a:srgbClr val="24392F"/>
                </a:solidFill>
                <a:latin typeface="맑은 고딕"/>
              </a:rPr>
              <a:t>산출물</a:t>
            </a:r>
          </a:p>
        </p:txBody>
      </p:sp>
      <p:sp>
        <p:nvSpPr>
          <p:cNvPr id="32" name="TextBox 31"/>
          <p:cNvSpPr txBox="1"/>
          <p:nvPr/>
        </p:nvSpPr>
        <p:spPr>
          <a:xfrm>
            <a:off x="6949440" y="5925312"/>
            <a:ext cx="4553712" cy="274320"/>
          </a:xfrm>
          <a:prstGeom prst="rect">
            <a:avLst/>
          </a:prstGeom>
          <a:noFill/>
        </p:spPr>
        <p:txBody>
          <a:bodyPr wrap="square" anchor="t" lIns="0" rIns="0" tIns="0" bIns="0">
            <a:spAutoFit/>
          </a:bodyPr>
          <a:lstStyle/>
          <a:p>
            <a:pPr algn="l"/>
            <a:r>
              <a:rPr sz="1000" b="0">
                <a:solidFill>
                  <a:srgbClr val="526858"/>
                </a:solidFill>
                <a:latin typeface="맑은 고딕"/>
              </a:rPr>
              <a:t>5주차 5종 + 6주차 서비스 테스트 보고서</a:t>
            </a:r>
          </a:p>
        </p:txBody>
      </p:sp>
      <p:sp>
        <p:nvSpPr>
          <p:cNvPr id="33" name="TextBox 32"/>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git log 2026-09-29 ~ 10-06. 막대 진한 색은 가장 많은 날(10/3, 112건).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CUSTOMER WEB</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고객이 지나가는 여섯 단계를 이어 붙였습니다</a:t>
            </a:r>
          </a:p>
        </p:txBody>
      </p:sp>
      <p:pic>
        <p:nvPicPr>
          <p:cNvPr id="14" name="Picture 13" descr="shot_04_trips_new_390.png"/>
          <p:cNvPicPr>
            <a:picLocks noChangeAspect="1"/>
          </p:cNvPicPr>
          <p:nvPr/>
        </p:nvPicPr>
        <p:blipFill>
          <a:blip r:embed="rId2"/>
          <a:stretch>
            <a:fillRect/>
          </a:stretch>
        </p:blipFill>
        <p:spPr>
          <a:xfrm>
            <a:off x="685800" y="1627144"/>
            <a:ext cx="1627632" cy="3503126"/>
          </a:xfrm>
          <a:prstGeom prst="rect">
            <a:avLst/>
          </a:prstGeom>
        </p:spPr>
      </p:pic>
      <p:sp>
        <p:nvSpPr>
          <p:cNvPr id="15" name="TextBox 14"/>
          <p:cNvSpPr txBox="1"/>
          <p:nvPr/>
        </p:nvSpPr>
        <p:spPr>
          <a:xfrm>
            <a:off x="685800"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01</a:t>
            </a:r>
          </a:p>
        </p:txBody>
      </p:sp>
      <p:sp>
        <p:nvSpPr>
          <p:cNvPr id="16" name="TextBox 15"/>
          <p:cNvSpPr txBox="1"/>
          <p:nvPr/>
        </p:nvSpPr>
        <p:spPr>
          <a:xfrm>
            <a:off x="594360"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계획 올리기</a:t>
            </a:r>
          </a:p>
        </p:txBody>
      </p:sp>
      <p:sp>
        <p:nvSpPr>
          <p:cNvPr id="17" name="TextBox 16"/>
          <p:cNvSpPr txBox="1"/>
          <p:nvPr/>
        </p:nvSpPr>
        <p:spPr>
          <a:xfrm>
            <a:off x="594360"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글 · 사진 · 파일</a:t>
            </a:r>
          </a:p>
        </p:txBody>
      </p:sp>
      <p:pic>
        <p:nvPicPr>
          <p:cNvPr id="18" name="Picture 17" descr="shot_q_read_390.png"/>
          <p:cNvPicPr>
            <a:picLocks noChangeAspect="1"/>
          </p:cNvPicPr>
          <p:nvPr/>
        </p:nvPicPr>
        <p:blipFill>
          <a:blip r:embed="rId3"/>
          <a:stretch>
            <a:fillRect/>
          </a:stretch>
        </p:blipFill>
        <p:spPr>
          <a:xfrm>
            <a:off x="2523744" y="1693241"/>
            <a:ext cx="1627632" cy="3370933"/>
          </a:xfrm>
          <a:prstGeom prst="rect">
            <a:avLst/>
          </a:prstGeom>
        </p:spPr>
      </p:pic>
      <p:sp>
        <p:nvSpPr>
          <p:cNvPr id="19" name="TextBox 18"/>
          <p:cNvSpPr txBox="1"/>
          <p:nvPr/>
        </p:nvSpPr>
        <p:spPr>
          <a:xfrm>
            <a:off x="2523744"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02</a:t>
            </a:r>
          </a:p>
        </p:txBody>
      </p:sp>
      <p:sp>
        <p:nvSpPr>
          <p:cNvPr id="20" name="TextBox 19"/>
          <p:cNvSpPr txBox="1"/>
          <p:nvPr/>
        </p:nvSpPr>
        <p:spPr>
          <a:xfrm>
            <a:off x="2432304"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계획 읽는 중</a:t>
            </a:r>
          </a:p>
        </p:txBody>
      </p:sp>
      <p:sp>
        <p:nvSpPr>
          <p:cNvPr id="21" name="TextBox 20"/>
          <p:cNvSpPr txBox="1"/>
          <p:nvPr/>
        </p:nvSpPr>
        <p:spPr>
          <a:xfrm>
            <a:off x="2432304"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기다리는 동안 취향 질문</a:t>
            </a:r>
          </a:p>
        </p:txBody>
      </p:sp>
      <p:pic>
        <p:nvPicPr>
          <p:cNvPr id="22" name="Picture 21" descr="shot_card_390.png"/>
          <p:cNvPicPr>
            <a:picLocks noChangeAspect="1"/>
          </p:cNvPicPr>
          <p:nvPr/>
        </p:nvPicPr>
        <p:blipFill>
          <a:blip r:embed="rId4"/>
          <a:stretch>
            <a:fillRect/>
          </a:stretch>
        </p:blipFill>
        <p:spPr>
          <a:xfrm>
            <a:off x="4361688" y="1693241"/>
            <a:ext cx="1627632" cy="3370933"/>
          </a:xfrm>
          <a:prstGeom prst="rect">
            <a:avLst/>
          </a:prstGeom>
        </p:spPr>
      </p:pic>
      <p:sp>
        <p:nvSpPr>
          <p:cNvPr id="23" name="TextBox 22"/>
          <p:cNvSpPr txBox="1"/>
          <p:nvPr/>
        </p:nvSpPr>
        <p:spPr>
          <a:xfrm>
            <a:off x="4361688"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03</a:t>
            </a:r>
          </a:p>
        </p:txBody>
      </p:sp>
      <p:sp>
        <p:nvSpPr>
          <p:cNvPr id="24" name="TextBox 23"/>
          <p:cNvSpPr txBox="1"/>
          <p:nvPr/>
        </p:nvSpPr>
        <p:spPr>
          <a:xfrm>
            <a:off x="4270248"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항로 지킴이</a:t>
            </a:r>
          </a:p>
        </p:txBody>
      </p:sp>
      <p:sp>
        <p:nvSpPr>
          <p:cNvPr id="25" name="TextBox 24"/>
          <p:cNvSpPr txBox="1"/>
          <p:nvPr/>
        </p:nvSpPr>
        <p:spPr>
          <a:xfrm>
            <a:off x="4270248"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먼저 바꿀지 고르는 스위치</a:t>
            </a:r>
          </a:p>
        </p:txBody>
      </p:sp>
      <p:pic>
        <p:nvPicPr>
          <p:cNvPr id="26" name="Picture 25" descr="shot_day_overview.png"/>
          <p:cNvPicPr>
            <a:picLocks noChangeAspect="1"/>
          </p:cNvPicPr>
          <p:nvPr/>
        </p:nvPicPr>
        <p:blipFill>
          <a:blip r:embed="rId5"/>
          <a:stretch>
            <a:fillRect/>
          </a:stretch>
        </p:blipFill>
        <p:spPr>
          <a:xfrm>
            <a:off x="6199632" y="2308767"/>
            <a:ext cx="1627632" cy="2139881"/>
          </a:xfrm>
          <a:prstGeom prst="rect">
            <a:avLst/>
          </a:prstGeom>
        </p:spPr>
      </p:pic>
      <p:sp>
        <p:nvSpPr>
          <p:cNvPr id="27" name="TextBox 26"/>
          <p:cNvSpPr txBox="1"/>
          <p:nvPr/>
        </p:nvSpPr>
        <p:spPr>
          <a:xfrm>
            <a:off x="6199632"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04</a:t>
            </a:r>
          </a:p>
        </p:txBody>
      </p:sp>
      <p:sp>
        <p:nvSpPr>
          <p:cNvPr id="28" name="TextBox 27"/>
          <p:cNvSpPr txBox="1"/>
          <p:nvPr/>
        </p:nvSpPr>
        <p:spPr>
          <a:xfrm>
            <a:off x="6108192"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계획 확인</a:t>
            </a:r>
          </a:p>
        </p:txBody>
      </p:sp>
      <p:sp>
        <p:nvSpPr>
          <p:cNvPr id="29" name="TextBox 28"/>
          <p:cNvSpPr txBox="1"/>
          <p:nvPr/>
        </p:nvSpPr>
        <p:spPr>
          <a:xfrm>
            <a:off x="6108192"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날짜별 일정 · 수정</a:t>
            </a:r>
          </a:p>
        </p:txBody>
      </p:sp>
      <p:pic>
        <p:nvPicPr>
          <p:cNvPr id="30" name="Picture 29" descr="shot_09_trip_home_390.png"/>
          <p:cNvPicPr>
            <a:picLocks noChangeAspect="1"/>
          </p:cNvPicPr>
          <p:nvPr/>
        </p:nvPicPr>
        <p:blipFill>
          <a:blip r:embed="rId6"/>
          <a:stretch>
            <a:fillRect/>
          </a:stretch>
        </p:blipFill>
        <p:spPr>
          <a:xfrm>
            <a:off x="8037576" y="1627144"/>
            <a:ext cx="1627632" cy="3503126"/>
          </a:xfrm>
          <a:prstGeom prst="rect">
            <a:avLst/>
          </a:prstGeom>
        </p:spPr>
      </p:pic>
      <p:sp>
        <p:nvSpPr>
          <p:cNvPr id="31" name="TextBox 30"/>
          <p:cNvSpPr txBox="1"/>
          <p:nvPr/>
        </p:nvSpPr>
        <p:spPr>
          <a:xfrm>
            <a:off x="8037576"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05</a:t>
            </a:r>
          </a:p>
        </p:txBody>
      </p:sp>
      <p:sp>
        <p:nvSpPr>
          <p:cNvPr id="32" name="TextBox 31"/>
          <p:cNvSpPr txBox="1"/>
          <p:nvPr/>
        </p:nvSpPr>
        <p:spPr>
          <a:xfrm>
            <a:off x="7946136"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여행 화면</a:t>
            </a:r>
          </a:p>
        </p:txBody>
      </p:sp>
      <p:sp>
        <p:nvSpPr>
          <p:cNvPr id="33" name="TextBox 32"/>
          <p:cNvSpPr txBox="1"/>
          <p:nvPr/>
        </p:nvSpPr>
        <p:spPr>
          <a:xfrm>
            <a:off x="7946136"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일정 · 지도 · 채팅 · 알림</a:t>
            </a:r>
          </a:p>
        </p:txBody>
      </p:sp>
      <p:pic>
        <p:nvPicPr>
          <p:cNvPr id="34" name="Picture 33" descr="shot_safety_top.png"/>
          <p:cNvPicPr>
            <a:picLocks noChangeAspect="1"/>
          </p:cNvPicPr>
          <p:nvPr/>
        </p:nvPicPr>
        <p:blipFill>
          <a:blip r:embed="rId7"/>
          <a:stretch>
            <a:fillRect/>
          </a:stretch>
        </p:blipFill>
        <p:spPr>
          <a:xfrm>
            <a:off x="9875520" y="1627144"/>
            <a:ext cx="1627632" cy="3503126"/>
          </a:xfrm>
          <a:prstGeom prst="rect">
            <a:avLst/>
          </a:prstGeom>
        </p:spPr>
      </p:pic>
      <p:sp>
        <p:nvSpPr>
          <p:cNvPr id="35" name="TextBox 34"/>
          <p:cNvSpPr txBox="1"/>
          <p:nvPr/>
        </p:nvSpPr>
        <p:spPr>
          <a:xfrm>
            <a:off x="9875520"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06</a:t>
            </a:r>
          </a:p>
        </p:txBody>
      </p:sp>
      <p:sp>
        <p:nvSpPr>
          <p:cNvPr id="36" name="TextBox 35"/>
          <p:cNvSpPr txBox="1"/>
          <p:nvPr/>
        </p:nvSpPr>
        <p:spPr>
          <a:xfrm>
            <a:off x="9784080"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재난 시 일정 정지</a:t>
            </a:r>
          </a:p>
        </p:txBody>
      </p:sp>
      <p:sp>
        <p:nvSpPr>
          <p:cNvPr id="37" name="TextBox 36"/>
          <p:cNvSpPr txBox="1"/>
          <p:nvPr/>
        </p:nvSpPr>
        <p:spPr>
          <a:xfrm>
            <a:off x="9784080"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안전 안내 · 119 · 대피 장소</a:t>
            </a:r>
          </a:p>
        </p:txBody>
      </p:sp>
      <p:sp>
        <p:nvSpPr>
          <p:cNvPr id="38" name="TextBox 37"/>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mock 서버 시험 397/402(화면 반응). 실서버 확인(10-07): x600 서버의 cs 프로젝트 서버 응답 · 웹 경로 55개 · 재난 뒤 패널 문구까지. 로그인 · 여행 만들기 흐름은 아직입니다.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SERVER</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AI 비서 입구와 실시간 진행 표시가 생겼습니다</a:t>
            </a:r>
          </a:p>
        </p:txBody>
      </p:sp>
      <p:sp>
        <p:nvSpPr>
          <p:cNvPr id="14" name="Rounded Rectangle 13"/>
          <p:cNvSpPr/>
          <p:nvPr/>
        </p:nvSpPr>
        <p:spPr>
          <a:xfrm>
            <a:off x="685800" y="1600200"/>
            <a:ext cx="5266944" cy="3566160"/>
          </a:xfrm>
          <a:prstGeom prst="roundRect">
            <a:avLst>
              <a:gd name="adj" fmla="val 5641"/>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36208" y="1600200"/>
            <a:ext cx="5266944" cy="3566160"/>
          </a:xfrm>
          <a:prstGeom prst="roundRect">
            <a:avLst>
              <a:gd name="adj" fmla="val 5641"/>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1810512"/>
            <a:ext cx="4572000" cy="274320"/>
          </a:xfrm>
          <a:prstGeom prst="rect">
            <a:avLst/>
          </a:prstGeom>
          <a:noFill/>
        </p:spPr>
        <p:txBody>
          <a:bodyPr wrap="square" anchor="t" lIns="0" rIns="0" tIns="0" bIns="0">
            <a:spAutoFit/>
          </a:bodyPr>
          <a:lstStyle/>
          <a:p>
            <a:pPr algn="l"/>
            <a:r>
              <a:rPr sz="1500" b="1">
                <a:solidFill>
                  <a:srgbClr val="24392F"/>
                </a:solidFill>
                <a:latin typeface="맑은 고딕"/>
              </a:rPr>
              <a:t>개인 AI 입구</a:t>
            </a:r>
          </a:p>
        </p:txBody>
      </p:sp>
      <p:sp>
        <p:nvSpPr>
          <p:cNvPr id="17" name="Rounded Rectangle 16"/>
          <p:cNvSpPr/>
          <p:nvPr/>
        </p:nvSpPr>
        <p:spPr>
          <a:xfrm>
            <a:off x="1005840" y="2286000"/>
            <a:ext cx="1371600" cy="530352"/>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2286000"/>
            <a:ext cx="1371600" cy="530352"/>
          </a:xfrm>
          <a:prstGeom prst="rect">
            <a:avLst/>
          </a:prstGeom>
          <a:noFill/>
        </p:spPr>
        <p:txBody>
          <a:bodyPr wrap="square" anchor="ctr" lIns="0" rIns="0" tIns="0" bIns="0">
            <a:spAutoFit/>
          </a:bodyPr>
          <a:lstStyle/>
          <a:p>
            <a:pPr algn="ctr"/>
            <a:r>
              <a:rPr sz="1200" b="1">
                <a:solidFill>
                  <a:srgbClr val="24392F"/>
                </a:solidFill>
                <a:latin typeface="맑은 고딕"/>
              </a:rPr>
              <a:t>고객의 AI 비서</a:t>
            </a:r>
          </a:p>
        </p:txBody>
      </p:sp>
      <p:sp>
        <p:nvSpPr>
          <p:cNvPr id="19" name="TextBox 18"/>
          <p:cNvSpPr txBox="1"/>
          <p:nvPr/>
        </p:nvSpPr>
        <p:spPr>
          <a:xfrm>
            <a:off x="2377440" y="2286000"/>
            <a:ext cx="246888" cy="530352"/>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20" name="Rounded Rectangle 19"/>
          <p:cNvSpPr/>
          <p:nvPr/>
        </p:nvSpPr>
        <p:spPr>
          <a:xfrm>
            <a:off x="2624328" y="2286000"/>
            <a:ext cx="1371600" cy="530352"/>
          </a:xfrm>
          <a:prstGeom prst="roundRect">
            <a:avLst>
              <a:gd name="adj" fmla="val 50000"/>
            </a:avLst>
          </a:prstGeom>
          <a:solidFill>
            <a:srgbClr val="E9F2EB"/>
          </a:solidFill>
          <a:ln w="1270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24328" y="2286000"/>
            <a:ext cx="1371600" cy="530352"/>
          </a:xfrm>
          <a:prstGeom prst="rect">
            <a:avLst/>
          </a:prstGeom>
          <a:noFill/>
        </p:spPr>
        <p:txBody>
          <a:bodyPr wrap="square" anchor="ctr" lIns="0" rIns="0" tIns="0" bIns="0">
            <a:spAutoFit/>
          </a:bodyPr>
          <a:lstStyle/>
          <a:p>
            <a:pPr algn="ctr"/>
            <a:r>
              <a:rPr sz="1200" b="1">
                <a:solidFill>
                  <a:srgbClr val="2E6047"/>
                </a:solidFill>
                <a:latin typeface="맑은 고딕"/>
              </a:rPr>
              <a:t>triPilot 입구</a:t>
            </a:r>
          </a:p>
        </p:txBody>
      </p:sp>
      <p:sp>
        <p:nvSpPr>
          <p:cNvPr id="22" name="TextBox 21"/>
          <p:cNvSpPr txBox="1"/>
          <p:nvPr/>
        </p:nvSpPr>
        <p:spPr>
          <a:xfrm>
            <a:off x="3995928" y="2286000"/>
            <a:ext cx="246888" cy="530352"/>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23" name="Rounded Rectangle 22"/>
          <p:cNvSpPr/>
          <p:nvPr/>
        </p:nvSpPr>
        <p:spPr>
          <a:xfrm>
            <a:off x="4242816" y="2286000"/>
            <a:ext cx="1371600" cy="530352"/>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42816" y="2286000"/>
            <a:ext cx="1371600" cy="530352"/>
          </a:xfrm>
          <a:prstGeom prst="rect">
            <a:avLst/>
          </a:prstGeom>
          <a:noFill/>
        </p:spPr>
        <p:txBody>
          <a:bodyPr wrap="square" anchor="ctr" lIns="0" rIns="0" tIns="0" bIns="0">
            <a:spAutoFit/>
          </a:bodyPr>
          <a:lstStyle/>
          <a:p>
            <a:pPr algn="ctr"/>
            <a:r>
              <a:rPr sz="1200" b="1">
                <a:solidFill>
                  <a:srgbClr val="2E6047"/>
                </a:solidFill>
                <a:latin typeface="맑은 고딕"/>
              </a:rPr>
              <a:t>본인 여행만</a:t>
            </a:r>
          </a:p>
        </p:txBody>
      </p:sp>
      <p:sp>
        <p:nvSpPr>
          <p:cNvPr id="25" name="TextBox 24"/>
          <p:cNvSpPr txBox="1"/>
          <p:nvPr/>
        </p:nvSpPr>
        <p:spPr>
          <a:xfrm>
            <a:off x="1005840" y="3063240"/>
            <a:ext cx="4572000" cy="548640"/>
          </a:xfrm>
          <a:prstGeom prst="rect">
            <a:avLst/>
          </a:prstGeom>
          <a:noFill/>
        </p:spPr>
        <p:txBody>
          <a:bodyPr wrap="square" anchor="t" lIns="0" rIns="0" tIns="0" bIns="0">
            <a:spAutoFit/>
          </a:bodyPr>
          <a:lstStyle/>
          <a:p>
            <a:pPr algn="l">
              <a:spcAft>
                <a:spcPts val="400"/>
              </a:spcAft>
            </a:pPr>
            <a:r>
              <a:rPr sz="1200" b="1">
                <a:solidFill>
                  <a:srgbClr val="24392F"/>
                </a:solidFill>
                <a:latin typeface="맑은 고딕"/>
              </a:rPr>
              <a:t>읽기  </a:t>
            </a:r>
            <a:r>
              <a:rPr sz="1200" b="0">
                <a:solidFill>
                  <a:srgbClr val="6D7C73"/>
                </a:solidFill>
                <a:latin typeface="맑은 고딕"/>
              </a:rPr>
              <a:t>일정 · 위험 점검 결과 · 이동 판정  </a:t>
            </a:r>
            <a:r>
              <a:rPr sz="1200" b="1">
                <a:solidFill>
                  <a:srgbClr val="2E6047"/>
                </a:solidFill>
                <a:latin typeface="맑은 고딕"/>
              </a:rPr>
              <a:t>켜짐</a:t>
            </a:r>
          </a:p>
          <a:p>
            <a:pPr algn="l">
              <a:spcAft>
                <a:spcPts val="400"/>
              </a:spcAft>
            </a:pPr>
            <a:r>
              <a:rPr sz="1200" b="1">
                <a:solidFill>
                  <a:srgbClr val="24392F"/>
                </a:solidFill>
                <a:latin typeface="맑은 고딕"/>
              </a:rPr>
              <a:t>고치기  </a:t>
            </a:r>
            <a:r>
              <a:rPr sz="1200" b="0">
                <a:solidFill>
                  <a:srgbClr val="6D7C73"/>
                </a:solidFill>
                <a:latin typeface="맑은 고딕"/>
              </a:rPr>
              <a:t>일정 수정 · 신고  </a:t>
            </a:r>
            <a:r>
              <a:rPr sz="1200" b="1">
                <a:solidFill>
                  <a:srgbClr val="965640"/>
                </a:solidFill>
                <a:latin typeface="맑은 고딕"/>
              </a:rPr>
              <a:t>기본 꺼짐</a:t>
            </a:r>
          </a:p>
        </p:txBody>
      </p:sp>
      <p:sp>
        <p:nvSpPr>
          <p:cNvPr id="26" name="TextBox 25"/>
          <p:cNvSpPr txBox="1"/>
          <p:nvPr/>
        </p:nvSpPr>
        <p:spPr>
          <a:xfrm>
            <a:off x="1005840" y="3840480"/>
            <a:ext cx="4389120" cy="640080"/>
          </a:xfrm>
          <a:prstGeom prst="rect">
            <a:avLst/>
          </a:prstGeom>
          <a:noFill/>
        </p:spPr>
        <p:txBody>
          <a:bodyPr wrap="square" anchor="t" lIns="0" rIns="0" tIns="0" bIns="0">
            <a:spAutoFit/>
          </a:bodyPr>
          <a:lstStyle/>
          <a:p>
            <a:pPr algn="l"/>
            <a:r>
              <a:rPr sz="3000" b="1" spc="-50">
                <a:solidFill>
                  <a:srgbClr val="2E6047"/>
                </a:solidFill>
                <a:latin typeface="맑은 고딕"/>
              </a:rPr>
              <a:t>15 / 15</a:t>
            </a:r>
          </a:p>
        </p:txBody>
      </p:sp>
      <p:sp>
        <p:nvSpPr>
          <p:cNvPr id="27" name="TextBox 26"/>
          <p:cNvSpPr txBox="1"/>
          <p:nvPr/>
        </p:nvSpPr>
        <p:spPr>
          <a:xfrm>
            <a:off x="1005840" y="4335017"/>
            <a:ext cx="4389120" cy="320040"/>
          </a:xfrm>
          <a:prstGeom prst="rect">
            <a:avLst/>
          </a:prstGeom>
          <a:noFill/>
        </p:spPr>
        <p:txBody>
          <a:bodyPr wrap="square" anchor="t" lIns="0" rIns="0" tIns="0" bIns="0">
            <a:spAutoFit/>
          </a:bodyPr>
          <a:lstStyle/>
          <a:p>
            <a:pPr algn="l"/>
            <a:r>
              <a:rPr sz="1300" b="1">
                <a:solidFill>
                  <a:srgbClr val="24392F"/>
                </a:solidFill>
                <a:latin typeface="맑은 고딕"/>
              </a:rPr>
              <a:t>자동 시험 통과</a:t>
            </a:r>
          </a:p>
        </p:txBody>
      </p:sp>
      <p:sp>
        <p:nvSpPr>
          <p:cNvPr id="28" name="TextBox 27"/>
          <p:cNvSpPr txBox="1"/>
          <p:nvPr/>
        </p:nvSpPr>
        <p:spPr>
          <a:xfrm>
            <a:off x="1005840" y="4645914"/>
            <a:ext cx="4389120" cy="457200"/>
          </a:xfrm>
          <a:prstGeom prst="rect">
            <a:avLst/>
          </a:prstGeom>
          <a:noFill/>
        </p:spPr>
        <p:txBody>
          <a:bodyPr wrap="square" anchor="t" lIns="0" rIns="0" tIns="0" bIns="0">
            <a:spAutoFit/>
          </a:bodyPr>
          <a:lstStyle/>
          <a:p>
            <a:pPr algn="l"/>
            <a:r>
              <a:rPr sz="1000" b="0">
                <a:solidFill>
                  <a:srgbClr val="526858"/>
                </a:solidFill>
                <a:latin typeface="맑은 고딕"/>
              </a:rPr>
              <a:t>10-02 · 본인 여행만 열리는지 · 꺼진 고치기가 막히는지</a:t>
            </a:r>
          </a:p>
        </p:txBody>
      </p:sp>
      <p:sp>
        <p:nvSpPr>
          <p:cNvPr id="29" name="TextBox 28"/>
          <p:cNvSpPr txBox="1"/>
          <p:nvPr/>
        </p:nvSpPr>
        <p:spPr>
          <a:xfrm>
            <a:off x="6556248" y="1810512"/>
            <a:ext cx="4572000" cy="274320"/>
          </a:xfrm>
          <a:prstGeom prst="rect">
            <a:avLst/>
          </a:prstGeom>
          <a:noFill/>
        </p:spPr>
        <p:txBody>
          <a:bodyPr wrap="square" anchor="t" lIns="0" rIns="0" tIns="0" bIns="0">
            <a:spAutoFit/>
          </a:bodyPr>
          <a:lstStyle/>
          <a:p>
            <a:pPr algn="l"/>
            <a:r>
              <a:rPr sz="1500" b="1">
                <a:solidFill>
                  <a:srgbClr val="24392F"/>
                </a:solidFill>
                <a:latin typeface="맑은 고딕"/>
              </a:rPr>
              <a:t>실시간 진행 표시</a:t>
            </a:r>
          </a:p>
        </p:txBody>
      </p:sp>
      <p:sp>
        <p:nvSpPr>
          <p:cNvPr id="30" name="Oval 29"/>
          <p:cNvSpPr/>
          <p:nvPr/>
        </p:nvSpPr>
        <p:spPr>
          <a:xfrm>
            <a:off x="6693408" y="2377440"/>
            <a:ext cx="310896" cy="310896"/>
          </a:xfrm>
          <a:prstGeom prst="ellipse">
            <a:avLst/>
          </a:prstGeom>
          <a:solidFill>
            <a:srgbClr val="2E6047"/>
          </a:solidFill>
          <a:ln w="2222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7040880" y="2532888"/>
            <a:ext cx="987552" cy="0"/>
          </a:xfrm>
          <a:prstGeom prst="line">
            <a:avLst/>
          </a:prstGeom>
          <a:ln w="31750">
            <a:solidFill>
              <a:srgbClr val="2E604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36208" y="2761488"/>
            <a:ext cx="1225296" cy="256032"/>
          </a:xfrm>
          <a:prstGeom prst="rect">
            <a:avLst/>
          </a:prstGeom>
          <a:noFill/>
        </p:spPr>
        <p:txBody>
          <a:bodyPr wrap="square" anchor="t" lIns="0" rIns="0" tIns="0" bIns="0">
            <a:spAutoFit/>
          </a:bodyPr>
          <a:lstStyle/>
          <a:p>
            <a:pPr algn="ctr"/>
            <a:r>
              <a:rPr sz="1050" b="0">
                <a:solidFill>
                  <a:srgbClr val="24392F"/>
                </a:solidFill>
                <a:latin typeface="맑은 고딕"/>
              </a:rPr>
              <a:t>받았어요</a:t>
            </a:r>
          </a:p>
        </p:txBody>
      </p:sp>
      <p:sp>
        <p:nvSpPr>
          <p:cNvPr id="33" name="Oval 32"/>
          <p:cNvSpPr/>
          <p:nvPr/>
        </p:nvSpPr>
        <p:spPr>
          <a:xfrm>
            <a:off x="8065008" y="2377440"/>
            <a:ext cx="310896" cy="310896"/>
          </a:xfrm>
          <a:prstGeom prst="ellipse">
            <a:avLst/>
          </a:prstGeom>
          <a:solidFill>
            <a:srgbClr val="2E6047"/>
          </a:solidFill>
          <a:ln w="2222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8412480" y="2532888"/>
            <a:ext cx="987552" cy="0"/>
          </a:xfrm>
          <a:prstGeom prst="line">
            <a:avLst/>
          </a:prstGeom>
          <a:ln w="31750">
            <a:solidFill>
              <a:srgbClr val="C9D1C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607808" y="2761488"/>
            <a:ext cx="1225296" cy="256032"/>
          </a:xfrm>
          <a:prstGeom prst="rect">
            <a:avLst/>
          </a:prstGeom>
          <a:noFill/>
        </p:spPr>
        <p:txBody>
          <a:bodyPr wrap="square" anchor="t" lIns="0" rIns="0" tIns="0" bIns="0">
            <a:spAutoFit/>
          </a:bodyPr>
          <a:lstStyle/>
          <a:p>
            <a:pPr algn="ctr"/>
            <a:r>
              <a:rPr sz="1050" b="0">
                <a:solidFill>
                  <a:srgbClr val="24392F"/>
                </a:solidFill>
                <a:latin typeface="맑은 고딕"/>
              </a:rPr>
              <a:t>일정 읽기</a:t>
            </a:r>
          </a:p>
        </p:txBody>
      </p:sp>
      <p:sp>
        <p:nvSpPr>
          <p:cNvPr id="36" name="Oval 35"/>
          <p:cNvSpPr/>
          <p:nvPr/>
        </p:nvSpPr>
        <p:spPr>
          <a:xfrm>
            <a:off x="9436608" y="2377440"/>
            <a:ext cx="310896" cy="310896"/>
          </a:xfrm>
          <a:prstGeom prst="ellipse">
            <a:avLst/>
          </a:prstGeom>
          <a:solidFill>
            <a:srgbClr val="FFFFFF"/>
          </a:solidFill>
          <a:ln w="2222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9784080" y="2532888"/>
            <a:ext cx="987552" cy="0"/>
          </a:xfrm>
          <a:prstGeom prst="line">
            <a:avLst/>
          </a:prstGeom>
          <a:ln w="31750">
            <a:solidFill>
              <a:srgbClr val="C9D1C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979408" y="2761488"/>
            <a:ext cx="1225296" cy="256032"/>
          </a:xfrm>
          <a:prstGeom prst="rect">
            <a:avLst/>
          </a:prstGeom>
          <a:noFill/>
        </p:spPr>
        <p:txBody>
          <a:bodyPr wrap="square" anchor="t" lIns="0" rIns="0" tIns="0" bIns="0">
            <a:spAutoFit/>
          </a:bodyPr>
          <a:lstStyle/>
          <a:p>
            <a:pPr algn="ctr"/>
            <a:r>
              <a:rPr sz="1050" b="0">
                <a:solidFill>
                  <a:srgbClr val="6D7C73"/>
                </a:solidFill>
                <a:latin typeface="맑은 고딕"/>
              </a:rPr>
              <a:t>장소 · 운영시간</a:t>
            </a:r>
          </a:p>
        </p:txBody>
      </p:sp>
      <p:sp>
        <p:nvSpPr>
          <p:cNvPr id="39" name="Oval 38"/>
          <p:cNvSpPr/>
          <p:nvPr/>
        </p:nvSpPr>
        <p:spPr>
          <a:xfrm>
            <a:off x="10808208" y="2377440"/>
            <a:ext cx="310896" cy="310896"/>
          </a:xfrm>
          <a:prstGeom prst="ellipse">
            <a:avLst/>
          </a:prstGeom>
          <a:solidFill>
            <a:srgbClr val="FFFFFF"/>
          </a:solidFill>
          <a:ln w="2222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51008" y="2761488"/>
            <a:ext cx="1225296" cy="256032"/>
          </a:xfrm>
          <a:prstGeom prst="rect">
            <a:avLst/>
          </a:prstGeom>
          <a:noFill/>
        </p:spPr>
        <p:txBody>
          <a:bodyPr wrap="square" anchor="t" lIns="0" rIns="0" tIns="0" bIns="0">
            <a:spAutoFit/>
          </a:bodyPr>
          <a:lstStyle/>
          <a:p>
            <a:pPr algn="ctr"/>
            <a:r>
              <a:rPr sz="1050" b="0">
                <a:solidFill>
                  <a:srgbClr val="6D7C73"/>
                </a:solidFill>
                <a:latin typeface="맑은 고딕"/>
              </a:rPr>
              <a:t>정리 완료</a:t>
            </a:r>
          </a:p>
        </p:txBody>
      </p:sp>
      <p:sp>
        <p:nvSpPr>
          <p:cNvPr id="41" name="TextBox 40"/>
          <p:cNvSpPr txBox="1"/>
          <p:nvPr/>
        </p:nvSpPr>
        <p:spPr>
          <a:xfrm>
            <a:off x="6556248" y="3182112"/>
            <a:ext cx="4663440" cy="640080"/>
          </a:xfrm>
          <a:prstGeom prst="rect">
            <a:avLst/>
          </a:prstGeom>
          <a:noFill/>
        </p:spPr>
        <p:txBody>
          <a:bodyPr wrap="square" anchor="t" lIns="0" rIns="0" tIns="0" bIns="0">
            <a:spAutoFit/>
          </a:bodyPr>
          <a:lstStyle/>
          <a:p>
            <a:pPr algn="l">
              <a:lnSpc>
                <a:spcPct val="115000"/>
              </a:lnSpc>
            </a:pPr>
            <a:r>
              <a:rPr sz="1200" b="0">
                <a:solidFill>
                  <a:srgbClr val="6D7C73"/>
                </a:solidFill>
                <a:latin typeface="맑은 고딕"/>
              </a:rPr>
              <a:t>수십 초 걸리는 일(계획 읽기 · 일정 짜기 · 채팅) 동안 지금 몇 단계인지와 3초마다 「살아 있음」 신호를 보냅니다.</a:t>
            </a:r>
          </a:p>
        </p:txBody>
      </p:sp>
      <p:sp>
        <p:nvSpPr>
          <p:cNvPr id="42" name="TextBox 41"/>
          <p:cNvSpPr txBox="1"/>
          <p:nvPr/>
        </p:nvSpPr>
        <p:spPr>
          <a:xfrm>
            <a:off x="6556248" y="3840480"/>
            <a:ext cx="4389120" cy="640080"/>
          </a:xfrm>
          <a:prstGeom prst="rect">
            <a:avLst/>
          </a:prstGeom>
          <a:noFill/>
        </p:spPr>
        <p:txBody>
          <a:bodyPr wrap="square" anchor="t" lIns="0" rIns="0" tIns="0" bIns="0">
            <a:spAutoFit/>
          </a:bodyPr>
          <a:lstStyle/>
          <a:p>
            <a:pPr algn="l"/>
            <a:r>
              <a:rPr sz="3000" b="1" spc="-50">
                <a:solidFill>
                  <a:srgbClr val="2E6047"/>
                </a:solidFill>
                <a:latin typeface="맑은 고딕"/>
              </a:rPr>
              <a:t>21 / 21</a:t>
            </a:r>
          </a:p>
        </p:txBody>
      </p:sp>
      <p:sp>
        <p:nvSpPr>
          <p:cNvPr id="43" name="TextBox 42"/>
          <p:cNvSpPr txBox="1"/>
          <p:nvPr/>
        </p:nvSpPr>
        <p:spPr>
          <a:xfrm>
            <a:off x="6556248" y="4335017"/>
            <a:ext cx="4389120" cy="320040"/>
          </a:xfrm>
          <a:prstGeom prst="rect">
            <a:avLst/>
          </a:prstGeom>
          <a:noFill/>
        </p:spPr>
        <p:txBody>
          <a:bodyPr wrap="square" anchor="t" lIns="0" rIns="0" tIns="0" bIns="0">
            <a:spAutoFit/>
          </a:bodyPr>
          <a:lstStyle/>
          <a:p>
            <a:pPr algn="l"/>
            <a:r>
              <a:rPr sz="1300" b="1">
                <a:solidFill>
                  <a:srgbClr val="24392F"/>
                </a:solidFill>
                <a:latin typeface="맑은 고딕"/>
              </a:rPr>
              <a:t>자동 시험 통과</a:t>
            </a:r>
          </a:p>
        </p:txBody>
      </p:sp>
      <p:sp>
        <p:nvSpPr>
          <p:cNvPr id="44" name="TextBox 43"/>
          <p:cNvSpPr txBox="1"/>
          <p:nvPr/>
        </p:nvSpPr>
        <p:spPr>
          <a:xfrm>
            <a:off x="6556248" y="4645914"/>
            <a:ext cx="4389120" cy="457200"/>
          </a:xfrm>
          <a:prstGeom prst="rect">
            <a:avLst/>
          </a:prstGeom>
          <a:noFill/>
        </p:spPr>
        <p:txBody>
          <a:bodyPr wrap="square" anchor="t" lIns="0" rIns="0" tIns="0" bIns="0">
            <a:spAutoFit/>
          </a:bodyPr>
          <a:lstStyle/>
          <a:p>
            <a:pPr algn="l"/>
            <a:r>
              <a:rPr sz="1000" b="0">
                <a:solidFill>
                  <a:srgbClr val="526858"/>
                </a:solidFill>
                <a:latin typeface="맑은 고딕"/>
              </a:rPr>
              <a:t>10-02 · 채팅 · 일정 짜기 · 계획 읽기</a:t>
            </a:r>
          </a:p>
        </p:txBody>
      </p:sp>
      <p:sp>
        <p:nvSpPr>
          <p:cNvPr id="45" name="TextBox 44"/>
          <p:cNvSpPr txBox="1"/>
          <p:nvPr/>
        </p:nvSpPr>
        <p:spPr>
          <a:xfrm>
            <a:off x="685800" y="5440680"/>
            <a:ext cx="1737360" cy="457200"/>
          </a:xfrm>
          <a:prstGeom prst="rect">
            <a:avLst/>
          </a:prstGeom>
          <a:noFill/>
        </p:spPr>
        <p:txBody>
          <a:bodyPr wrap="square" anchor="t" lIns="0" rIns="0" tIns="0" bIns="0">
            <a:spAutoFit/>
          </a:bodyPr>
          <a:lstStyle/>
          <a:p>
            <a:pPr algn="l"/>
            <a:r>
              <a:rPr sz="2200" b="1">
                <a:solidFill>
                  <a:srgbClr val="2E6047"/>
                </a:solidFill>
                <a:latin typeface="맑은 고딕"/>
              </a:rPr>
              <a:t>10 / 10</a:t>
            </a:r>
          </a:p>
        </p:txBody>
      </p:sp>
      <p:sp>
        <p:nvSpPr>
          <p:cNvPr id="46" name="TextBox 45"/>
          <p:cNvSpPr txBox="1"/>
          <p:nvPr/>
        </p:nvSpPr>
        <p:spPr>
          <a:xfrm>
            <a:off x="2468880" y="5458968"/>
            <a:ext cx="3566160" cy="274320"/>
          </a:xfrm>
          <a:prstGeom prst="rect">
            <a:avLst/>
          </a:prstGeom>
          <a:noFill/>
        </p:spPr>
        <p:txBody>
          <a:bodyPr wrap="square" anchor="t" lIns="0" rIns="0" tIns="0" bIns="0">
            <a:spAutoFit/>
          </a:bodyPr>
          <a:lstStyle/>
          <a:p>
            <a:pPr algn="l"/>
            <a:r>
              <a:rPr sz="1250" b="1">
                <a:solidFill>
                  <a:srgbClr val="24392F"/>
                </a:solidFill>
                <a:latin typeface="맑은 고딕"/>
              </a:rPr>
              <a:t>담당 다시 고르기</a:t>
            </a:r>
          </a:p>
        </p:txBody>
      </p:sp>
      <p:sp>
        <p:nvSpPr>
          <p:cNvPr id="47" name="TextBox 46"/>
          <p:cNvSpPr txBox="1"/>
          <p:nvPr/>
        </p:nvSpPr>
        <p:spPr>
          <a:xfrm>
            <a:off x="2468880" y="5724144"/>
            <a:ext cx="3566160" cy="274320"/>
          </a:xfrm>
          <a:prstGeom prst="rect">
            <a:avLst/>
          </a:prstGeom>
          <a:noFill/>
        </p:spPr>
        <p:txBody>
          <a:bodyPr wrap="square" anchor="t" lIns="0" rIns="0" tIns="0" bIns="0">
            <a:spAutoFit/>
          </a:bodyPr>
          <a:lstStyle/>
          <a:p>
            <a:pPr algn="l"/>
            <a:r>
              <a:rPr sz="1000" b="0">
                <a:solidFill>
                  <a:srgbClr val="526858"/>
                </a:solidFill>
                <a:latin typeface="맑은 고딕"/>
              </a:rPr>
              <a:t>맡을 담당 AI 가 없을 때 한 번 더 고름 · mock 서버 시험</a:t>
            </a:r>
          </a:p>
        </p:txBody>
      </p:sp>
      <p:sp>
        <p:nvSpPr>
          <p:cNvPr id="48" name="TextBox 47"/>
          <p:cNvSpPr txBox="1"/>
          <p:nvPr/>
        </p:nvSpPr>
        <p:spPr>
          <a:xfrm>
            <a:off x="6236208" y="5440680"/>
            <a:ext cx="1737360" cy="457200"/>
          </a:xfrm>
          <a:prstGeom prst="rect">
            <a:avLst/>
          </a:prstGeom>
          <a:noFill/>
        </p:spPr>
        <p:txBody>
          <a:bodyPr wrap="square" anchor="t" lIns="0" rIns="0" tIns="0" bIns="0">
            <a:spAutoFit/>
          </a:bodyPr>
          <a:lstStyle/>
          <a:p>
            <a:pPr algn="l"/>
            <a:r>
              <a:rPr sz="2200" b="1">
                <a:solidFill>
                  <a:srgbClr val="2E6047"/>
                </a:solidFill>
                <a:latin typeface="맑은 고딕"/>
              </a:rPr>
              <a:t>517 / 517</a:t>
            </a:r>
          </a:p>
        </p:txBody>
      </p:sp>
      <p:sp>
        <p:nvSpPr>
          <p:cNvPr id="49" name="TextBox 48"/>
          <p:cNvSpPr txBox="1"/>
          <p:nvPr/>
        </p:nvSpPr>
        <p:spPr>
          <a:xfrm>
            <a:off x="8019288" y="5458968"/>
            <a:ext cx="3566160" cy="274320"/>
          </a:xfrm>
          <a:prstGeom prst="rect">
            <a:avLst/>
          </a:prstGeom>
          <a:noFill/>
        </p:spPr>
        <p:txBody>
          <a:bodyPr wrap="square" anchor="t" lIns="0" rIns="0" tIns="0" bIns="0">
            <a:spAutoFit/>
          </a:bodyPr>
          <a:lstStyle/>
          <a:p>
            <a:pPr algn="l"/>
            <a:r>
              <a:rPr sz="1250" b="1">
                <a:solidFill>
                  <a:srgbClr val="24392F"/>
                </a:solidFill>
                <a:latin typeface="맑은 고딕"/>
              </a:rPr>
              <a:t>식당 담당 AI 시험</a:t>
            </a:r>
          </a:p>
        </p:txBody>
      </p:sp>
      <p:sp>
        <p:nvSpPr>
          <p:cNvPr id="50" name="TextBox 49"/>
          <p:cNvSpPr txBox="1"/>
          <p:nvPr/>
        </p:nvSpPr>
        <p:spPr>
          <a:xfrm>
            <a:off x="8019288" y="5724144"/>
            <a:ext cx="3566160" cy="274320"/>
          </a:xfrm>
          <a:prstGeom prst="rect">
            <a:avLst/>
          </a:prstGeom>
          <a:noFill/>
        </p:spPr>
        <p:txBody>
          <a:bodyPr wrap="square" anchor="t" lIns="0" rIns="0" tIns="0" bIns="0">
            <a:spAutoFit/>
          </a:bodyPr>
          <a:lstStyle/>
          <a:p>
            <a:pPr algn="l"/>
            <a:r>
              <a:rPr sz="1000" b="0">
                <a:solidFill>
                  <a:srgbClr val="526858"/>
                </a:solidFill>
                <a:latin typeface="맑은 고딕"/>
              </a:rPr>
              <a:t>팀원 정세환 · 10-06</a:t>
            </a:r>
          </a:p>
        </p:txBody>
      </p:sp>
      <p:sp>
        <p:nvSpPr>
          <p:cNvPr id="51" name="TextBox 50"/>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개인 AI 입구는 MCP 서버입니다. 디스코드 · 텔레그램 연결과 여행 삭제는 코드에 들어갔지만 x600 서버 반영과 실제 연결은 아직 확인하지 않았습니다.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THE MODEL TASK</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고객 말이 일정표의 몇 번 항목인지 찾습니다</a:t>
            </a:r>
          </a:p>
        </p:txBody>
      </p:sp>
      <p:sp>
        <p:nvSpPr>
          <p:cNvPr id="14" name="Rounded Rectangle 13"/>
          <p:cNvSpPr/>
          <p:nvPr/>
        </p:nvSpPr>
        <p:spPr>
          <a:xfrm>
            <a:off x="685800" y="1600200"/>
            <a:ext cx="3931920" cy="2743200"/>
          </a:xfrm>
          <a:prstGeom prst="roundRect">
            <a:avLst>
              <a:gd name="adj" fmla="val 7333"/>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1783080"/>
            <a:ext cx="3474720" cy="274320"/>
          </a:xfrm>
          <a:prstGeom prst="rect">
            <a:avLst/>
          </a:prstGeom>
          <a:noFill/>
        </p:spPr>
        <p:txBody>
          <a:bodyPr wrap="square" anchor="t" lIns="0" rIns="0" tIns="0" bIns="0">
            <a:spAutoFit/>
          </a:bodyPr>
          <a:lstStyle/>
          <a:p>
            <a:pPr algn="l"/>
            <a:r>
              <a:rPr sz="1100" b="1" spc="50">
                <a:solidFill>
                  <a:srgbClr val="6D7C73"/>
                </a:solidFill>
                <a:latin typeface="맑은 고딕"/>
              </a:rPr>
              <a:t>금요일 일정  ·  2027-11-05</a:t>
            </a:r>
          </a:p>
        </p:txBody>
      </p:sp>
      <p:sp>
        <p:nvSpPr>
          <p:cNvPr id="16" name="Rounded Rectangle 15"/>
          <p:cNvSpPr/>
          <p:nvPr/>
        </p:nvSpPr>
        <p:spPr>
          <a:xfrm>
            <a:off x="914400" y="2176272"/>
            <a:ext cx="3474720" cy="548640"/>
          </a:xfrm>
          <a:prstGeom prst="roundRect">
            <a:avLst>
              <a:gd name="adj" fmla="val 26666"/>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176272"/>
            <a:ext cx="548640" cy="548640"/>
          </a:xfrm>
          <a:prstGeom prst="rect">
            <a:avLst/>
          </a:prstGeom>
          <a:noFill/>
        </p:spPr>
        <p:txBody>
          <a:bodyPr wrap="square" anchor="ctr" lIns="0" rIns="0" tIns="0" bIns="0">
            <a:spAutoFit/>
          </a:bodyPr>
          <a:lstStyle/>
          <a:p>
            <a:pPr algn="l"/>
            <a:r>
              <a:rPr sz="1500" b="1">
                <a:solidFill>
                  <a:srgbClr val="6D7C73"/>
                </a:solidFill>
                <a:latin typeface="맑은 고딕"/>
              </a:rPr>
              <a:t>23</a:t>
            </a:r>
          </a:p>
        </p:txBody>
      </p:sp>
      <p:sp>
        <p:nvSpPr>
          <p:cNvPr id="18" name="TextBox 17"/>
          <p:cNvSpPr txBox="1"/>
          <p:nvPr/>
        </p:nvSpPr>
        <p:spPr>
          <a:xfrm>
            <a:off x="1600200" y="2176272"/>
            <a:ext cx="731520" cy="548640"/>
          </a:xfrm>
          <a:prstGeom prst="rect">
            <a:avLst/>
          </a:prstGeom>
          <a:noFill/>
        </p:spPr>
        <p:txBody>
          <a:bodyPr wrap="square" anchor="ctr" lIns="0" rIns="0" tIns="0" bIns="0">
            <a:spAutoFit/>
          </a:bodyPr>
          <a:lstStyle/>
          <a:p>
            <a:pPr algn="l"/>
            <a:r>
              <a:rPr sz="1200" b="0">
                <a:solidFill>
                  <a:srgbClr val="6D7C73"/>
                </a:solidFill>
                <a:latin typeface="맑은 고딕"/>
              </a:rPr>
              <a:t>13:30</a:t>
            </a:r>
          </a:p>
        </p:txBody>
      </p:sp>
      <p:sp>
        <p:nvSpPr>
          <p:cNvPr id="19" name="TextBox 18"/>
          <p:cNvSpPr txBox="1"/>
          <p:nvPr/>
        </p:nvSpPr>
        <p:spPr>
          <a:xfrm>
            <a:off x="2331720" y="2176272"/>
            <a:ext cx="2011680" cy="548640"/>
          </a:xfrm>
          <a:prstGeom prst="rect">
            <a:avLst/>
          </a:prstGeom>
          <a:noFill/>
        </p:spPr>
        <p:txBody>
          <a:bodyPr wrap="square" anchor="ctr" lIns="0" rIns="0" tIns="0" bIns="0">
            <a:spAutoFit/>
          </a:bodyPr>
          <a:lstStyle/>
          <a:p>
            <a:pPr algn="l"/>
            <a:r>
              <a:rPr sz="1300" b="0">
                <a:solidFill>
                  <a:srgbClr val="24392F"/>
                </a:solidFill>
                <a:latin typeface="맑은 고딕"/>
              </a:rPr>
              <a:t>대림미술관 전시 관람</a:t>
            </a:r>
          </a:p>
        </p:txBody>
      </p:sp>
      <p:sp>
        <p:nvSpPr>
          <p:cNvPr id="20" name="Rounded Rectangle 19"/>
          <p:cNvSpPr/>
          <p:nvPr/>
        </p:nvSpPr>
        <p:spPr>
          <a:xfrm>
            <a:off x="914400" y="2834639"/>
            <a:ext cx="3474720" cy="548640"/>
          </a:xfrm>
          <a:prstGeom prst="roundRect">
            <a:avLst>
              <a:gd name="adj" fmla="val 26666"/>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2834639"/>
            <a:ext cx="548640" cy="548640"/>
          </a:xfrm>
          <a:prstGeom prst="rect">
            <a:avLst/>
          </a:prstGeom>
          <a:noFill/>
        </p:spPr>
        <p:txBody>
          <a:bodyPr wrap="square" anchor="ctr" lIns="0" rIns="0" tIns="0" bIns="0">
            <a:spAutoFit/>
          </a:bodyPr>
          <a:lstStyle/>
          <a:p>
            <a:pPr algn="l"/>
            <a:r>
              <a:rPr sz="1500" b="1">
                <a:solidFill>
                  <a:srgbClr val="6D7C73"/>
                </a:solidFill>
                <a:latin typeface="맑은 고딕"/>
              </a:rPr>
              <a:t>24</a:t>
            </a:r>
          </a:p>
        </p:txBody>
      </p:sp>
      <p:sp>
        <p:nvSpPr>
          <p:cNvPr id="22" name="TextBox 21"/>
          <p:cNvSpPr txBox="1"/>
          <p:nvPr/>
        </p:nvSpPr>
        <p:spPr>
          <a:xfrm>
            <a:off x="1600200" y="2834639"/>
            <a:ext cx="731520" cy="548640"/>
          </a:xfrm>
          <a:prstGeom prst="rect">
            <a:avLst/>
          </a:prstGeom>
          <a:noFill/>
        </p:spPr>
        <p:txBody>
          <a:bodyPr wrap="square" anchor="ctr" lIns="0" rIns="0" tIns="0" bIns="0">
            <a:spAutoFit/>
          </a:bodyPr>
          <a:lstStyle/>
          <a:p>
            <a:pPr algn="l"/>
            <a:r>
              <a:rPr sz="1200" b="0">
                <a:solidFill>
                  <a:srgbClr val="6D7C73"/>
                </a:solidFill>
                <a:latin typeface="맑은 고딕"/>
              </a:rPr>
              <a:t>15:30</a:t>
            </a:r>
          </a:p>
        </p:txBody>
      </p:sp>
      <p:sp>
        <p:nvSpPr>
          <p:cNvPr id="23" name="TextBox 22"/>
          <p:cNvSpPr txBox="1"/>
          <p:nvPr/>
        </p:nvSpPr>
        <p:spPr>
          <a:xfrm>
            <a:off x="2331720" y="2834639"/>
            <a:ext cx="2011680" cy="548640"/>
          </a:xfrm>
          <a:prstGeom prst="rect">
            <a:avLst/>
          </a:prstGeom>
          <a:noFill/>
        </p:spPr>
        <p:txBody>
          <a:bodyPr wrap="square" anchor="ctr" lIns="0" rIns="0" tIns="0" bIns="0">
            <a:spAutoFit/>
          </a:bodyPr>
          <a:lstStyle/>
          <a:p>
            <a:pPr algn="l"/>
            <a:r>
              <a:rPr sz="1300" b="0">
                <a:solidFill>
                  <a:srgbClr val="24392F"/>
                </a:solidFill>
                <a:latin typeface="맑은 고딕"/>
              </a:rPr>
              <a:t>호텔 체크인</a:t>
            </a:r>
          </a:p>
        </p:txBody>
      </p:sp>
      <p:sp>
        <p:nvSpPr>
          <p:cNvPr id="24" name="Rounded Rectangle 23"/>
          <p:cNvSpPr/>
          <p:nvPr/>
        </p:nvSpPr>
        <p:spPr>
          <a:xfrm>
            <a:off x="914400" y="3493008"/>
            <a:ext cx="3474720" cy="548640"/>
          </a:xfrm>
          <a:prstGeom prst="roundRect">
            <a:avLst>
              <a:gd name="adj" fmla="val 26666"/>
            </a:avLst>
          </a:prstGeom>
          <a:solidFill>
            <a:srgbClr val="E9F2EB"/>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3493008"/>
            <a:ext cx="548640" cy="548640"/>
          </a:xfrm>
          <a:prstGeom prst="rect">
            <a:avLst/>
          </a:prstGeom>
          <a:noFill/>
        </p:spPr>
        <p:txBody>
          <a:bodyPr wrap="square" anchor="ctr" lIns="0" rIns="0" tIns="0" bIns="0">
            <a:spAutoFit/>
          </a:bodyPr>
          <a:lstStyle/>
          <a:p>
            <a:pPr algn="l"/>
            <a:r>
              <a:rPr sz="1500" b="1">
                <a:solidFill>
                  <a:srgbClr val="2E6047"/>
                </a:solidFill>
                <a:latin typeface="맑은 고딕"/>
              </a:rPr>
              <a:t>25</a:t>
            </a:r>
          </a:p>
        </p:txBody>
      </p:sp>
      <p:sp>
        <p:nvSpPr>
          <p:cNvPr id="26" name="TextBox 25"/>
          <p:cNvSpPr txBox="1"/>
          <p:nvPr/>
        </p:nvSpPr>
        <p:spPr>
          <a:xfrm>
            <a:off x="1600200" y="3493008"/>
            <a:ext cx="731520" cy="548640"/>
          </a:xfrm>
          <a:prstGeom prst="rect">
            <a:avLst/>
          </a:prstGeom>
          <a:noFill/>
        </p:spPr>
        <p:txBody>
          <a:bodyPr wrap="square" anchor="ctr" lIns="0" rIns="0" tIns="0" bIns="0">
            <a:spAutoFit/>
          </a:bodyPr>
          <a:lstStyle/>
          <a:p>
            <a:pPr algn="l"/>
            <a:r>
              <a:rPr sz="1200" b="0">
                <a:solidFill>
                  <a:srgbClr val="6D7C73"/>
                </a:solidFill>
                <a:latin typeface="맑은 고딕"/>
              </a:rPr>
              <a:t>16:30</a:t>
            </a:r>
          </a:p>
        </p:txBody>
      </p:sp>
      <p:sp>
        <p:nvSpPr>
          <p:cNvPr id="27" name="TextBox 26"/>
          <p:cNvSpPr txBox="1"/>
          <p:nvPr/>
        </p:nvSpPr>
        <p:spPr>
          <a:xfrm>
            <a:off x="2331720" y="3493008"/>
            <a:ext cx="2011680" cy="548640"/>
          </a:xfrm>
          <a:prstGeom prst="rect">
            <a:avLst/>
          </a:prstGeom>
          <a:noFill/>
        </p:spPr>
        <p:txBody>
          <a:bodyPr wrap="square" anchor="ctr" lIns="0" rIns="0" tIns="0" bIns="0">
            <a:spAutoFit/>
          </a:bodyPr>
          <a:lstStyle/>
          <a:p>
            <a:pPr algn="l"/>
            <a:r>
              <a:rPr sz="1300" b="1">
                <a:solidFill>
                  <a:srgbClr val="24392F"/>
                </a:solidFill>
                <a:latin typeface="맑은 고딕"/>
              </a:rPr>
              <a:t>피크닉 전시 보기</a:t>
            </a:r>
          </a:p>
        </p:txBody>
      </p:sp>
      <p:sp>
        <p:nvSpPr>
          <p:cNvPr id="28" name="Rounded Rectangle 27"/>
          <p:cNvSpPr/>
          <p:nvPr/>
        </p:nvSpPr>
        <p:spPr>
          <a:xfrm>
            <a:off x="5029200" y="1600200"/>
            <a:ext cx="3291840" cy="566928"/>
          </a:xfrm>
          <a:prstGeom prst="roundRect">
            <a:avLst>
              <a:gd name="adj" fmla="val 3548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0" y="1664208"/>
            <a:ext cx="2926080"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30" name="TextBox 29"/>
          <p:cNvSpPr txBox="1"/>
          <p:nvPr/>
        </p:nvSpPr>
        <p:spPr>
          <a:xfrm>
            <a:off x="5212080" y="1847088"/>
            <a:ext cx="2926080" cy="292608"/>
          </a:xfrm>
          <a:prstGeom prst="rect">
            <a:avLst/>
          </a:prstGeom>
          <a:noFill/>
        </p:spPr>
        <p:txBody>
          <a:bodyPr wrap="square" anchor="t" lIns="0" rIns="0" tIns="0" bIns="0">
            <a:spAutoFit/>
          </a:bodyPr>
          <a:lstStyle/>
          <a:p>
            <a:pPr algn="l"/>
            <a:r>
              <a:rPr sz="1300" b="0">
                <a:solidFill>
                  <a:srgbClr val="24392F"/>
                </a:solidFill>
                <a:latin typeface="맑은 고딕"/>
              </a:rPr>
              <a:t>금요일에 전시 뭐 봐?</a:t>
            </a:r>
          </a:p>
        </p:txBody>
      </p:sp>
      <p:sp>
        <p:nvSpPr>
          <p:cNvPr id="31" name="Rounded Rectangle 30"/>
          <p:cNvSpPr/>
          <p:nvPr/>
        </p:nvSpPr>
        <p:spPr>
          <a:xfrm>
            <a:off x="5577840" y="2286000"/>
            <a:ext cx="4114800" cy="566928"/>
          </a:xfrm>
          <a:prstGeom prst="roundRect">
            <a:avLst>
              <a:gd name="adj" fmla="val 35483"/>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60720" y="2350008"/>
            <a:ext cx="3749039" cy="201168"/>
          </a:xfrm>
          <a:prstGeom prst="rect">
            <a:avLst/>
          </a:prstGeom>
          <a:noFill/>
        </p:spPr>
        <p:txBody>
          <a:bodyPr wrap="square" anchor="t" lIns="0" rIns="0" tIns="0" bIns="0">
            <a:spAutoFit/>
          </a:bodyPr>
          <a:lstStyle/>
          <a:p>
            <a:pPr algn="l"/>
            <a:r>
              <a:rPr sz="900" b="1">
                <a:solidFill>
                  <a:srgbClr val="6D7C73"/>
                </a:solidFill>
                <a:latin typeface="맑은 고딕"/>
              </a:rPr>
              <a:t>triPilot</a:t>
            </a:r>
          </a:p>
        </p:txBody>
      </p:sp>
      <p:sp>
        <p:nvSpPr>
          <p:cNvPr id="33" name="TextBox 32"/>
          <p:cNvSpPr txBox="1"/>
          <p:nvPr/>
        </p:nvSpPr>
        <p:spPr>
          <a:xfrm>
            <a:off x="5760720" y="2532888"/>
            <a:ext cx="3749039" cy="292608"/>
          </a:xfrm>
          <a:prstGeom prst="rect">
            <a:avLst/>
          </a:prstGeom>
          <a:noFill/>
        </p:spPr>
        <p:txBody>
          <a:bodyPr wrap="square" anchor="t" lIns="0" rIns="0" tIns="0" bIns="0">
            <a:spAutoFit/>
          </a:bodyPr>
          <a:lstStyle/>
          <a:p>
            <a:pPr algn="l"/>
            <a:r>
              <a:rPr sz="1300" b="0">
                <a:solidFill>
                  <a:srgbClr val="24392F"/>
                </a:solidFill>
                <a:latin typeface="맑은 고딕"/>
              </a:rPr>
              <a:t>13:30 대림미술관, 16:30 피크닉 전시가 있어요.</a:t>
            </a:r>
          </a:p>
        </p:txBody>
      </p:sp>
      <p:sp>
        <p:nvSpPr>
          <p:cNvPr id="34" name="Rounded Rectangle 33"/>
          <p:cNvSpPr/>
          <p:nvPr/>
        </p:nvSpPr>
        <p:spPr>
          <a:xfrm>
            <a:off x="5029200" y="2971800"/>
            <a:ext cx="3291840" cy="566928"/>
          </a:xfrm>
          <a:prstGeom prst="roundRect">
            <a:avLst>
              <a:gd name="adj" fmla="val 3548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2080" y="3035808"/>
            <a:ext cx="2926080"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36" name="TextBox 35"/>
          <p:cNvSpPr txBox="1"/>
          <p:nvPr/>
        </p:nvSpPr>
        <p:spPr>
          <a:xfrm>
            <a:off x="5212080" y="3218688"/>
            <a:ext cx="2926080" cy="292608"/>
          </a:xfrm>
          <a:prstGeom prst="rect">
            <a:avLst/>
          </a:prstGeom>
          <a:noFill/>
        </p:spPr>
        <p:txBody>
          <a:bodyPr wrap="square" anchor="t" lIns="0" rIns="0" tIns="0" bIns="0">
            <a:spAutoFit/>
          </a:bodyPr>
          <a:lstStyle/>
          <a:p>
            <a:pPr algn="l"/>
            <a:r>
              <a:rPr sz="1300" b="0">
                <a:solidFill>
                  <a:srgbClr val="24392F"/>
                </a:solidFill>
                <a:latin typeface="맑은 고딕"/>
              </a:rPr>
              <a:t>뒤에 거 예매해야 돼?</a:t>
            </a:r>
          </a:p>
        </p:txBody>
      </p:sp>
      <p:sp>
        <p:nvSpPr>
          <p:cNvPr id="37" name="TextBox 36"/>
          <p:cNvSpPr txBox="1"/>
          <p:nvPr/>
        </p:nvSpPr>
        <p:spPr>
          <a:xfrm>
            <a:off x="8503920" y="3044952"/>
            <a:ext cx="457200" cy="457200"/>
          </a:xfrm>
          <a:prstGeom prst="rect">
            <a:avLst/>
          </a:prstGeom>
          <a:noFill/>
        </p:spPr>
        <p:txBody>
          <a:bodyPr wrap="square" anchor="t" lIns="0" rIns="0" tIns="0" bIns="0">
            <a:spAutoFit/>
          </a:bodyPr>
          <a:lstStyle/>
          <a:p>
            <a:pPr algn="l"/>
            <a:r>
              <a:rPr sz="2200" b="1">
                <a:solidFill>
                  <a:srgbClr val="2E6047"/>
                </a:solidFill>
                <a:latin typeface="맑은 고딕"/>
              </a:rPr>
              <a:t>→</a:t>
            </a:r>
          </a:p>
        </p:txBody>
      </p:sp>
      <p:sp>
        <p:nvSpPr>
          <p:cNvPr id="38" name="Rounded Rectangle 37"/>
          <p:cNvSpPr/>
          <p:nvPr/>
        </p:nvSpPr>
        <p:spPr>
          <a:xfrm>
            <a:off x="9006840" y="2971800"/>
            <a:ext cx="2468880" cy="566928"/>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06840" y="2971800"/>
            <a:ext cx="2468880" cy="566928"/>
          </a:xfrm>
          <a:prstGeom prst="rect">
            <a:avLst/>
          </a:prstGeom>
          <a:noFill/>
        </p:spPr>
        <p:txBody>
          <a:bodyPr wrap="square" anchor="ctr" lIns="0" rIns="0" tIns="0" bIns="0">
            <a:spAutoFit/>
          </a:bodyPr>
          <a:lstStyle/>
          <a:p>
            <a:pPr algn="ctr"/>
            <a:r>
              <a:rPr sz="1700" b="1">
                <a:solidFill>
                  <a:srgbClr val="FFFFFF"/>
                </a:solidFill>
                <a:latin typeface="맑은 고딕"/>
              </a:rPr>
              <a:t>정답  25번</a:t>
            </a:r>
          </a:p>
        </p:txBody>
      </p:sp>
      <p:sp>
        <p:nvSpPr>
          <p:cNvPr id="40" name="Rounded Rectangle 39"/>
          <p:cNvSpPr/>
          <p:nvPr/>
        </p:nvSpPr>
        <p:spPr>
          <a:xfrm>
            <a:off x="5029200" y="3767328"/>
            <a:ext cx="3291840" cy="566928"/>
          </a:xfrm>
          <a:prstGeom prst="roundRect">
            <a:avLst>
              <a:gd name="adj" fmla="val 3548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12080" y="3831336"/>
            <a:ext cx="2926080"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42" name="TextBox 41"/>
          <p:cNvSpPr txBox="1"/>
          <p:nvPr/>
        </p:nvSpPr>
        <p:spPr>
          <a:xfrm>
            <a:off x="5212080" y="4014216"/>
            <a:ext cx="2926080" cy="292608"/>
          </a:xfrm>
          <a:prstGeom prst="rect">
            <a:avLst/>
          </a:prstGeom>
          <a:noFill/>
        </p:spPr>
        <p:txBody>
          <a:bodyPr wrap="square" anchor="t" lIns="0" rIns="0" tIns="0" bIns="0">
            <a:spAutoFit/>
          </a:bodyPr>
          <a:lstStyle/>
          <a:p>
            <a:pPr algn="l"/>
            <a:r>
              <a:rPr sz="1300" b="0">
                <a:solidFill>
                  <a:srgbClr val="24392F"/>
                </a:solidFill>
                <a:latin typeface="맑은 고딕"/>
              </a:rPr>
              <a:t>남산타워 몇 시에 올라가?</a:t>
            </a:r>
          </a:p>
        </p:txBody>
      </p:sp>
      <p:sp>
        <p:nvSpPr>
          <p:cNvPr id="43" name="TextBox 42"/>
          <p:cNvSpPr txBox="1"/>
          <p:nvPr/>
        </p:nvSpPr>
        <p:spPr>
          <a:xfrm>
            <a:off x="8503920" y="3840480"/>
            <a:ext cx="457200" cy="457200"/>
          </a:xfrm>
          <a:prstGeom prst="rect">
            <a:avLst/>
          </a:prstGeom>
          <a:noFill/>
        </p:spPr>
        <p:txBody>
          <a:bodyPr wrap="square" anchor="t" lIns="0" rIns="0" tIns="0" bIns="0">
            <a:spAutoFit/>
          </a:bodyPr>
          <a:lstStyle/>
          <a:p>
            <a:pPr algn="l"/>
            <a:r>
              <a:rPr sz="2200" b="1">
                <a:solidFill>
                  <a:srgbClr val="6D7C73"/>
                </a:solidFill>
                <a:latin typeface="맑은 고딕"/>
              </a:rPr>
              <a:t>→</a:t>
            </a:r>
          </a:p>
        </p:txBody>
      </p:sp>
      <p:sp>
        <p:nvSpPr>
          <p:cNvPr id="44" name="Rounded Rectangle 43"/>
          <p:cNvSpPr/>
          <p:nvPr/>
        </p:nvSpPr>
        <p:spPr>
          <a:xfrm>
            <a:off x="9006840" y="3767328"/>
            <a:ext cx="2468880" cy="566928"/>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06840" y="3767328"/>
            <a:ext cx="2468880" cy="566928"/>
          </a:xfrm>
          <a:prstGeom prst="rect">
            <a:avLst/>
          </a:prstGeom>
          <a:noFill/>
        </p:spPr>
        <p:txBody>
          <a:bodyPr wrap="square" anchor="ctr" lIns="0" rIns="0" tIns="0" bIns="0">
            <a:spAutoFit/>
          </a:bodyPr>
          <a:lstStyle/>
          <a:p>
            <a:pPr algn="ctr"/>
            <a:r>
              <a:rPr sz="1700" b="1">
                <a:solidFill>
                  <a:srgbClr val="24392F"/>
                </a:solidFill>
                <a:latin typeface="맑은 고딕"/>
              </a:rPr>
              <a:t>정답  없음</a:t>
            </a:r>
          </a:p>
        </p:txBody>
      </p:sp>
      <p:sp>
        <p:nvSpPr>
          <p:cNvPr id="46" name="TextBox 45"/>
          <p:cNvSpPr txBox="1"/>
          <p:nvPr/>
        </p:nvSpPr>
        <p:spPr>
          <a:xfrm>
            <a:off x="9006840" y="4389120"/>
            <a:ext cx="2468880" cy="274320"/>
          </a:xfrm>
          <a:prstGeom prst="rect">
            <a:avLst/>
          </a:prstGeom>
          <a:noFill/>
        </p:spPr>
        <p:txBody>
          <a:bodyPr wrap="square" anchor="t" lIns="0" rIns="0" tIns="0" bIns="0">
            <a:spAutoFit/>
          </a:bodyPr>
          <a:lstStyle/>
          <a:p>
            <a:pPr algn="ctr"/>
            <a:r>
              <a:rPr sz="1000" b="0">
                <a:solidFill>
                  <a:srgbClr val="526858"/>
                </a:solidFill>
                <a:latin typeface="맑은 고딕"/>
              </a:rPr>
              <a:t>일정에 없는 곳은 지어내지 않음</a:t>
            </a:r>
          </a:p>
        </p:txBody>
      </p:sp>
      <p:cxnSp>
        <p:nvCxnSpPr>
          <p:cNvPr id="47" name="Connector 46"/>
          <p:cNvCxnSpPr/>
          <p:nvPr/>
        </p:nvCxnSpPr>
        <p:spPr>
          <a:xfrm>
            <a:off x="685800" y="4937760"/>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85800" y="5102352"/>
            <a:ext cx="3474720" cy="457200"/>
          </a:xfrm>
          <a:prstGeom prst="rect">
            <a:avLst/>
          </a:prstGeom>
          <a:noFill/>
        </p:spPr>
        <p:txBody>
          <a:bodyPr wrap="square" anchor="t" lIns="0" rIns="0" tIns="0" bIns="0">
            <a:spAutoFit/>
          </a:bodyPr>
          <a:lstStyle/>
          <a:p>
            <a:pPr algn="l"/>
            <a:r>
              <a:rPr sz="2200" b="1">
                <a:solidFill>
                  <a:srgbClr val="2E6047"/>
                </a:solidFill>
                <a:latin typeface="맑은 고딕"/>
              </a:rPr>
              <a:t>769문제</a:t>
            </a:r>
          </a:p>
        </p:txBody>
      </p:sp>
      <p:sp>
        <p:nvSpPr>
          <p:cNvPr id="49" name="TextBox 48"/>
          <p:cNvSpPr txBox="1"/>
          <p:nvPr/>
        </p:nvSpPr>
        <p:spPr>
          <a:xfrm>
            <a:off x="685800" y="5577840"/>
            <a:ext cx="347472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시험 세트 mix8~12 835문제에서
한 문장에 두 항목을 묻는 66문제를 뺀 주 지표</a:t>
            </a:r>
          </a:p>
        </p:txBody>
      </p:sp>
      <p:sp>
        <p:nvSpPr>
          <p:cNvPr id="50" name="TextBox 49"/>
          <p:cNvSpPr txBox="1"/>
          <p:nvPr/>
        </p:nvSpPr>
        <p:spPr>
          <a:xfrm>
            <a:off x="4325112" y="5102352"/>
            <a:ext cx="3474720" cy="457200"/>
          </a:xfrm>
          <a:prstGeom prst="rect">
            <a:avLst/>
          </a:prstGeom>
          <a:noFill/>
        </p:spPr>
        <p:txBody>
          <a:bodyPr wrap="square" anchor="t" lIns="0" rIns="0" tIns="0" bIns="0">
            <a:spAutoFit/>
          </a:bodyPr>
          <a:lstStyle/>
          <a:p>
            <a:pPr algn="l"/>
            <a:r>
              <a:rPr sz="2200" b="1">
                <a:solidFill>
                  <a:srgbClr val="2E6047"/>
                </a:solidFill>
                <a:latin typeface="맑은 고딕"/>
              </a:rPr>
              <a:t>11가지</a:t>
            </a:r>
          </a:p>
        </p:txBody>
      </p:sp>
      <p:sp>
        <p:nvSpPr>
          <p:cNvPr id="51" name="TextBox 50"/>
          <p:cNvSpPr txBox="1"/>
          <p:nvPr/>
        </p:nvSpPr>
        <p:spPr>
          <a:xfrm>
            <a:off x="4325112" y="5577840"/>
            <a:ext cx="347472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헷갈리게 만든 유형: 「거기」 · 비슷한 이름 ·
「~말고」 · 오타 · 잡담 · 없는 일정 등</a:t>
            </a:r>
          </a:p>
        </p:txBody>
      </p:sp>
      <p:sp>
        <p:nvSpPr>
          <p:cNvPr id="52" name="TextBox 51"/>
          <p:cNvSpPr txBox="1"/>
          <p:nvPr/>
        </p:nvSpPr>
        <p:spPr>
          <a:xfrm>
            <a:off x="7964424" y="5102352"/>
            <a:ext cx="3474720" cy="457200"/>
          </a:xfrm>
          <a:prstGeom prst="rect">
            <a:avLst/>
          </a:prstGeom>
          <a:noFill/>
        </p:spPr>
        <p:txBody>
          <a:bodyPr wrap="square" anchor="t" lIns="0" rIns="0" tIns="0" bIns="0">
            <a:spAutoFit/>
          </a:bodyPr>
          <a:lstStyle/>
          <a:p>
            <a:pPr algn="l"/>
            <a:r>
              <a:rPr sz="2200" b="1">
                <a:solidFill>
                  <a:srgbClr val="2E6047"/>
                </a:solidFill>
                <a:latin typeface="맑은 고딕"/>
              </a:rPr>
              <a:t>AI 합성</a:t>
            </a:r>
          </a:p>
        </p:txBody>
      </p:sp>
      <p:sp>
        <p:nvSpPr>
          <p:cNvPr id="53" name="TextBox 52"/>
          <p:cNvSpPr txBox="1"/>
          <p:nvPr/>
        </p:nvSpPr>
        <p:spPr>
          <a:xfrm>
            <a:off x="7964424" y="5577840"/>
            <a:ext cx="347472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Codex · Claude 가 쓴 문제.
처음 문제 · 체크리스트는 사람이 쓰고 일부 검수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FINE-TUNING</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4B 모델을 파인튜닝하니 27B 로컬 모델만큼 맞혔습니다</a:t>
            </a:r>
          </a:p>
        </p:txBody>
      </p:sp>
      <p:sp>
        <p:nvSpPr>
          <p:cNvPr id="14" name="TextBox 13"/>
          <p:cNvSpPr txBox="1"/>
          <p:nvPr/>
        </p:nvSpPr>
        <p:spPr>
          <a:xfrm>
            <a:off x="685800" y="1481328"/>
            <a:ext cx="6949440" cy="274320"/>
          </a:xfrm>
          <a:prstGeom prst="rect">
            <a:avLst/>
          </a:prstGeom>
          <a:noFill/>
        </p:spPr>
        <p:txBody>
          <a:bodyPr wrap="square" anchor="t" lIns="0" rIns="0" tIns="0" bIns="0">
            <a:spAutoFit/>
          </a:bodyPr>
          <a:lstStyle/>
          <a:p>
            <a:pPr algn="l"/>
            <a:r>
              <a:rPr sz="1100" b="1" spc="50">
                <a:solidFill>
                  <a:srgbClr val="6D7C73"/>
                </a:solidFill>
                <a:latin typeface="맑은 고딕"/>
              </a:rPr>
              <a:t>같은 769문제 · 맞힌 문제 수</a:t>
            </a:r>
          </a:p>
        </p:txBody>
      </p:sp>
      <p:pic>
        <p:nvPicPr>
          <p:cNvPr id="15" name="Picture 14" descr="finetune.png"/>
          <p:cNvPicPr>
            <a:picLocks noChangeAspect="1"/>
          </p:cNvPicPr>
          <p:nvPr/>
        </p:nvPicPr>
        <p:blipFill>
          <a:blip r:embed="rId2"/>
          <a:stretch>
            <a:fillRect/>
          </a:stretch>
        </p:blipFill>
        <p:spPr>
          <a:xfrm>
            <a:off x="594360" y="1783080"/>
            <a:ext cx="7223760" cy="3011303"/>
          </a:xfrm>
          <a:prstGeom prst="rect">
            <a:avLst/>
          </a:prstGeom>
        </p:spPr>
      </p:pic>
      <p:sp>
        <p:nvSpPr>
          <p:cNvPr id="16" name="TextBox 15"/>
          <p:cNvSpPr txBox="1"/>
          <p:nvPr/>
        </p:nvSpPr>
        <p:spPr>
          <a:xfrm>
            <a:off x="8229600" y="1600200"/>
            <a:ext cx="3291840" cy="274320"/>
          </a:xfrm>
          <a:prstGeom prst="rect">
            <a:avLst/>
          </a:prstGeom>
          <a:noFill/>
        </p:spPr>
        <p:txBody>
          <a:bodyPr wrap="square" anchor="t" lIns="0" rIns="0" tIns="0" bIns="0">
            <a:spAutoFit/>
          </a:bodyPr>
          <a:lstStyle/>
          <a:p>
            <a:pPr algn="l"/>
            <a:r>
              <a:rPr sz="1200" b="1">
                <a:solidFill>
                  <a:srgbClr val="6D7C73"/>
                </a:solidFill>
                <a:latin typeface="맑은 고딕"/>
              </a:rPr>
              <a:t>파인튜닝 전 → 후</a:t>
            </a:r>
          </a:p>
        </p:txBody>
      </p:sp>
      <p:sp>
        <p:nvSpPr>
          <p:cNvPr id="17" name="TextBox 16"/>
          <p:cNvSpPr txBox="1"/>
          <p:nvPr/>
        </p:nvSpPr>
        <p:spPr>
          <a:xfrm>
            <a:off x="8229600" y="1874519"/>
            <a:ext cx="3291840" cy="914400"/>
          </a:xfrm>
          <a:prstGeom prst="rect">
            <a:avLst/>
          </a:prstGeom>
          <a:noFill/>
        </p:spPr>
        <p:txBody>
          <a:bodyPr wrap="square" anchor="t" lIns="0" rIns="0" tIns="0" bIns="0">
            <a:spAutoFit/>
          </a:bodyPr>
          <a:lstStyle/>
          <a:p>
            <a:pPr algn="l"/>
            <a:r>
              <a:rPr sz="5800" b="1" spc="-150">
                <a:solidFill>
                  <a:srgbClr val="C9D1CB"/>
                </a:solidFill>
                <a:latin typeface="맑은 고딕"/>
              </a:rPr>
              <a:t>688</a:t>
            </a:r>
            <a:r>
              <a:rPr sz="3000" b="1" spc="-150">
                <a:solidFill>
                  <a:srgbClr val="6D7C73"/>
                </a:solidFill>
                <a:latin typeface="맑은 고딕"/>
              </a:rPr>
              <a:t>  →  </a:t>
            </a:r>
            <a:r>
              <a:rPr sz="5800" b="1" spc="-150">
                <a:solidFill>
                  <a:srgbClr val="2E6047"/>
                </a:solidFill>
                <a:latin typeface="맑은 고딕"/>
              </a:rPr>
              <a:t>760</a:t>
            </a:r>
          </a:p>
        </p:txBody>
      </p:sp>
      <p:sp>
        <p:nvSpPr>
          <p:cNvPr id="18" name="TextBox 17"/>
          <p:cNvSpPr txBox="1"/>
          <p:nvPr/>
        </p:nvSpPr>
        <p:spPr>
          <a:xfrm>
            <a:off x="8229600" y="2880360"/>
            <a:ext cx="3566160" cy="822960"/>
          </a:xfrm>
          <a:prstGeom prst="rect">
            <a:avLst/>
          </a:prstGeom>
          <a:noFill/>
        </p:spPr>
        <p:txBody>
          <a:bodyPr wrap="square" anchor="t" lIns="0" rIns="0" tIns="0" bIns="0">
            <a:spAutoFit/>
          </a:bodyPr>
          <a:lstStyle/>
          <a:p>
            <a:pPr algn="l">
              <a:lnSpc>
                <a:spcPct val="120000"/>
              </a:lnSpc>
            </a:pPr>
            <a:r>
              <a:rPr sz="1100" b="0">
                <a:solidFill>
                  <a:srgbClr val="526858"/>
                </a:solidFill>
                <a:latin typeface="맑은 고딕"/>
              </a:rPr>
              <a:t>갈린 문제 69 : 7 (p=6.4e-14).
시드만 바꾸면 750 · 760 으로 흔들려
4B 모델끼리는 순위를 매기지 않습니다.</a:t>
            </a:r>
          </a:p>
        </p:txBody>
      </p:sp>
      <p:cxnSp>
        <p:nvCxnSpPr>
          <p:cNvPr id="19" name="Connector 18"/>
          <p:cNvCxnSpPr/>
          <p:nvPr/>
        </p:nvCxnSpPr>
        <p:spPr>
          <a:xfrm>
            <a:off x="8229600" y="3931920"/>
            <a:ext cx="329184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0" y="4114800"/>
            <a:ext cx="3566160" cy="640080"/>
          </a:xfrm>
          <a:prstGeom prst="rect">
            <a:avLst/>
          </a:prstGeom>
          <a:noFill/>
        </p:spPr>
        <p:txBody>
          <a:bodyPr wrap="square" anchor="t" lIns="0" rIns="0" tIns="0" bIns="0">
            <a:spAutoFit/>
          </a:bodyPr>
          <a:lstStyle/>
          <a:p>
            <a:pPr algn="l"/>
            <a:r>
              <a:rPr sz="3000" b="1" spc="-50">
                <a:solidFill>
                  <a:srgbClr val="2E6047"/>
                </a:solidFill>
                <a:latin typeface="맑은 고딕"/>
              </a:rPr>
              <a:t>4.55초</a:t>
            </a:r>
          </a:p>
        </p:txBody>
      </p:sp>
      <p:sp>
        <p:nvSpPr>
          <p:cNvPr id="21" name="TextBox 20"/>
          <p:cNvSpPr txBox="1"/>
          <p:nvPr/>
        </p:nvSpPr>
        <p:spPr>
          <a:xfrm>
            <a:off x="8229600" y="4609337"/>
            <a:ext cx="3566160" cy="320040"/>
          </a:xfrm>
          <a:prstGeom prst="rect">
            <a:avLst/>
          </a:prstGeom>
          <a:noFill/>
        </p:spPr>
        <p:txBody>
          <a:bodyPr wrap="square" anchor="t" lIns="0" rIns="0" tIns="0" bIns="0">
            <a:spAutoFit/>
          </a:bodyPr>
          <a:lstStyle/>
          <a:p>
            <a:pPr algn="l"/>
            <a:r>
              <a:rPr sz="1300" b="1">
                <a:solidFill>
                  <a:srgbClr val="24392F"/>
                </a:solidFill>
                <a:latin typeface="맑은 고딕"/>
              </a:rPr>
              <a:t>GPU 없이 CPU 4코어</a:t>
            </a:r>
          </a:p>
        </p:txBody>
      </p:sp>
      <p:sp>
        <p:nvSpPr>
          <p:cNvPr id="22" name="TextBox 21"/>
          <p:cNvSpPr txBox="1"/>
          <p:nvPr/>
        </p:nvSpPr>
        <p:spPr>
          <a:xfrm>
            <a:off x="8229600" y="4920234"/>
            <a:ext cx="3566160" cy="457200"/>
          </a:xfrm>
          <a:prstGeom prst="rect">
            <a:avLst/>
          </a:prstGeom>
          <a:noFill/>
        </p:spPr>
        <p:txBody>
          <a:bodyPr wrap="square" anchor="t" lIns="0" rIns="0" tIns="0" bIns="0">
            <a:spAutoFit/>
          </a:bodyPr>
          <a:lstStyle/>
          <a:p>
            <a:pPr algn="l"/>
            <a:r>
              <a:rPr sz="1000" b="0">
                <a:solidFill>
                  <a:srgbClr val="526858"/>
                </a:solidFill>
                <a:latin typeface="맑은 고딕"/>
              </a:rPr>
              <a:t>이어지는 질문 평균 (새 일정 첫 질문 67.5초)</a:t>
            </a:r>
          </a:p>
        </p:txBody>
      </p:sp>
      <p:sp>
        <p:nvSpPr>
          <p:cNvPr id="23" name="TextBox 22"/>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학습 자료: 연습문제 1,760개(처음 문제 · 체크리스트는 사람이 쓰고 Claude 가 늘림). Winnow-E4B 는 Jev 계열 결정 모델로, 같은 방법으로 파인튜닝한 값입니다.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HOW WE FINE-TUNED</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Gemma 4 E4B 를 이렇게 가르치고 이렇게 검증했습니다</a:t>
            </a:r>
          </a:p>
        </p:txBody>
      </p:sp>
      <p:sp>
        <p:nvSpPr>
          <p:cNvPr id="14" name="Rounded Rectangle 13"/>
          <p:cNvSpPr/>
          <p:nvPr/>
        </p:nvSpPr>
        <p:spPr>
          <a:xfrm>
            <a:off x="685800" y="1572768"/>
            <a:ext cx="199339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사람</a:t>
            </a:r>
          </a:p>
        </p:txBody>
      </p:sp>
      <p:sp>
        <p:nvSpPr>
          <p:cNvPr id="16" name="TextBox 15"/>
          <p:cNvSpPr txBox="1"/>
          <p:nvPr/>
        </p:nvSpPr>
        <p:spPr>
          <a:xfrm>
            <a:off x="850392"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처음 문제 · 체크리스트 작성</a:t>
            </a:r>
          </a:p>
        </p:txBody>
      </p:sp>
      <p:sp>
        <p:nvSpPr>
          <p:cNvPr id="17" name="TextBox 16"/>
          <p:cNvSpPr txBox="1"/>
          <p:nvPr/>
        </p:nvSpPr>
        <p:spPr>
          <a:xfrm>
            <a:off x="2679192" y="1572768"/>
            <a:ext cx="210312" cy="1143000"/>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18" name="Rounded Rectangle 17"/>
          <p:cNvSpPr/>
          <p:nvPr/>
        </p:nvSpPr>
        <p:spPr>
          <a:xfrm>
            <a:off x="2889504" y="1572768"/>
            <a:ext cx="199339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54096"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Claude</a:t>
            </a:r>
          </a:p>
        </p:txBody>
      </p:sp>
      <p:sp>
        <p:nvSpPr>
          <p:cNvPr id="20" name="TextBox 19"/>
          <p:cNvSpPr txBox="1"/>
          <p:nvPr/>
        </p:nvSpPr>
        <p:spPr>
          <a:xfrm>
            <a:off x="3054096"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여행자 10명 일정 +
연습문제 1,760개</a:t>
            </a:r>
          </a:p>
        </p:txBody>
      </p:sp>
      <p:sp>
        <p:nvSpPr>
          <p:cNvPr id="21" name="TextBox 20"/>
          <p:cNvSpPr txBox="1"/>
          <p:nvPr/>
        </p:nvSpPr>
        <p:spPr>
          <a:xfrm>
            <a:off x="4882896" y="1572768"/>
            <a:ext cx="210312" cy="1143000"/>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22" name="Rounded Rectangle 21"/>
          <p:cNvSpPr/>
          <p:nvPr/>
        </p:nvSpPr>
        <p:spPr>
          <a:xfrm>
            <a:off x="5093208" y="1572768"/>
            <a:ext cx="199339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별도 풀이</a:t>
            </a:r>
          </a:p>
        </p:txBody>
      </p:sp>
      <p:sp>
        <p:nvSpPr>
          <p:cNvPr id="24" name="TextBox 23"/>
          <p:cNvSpPr txBox="1"/>
          <p:nvPr/>
        </p:nvSpPr>
        <p:spPr>
          <a:xfrm>
            <a:off x="5257800"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정답 1,760/1,760 일치</a:t>
            </a:r>
          </a:p>
        </p:txBody>
      </p:sp>
      <p:sp>
        <p:nvSpPr>
          <p:cNvPr id="25" name="TextBox 24"/>
          <p:cNvSpPr txBox="1"/>
          <p:nvPr/>
        </p:nvSpPr>
        <p:spPr>
          <a:xfrm>
            <a:off x="7086600" y="1572768"/>
            <a:ext cx="210312" cy="1143000"/>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26" name="Rounded Rectangle 25"/>
          <p:cNvSpPr/>
          <p:nvPr/>
        </p:nvSpPr>
        <p:spPr>
          <a:xfrm>
            <a:off x="7296912" y="1572768"/>
            <a:ext cx="199339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61504"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겹침 제거</a:t>
            </a:r>
          </a:p>
        </p:txBody>
      </p:sp>
      <p:sp>
        <p:nvSpPr>
          <p:cNvPr id="28" name="TextBox 27"/>
          <p:cNvSpPr txBox="1"/>
          <p:nvPr/>
        </p:nvSpPr>
        <p:spPr>
          <a:xfrm>
            <a:off x="7461504"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시험 문제와 같거나
비슷한 122개 뺌</a:t>
            </a:r>
          </a:p>
        </p:txBody>
      </p:sp>
      <p:sp>
        <p:nvSpPr>
          <p:cNvPr id="29" name="TextBox 28"/>
          <p:cNvSpPr txBox="1"/>
          <p:nvPr/>
        </p:nvSpPr>
        <p:spPr>
          <a:xfrm>
            <a:off x="9290304" y="1572768"/>
            <a:ext cx="210312" cy="1143000"/>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30" name="Rounded Rectangle 29"/>
          <p:cNvSpPr/>
          <p:nvPr/>
        </p:nvSpPr>
        <p:spPr>
          <a:xfrm>
            <a:off x="9500616" y="1572768"/>
            <a:ext cx="1993392" cy="1143000"/>
          </a:xfrm>
          <a:prstGeom prst="roundRect">
            <a:avLst>
              <a:gd name="adj" fmla="val 16000"/>
            </a:avLst>
          </a:prstGeom>
          <a:solidFill>
            <a:srgbClr val="E9F2EB"/>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65208"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나누기</a:t>
            </a:r>
          </a:p>
        </p:txBody>
      </p:sp>
      <p:sp>
        <p:nvSpPr>
          <p:cNvPr id="32" name="TextBox 31"/>
          <p:cNvSpPr txBox="1"/>
          <p:nvPr/>
        </p:nvSpPr>
        <p:spPr>
          <a:xfrm>
            <a:off x="9665208"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학습 1,313 · 여행자 8명
검증 325 · 다른 2명</a:t>
            </a:r>
          </a:p>
        </p:txBody>
      </p:sp>
      <p:sp>
        <p:nvSpPr>
          <p:cNvPr id="33" name="Rounded Rectangle 32"/>
          <p:cNvSpPr/>
          <p:nvPr/>
        </p:nvSpPr>
        <p:spPr>
          <a:xfrm>
            <a:off x="685800" y="2971800"/>
            <a:ext cx="5257800" cy="3154680"/>
          </a:xfrm>
          <a:prstGeom prst="roundRect">
            <a:avLst>
              <a:gd name="adj" fmla="val 6376"/>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3127248"/>
            <a:ext cx="4754880" cy="274320"/>
          </a:xfrm>
          <a:prstGeom prst="rect">
            <a:avLst/>
          </a:prstGeom>
          <a:noFill/>
        </p:spPr>
        <p:txBody>
          <a:bodyPr wrap="square" anchor="t" lIns="0" rIns="0" tIns="0" bIns="0">
            <a:spAutoFit/>
          </a:bodyPr>
          <a:lstStyle/>
          <a:p>
            <a:pPr algn="l"/>
            <a:r>
              <a:rPr sz="1300" b="1">
                <a:solidFill>
                  <a:srgbClr val="24392F"/>
                </a:solidFill>
                <a:latin typeface="맑은 고딕"/>
              </a:rPr>
              <a:t>학습 설정 (평가를 보기 전에 하나로 고정)</a:t>
            </a:r>
          </a:p>
        </p:txBody>
      </p:sp>
      <p:sp>
        <p:nvSpPr>
          <p:cNvPr id="35" name="TextBox 34"/>
          <p:cNvSpPr txBox="1"/>
          <p:nvPr/>
        </p:nvSpPr>
        <p:spPr>
          <a:xfrm>
            <a:off x="960120" y="3520440"/>
            <a:ext cx="1234440" cy="365760"/>
          </a:xfrm>
          <a:prstGeom prst="rect">
            <a:avLst/>
          </a:prstGeom>
          <a:noFill/>
        </p:spPr>
        <p:txBody>
          <a:bodyPr wrap="square" anchor="t" lIns="0" rIns="0" tIns="0" bIns="0">
            <a:spAutoFit/>
          </a:bodyPr>
          <a:lstStyle/>
          <a:p>
            <a:pPr algn="l"/>
            <a:r>
              <a:rPr sz="1100" b="1">
                <a:solidFill>
                  <a:srgbClr val="6D7C73"/>
                </a:solidFill>
                <a:latin typeface="맑은 고딕"/>
              </a:rPr>
              <a:t>기초 모델</a:t>
            </a:r>
          </a:p>
        </p:txBody>
      </p:sp>
      <p:sp>
        <p:nvSpPr>
          <p:cNvPr id="36" name="TextBox 35"/>
          <p:cNvSpPr txBox="1"/>
          <p:nvPr/>
        </p:nvSpPr>
        <p:spPr>
          <a:xfrm>
            <a:off x="2194560" y="3520440"/>
            <a:ext cx="3566160" cy="411480"/>
          </a:xfrm>
          <a:prstGeom prst="rect">
            <a:avLst/>
          </a:prstGeom>
          <a:noFill/>
        </p:spPr>
        <p:txBody>
          <a:bodyPr wrap="square" anchor="t" lIns="0" rIns="0" tIns="0" bIns="0">
            <a:spAutoFit/>
          </a:bodyPr>
          <a:lstStyle/>
          <a:p>
            <a:pPr algn="l"/>
            <a:r>
              <a:rPr sz="1150" b="0">
                <a:solidFill>
                  <a:srgbClr val="24392F"/>
                </a:solidFill>
                <a:latin typeface="맑은 고딕"/>
              </a:rPr>
              <a:t>google/gemma-4-E4B-it · 4비트 NF4</a:t>
            </a:r>
          </a:p>
        </p:txBody>
      </p:sp>
      <p:cxnSp>
        <p:nvCxnSpPr>
          <p:cNvPr id="37" name="Connector 36"/>
          <p:cNvCxnSpPr/>
          <p:nvPr/>
        </p:nvCxnSpPr>
        <p:spPr>
          <a:xfrm>
            <a:off x="960120" y="3941063"/>
            <a:ext cx="47091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0120" y="4005072"/>
            <a:ext cx="1234440" cy="365760"/>
          </a:xfrm>
          <a:prstGeom prst="rect">
            <a:avLst/>
          </a:prstGeom>
          <a:noFill/>
        </p:spPr>
        <p:txBody>
          <a:bodyPr wrap="square" anchor="t" lIns="0" rIns="0" tIns="0" bIns="0">
            <a:spAutoFit/>
          </a:bodyPr>
          <a:lstStyle/>
          <a:p>
            <a:pPr algn="l"/>
            <a:r>
              <a:rPr sz="1100" b="1">
                <a:solidFill>
                  <a:srgbClr val="6D7C73"/>
                </a:solidFill>
                <a:latin typeface="맑은 고딕"/>
              </a:rPr>
              <a:t>방법</a:t>
            </a:r>
          </a:p>
        </p:txBody>
      </p:sp>
      <p:sp>
        <p:nvSpPr>
          <p:cNvPr id="39" name="TextBox 38"/>
          <p:cNvSpPr txBox="1"/>
          <p:nvPr/>
        </p:nvSpPr>
        <p:spPr>
          <a:xfrm>
            <a:off x="2194560" y="4005072"/>
            <a:ext cx="3566160" cy="411480"/>
          </a:xfrm>
          <a:prstGeom prst="rect">
            <a:avLst/>
          </a:prstGeom>
          <a:noFill/>
        </p:spPr>
        <p:txBody>
          <a:bodyPr wrap="square" anchor="t" lIns="0" rIns="0" tIns="0" bIns="0">
            <a:spAutoFit/>
          </a:bodyPr>
          <a:lstStyle/>
          <a:p>
            <a:pPr algn="l"/>
            <a:r>
              <a:rPr sz="1150" b="0">
                <a:solidFill>
                  <a:srgbClr val="24392F"/>
                </a:solidFill>
                <a:latin typeface="맑은 고딕"/>
              </a:rPr>
              <a:t>QLoRA · LoRA rank 16 · alpha 32 · 선형층 7종</a:t>
            </a:r>
          </a:p>
        </p:txBody>
      </p:sp>
      <p:cxnSp>
        <p:nvCxnSpPr>
          <p:cNvPr id="40" name="Connector 39"/>
          <p:cNvCxnSpPr/>
          <p:nvPr/>
        </p:nvCxnSpPr>
        <p:spPr>
          <a:xfrm>
            <a:off x="960120" y="4425696"/>
            <a:ext cx="47091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60120" y="4489704"/>
            <a:ext cx="1234440" cy="365760"/>
          </a:xfrm>
          <a:prstGeom prst="rect">
            <a:avLst/>
          </a:prstGeom>
          <a:noFill/>
        </p:spPr>
        <p:txBody>
          <a:bodyPr wrap="square" anchor="t" lIns="0" rIns="0" tIns="0" bIns="0">
            <a:spAutoFit/>
          </a:bodyPr>
          <a:lstStyle/>
          <a:p>
            <a:pPr algn="l"/>
            <a:r>
              <a:rPr sz="1100" b="1">
                <a:solidFill>
                  <a:srgbClr val="6D7C73"/>
                </a:solidFill>
                <a:latin typeface="맑은 고딕"/>
              </a:rPr>
              <a:t>최적화</a:t>
            </a:r>
          </a:p>
        </p:txBody>
      </p:sp>
      <p:sp>
        <p:nvSpPr>
          <p:cNvPr id="42" name="TextBox 41"/>
          <p:cNvSpPr txBox="1"/>
          <p:nvPr/>
        </p:nvSpPr>
        <p:spPr>
          <a:xfrm>
            <a:off x="2194560" y="4489704"/>
            <a:ext cx="3566160" cy="411480"/>
          </a:xfrm>
          <a:prstGeom prst="rect">
            <a:avLst/>
          </a:prstGeom>
          <a:noFill/>
        </p:spPr>
        <p:txBody>
          <a:bodyPr wrap="square" anchor="t" lIns="0" rIns="0" tIns="0" bIns="0">
            <a:spAutoFit/>
          </a:bodyPr>
          <a:lstStyle/>
          <a:p>
            <a:pPr algn="l"/>
            <a:r>
              <a:rPr sz="1150" b="0">
                <a:solidFill>
                  <a:srgbClr val="24392F"/>
                </a:solidFill>
                <a:latin typeface="맑은 고딕"/>
              </a:rPr>
              <a:t>AdamW · 학습률 2e-4 · 2 epoch · 유효 배치 8</a:t>
            </a:r>
          </a:p>
        </p:txBody>
      </p:sp>
      <p:cxnSp>
        <p:nvCxnSpPr>
          <p:cNvPr id="43" name="Connector 42"/>
          <p:cNvCxnSpPr/>
          <p:nvPr/>
        </p:nvCxnSpPr>
        <p:spPr>
          <a:xfrm>
            <a:off x="960120" y="4910328"/>
            <a:ext cx="47091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0120" y="4974336"/>
            <a:ext cx="1234440" cy="365760"/>
          </a:xfrm>
          <a:prstGeom prst="rect">
            <a:avLst/>
          </a:prstGeom>
          <a:noFill/>
        </p:spPr>
        <p:txBody>
          <a:bodyPr wrap="square" anchor="t" lIns="0" rIns="0" tIns="0" bIns="0">
            <a:spAutoFit/>
          </a:bodyPr>
          <a:lstStyle/>
          <a:p>
            <a:pPr algn="l"/>
            <a:r>
              <a:rPr sz="1100" b="1">
                <a:solidFill>
                  <a:srgbClr val="6D7C73"/>
                </a:solidFill>
                <a:latin typeface="맑은 고딕"/>
              </a:rPr>
              <a:t>손실</a:t>
            </a:r>
          </a:p>
        </p:txBody>
      </p:sp>
      <p:sp>
        <p:nvSpPr>
          <p:cNvPr id="45" name="TextBox 44"/>
          <p:cNvSpPr txBox="1"/>
          <p:nvPr/>
        </p:nvSpPr>
        <p:spPr>
          <a:xfrm>
            <a:off x="2194560" y="4974336"/>
            <a:ext cx="3566160" cy="411480"/>
          </a:xfrm>
          <a:prstGeom prst="rect">
            <a:avLst/>
          </a:prstGeom>
          <a:noFill/>
        </p:spPr>
        <p:txBody>
          <a:bodyPr wrap="square" anchor="t" lIns="0" rIns="0" tIns="0" bIns="0">
            <a:spAutoFit/>
          </a:bodyPr>
          <a:lstStyle/>
          <a:p>
            <a:pPr algn="l"/>
            <a:r>
              <a:rPr sz="1150" b="0">
                <a:solidFill>
                  <a:srgbClr val="24392F"/>
                </a:solidFill>
                <a:latin typeface="맑은 고딕"/>
              </a:rPr>
              <a:t>정답 토큰에만</a:t>
            </a:r>
          </a:p>
        </p:txBody>
      </p:sp>
      <p:cxnSp>
        <p:nvCxnSpPr>
          <p:cNvPr id="46" name="Connector 45"/>
          <p:cNvCxnSpPr/>
          <p:nvPr/>
        </p:nvCxnSpPr>
        <p:spPr>
          <a:xfrm>
            <a:off x="960120" y="5394960"/>
            <a:ext cx="47091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60120" y="5458968"/>
            <a:ext cx="1234440" cy="365760"/>
          </a:xfrm>
          <a:prstGeom prst="rect">
            <a:avLst/>
          </a:prstGeom>
          <a:noFill/>
        </p:spPr>
        <p:txBody>
          <a:bodyPr wrap="square" anchor="t" lIns="0" rIns="0" tIns="0" bIns="0">
            <a:spAutoFit/>
          </a:bodyPr>
          <a:lstStyle/>
          <a:p>
            <a:pPr algn="l"/>
            <a:r>
              <a:rPr sz="1100" b="1">
                <a:solidFill>
                  <a:srgbClr val="6D7C73"/>
                </a:solidFill>
                <a:latin typeface="맑은 고딕"/>
              </a:rPr>
              <a:t>장비 · 시간</a:t>
            </a:r>
          </a:p>
        </p:txBody>
      </p:sp>
      <p:sp>
        <p:nvSpPr>
          <p:cNvPr id="48" name="TextBox 47"/>
          <p:cNvSpPr txBox="1"/>
          <p:nvPr/>
        </p:nvSpPr>
        <p:spPr>
          <a:xfrm>
            <a:off x="2194560" y="5458968"/>
            <a:ext cx="3566160" cy="411480"/>
          </a:xfrm>
          <a:prstGeom prst="rect">
            <a:avLst/>
          </a:prstGeom>
          <a:noFill/>
        </p:spPr>
        <p:txBody>
          <a:bodyPr wrap="square" anchor="t" lIns="0" rIns="0" tIns="0" bIns="0">
            <a:spAutoFit/>
          </a:bodyPr>
          <a:lstStyle/>
          <a:p>
            <a:pPr algn="l"/>
            <a:r>
              <a:rPr sz="1150" b="0">
                <a:solidFill>
                  <a:srgbClr val="24392F"/>
                </a:solidFill>
                <a:latin typeface="맑은 고딕"/>
              </a:rPr>
              <a:t>GPU 서버 B RTX A4000 16GB · 148.7분 · 최대 10.6GB</a:t>
            </a:r>
          </a:p>
        </p:txBody>
      </p:sp>
      <p:sp>
        <p:nvSpPr>
          <p:cNvPr id="49" name="Rounded Rectangle 48"/>
          <p:cNvSpPr/>
          <p:nvPr/>
        </p:nvSpPr>
        <p:spPr>
          <a:xfrm>
            <a:off x="6236208" y="2971800"/>
            <a:ext cx="5266944" cy="3154680"/>
          </a:xfrm>
          <a:prstGeom prst="roundRect">
            <a:avLst>
              <a:gd name="adj" fmla="val 6376"/>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10528" y="3127248"/>
            <a:ext cx="4754880" cy="274320"/>
          </a:xfrm>
          <a:prstGeom prst="rect">
            <a:avLst/>
          </a:prstGeom>
          <a:noFill/>
        </p:spPr>
        <p:txBody>
          <a:bodyPr wrap="square" anchor="t" lIns="0" rIns="0" tIns="0" bIns="0">
            <a:spAutoFit/>
          </a:bodyPr>
          <a:lstStyle/>
          <a:p>
            <a:pPr algn="l"/>
            <a:r>
              <a:rPr sz="1300" b="1">
                <a:solidFill>
                  <a:srgbClr val="24392F"/>
                </a:solidFill>
                <a:latin typeface="맑은 고딕"/>
              </a:rPr>
              <a:t>검증</a:t>
            </a:r>
          </a:p>
        </p:txBody>
      </p:sp>
      <p:sp>
        <p:nvSpPr>
          <p:cNvPr id="51" name="TextBox 50"/>
          <p:cNvSpPr txBox="1"/>
          <p:nvPr/>
        </p:nvSpPr>
        <p:spPr>
          <a:xfrm>
            <a:off x="6510528" y="3520440"/>
            <a:ext cx="1325880" cy="457200"/>
          </a:xfrm>
          <a:prstGeom prst="rect">
            <a:avLst/>
          </a:prstGeom>
          <a:noFill/>
        </p:spPr>
        <p:txBody>
          <a:bodyPr wrap="square" anchor="t" lIns="0" rIns="0" tIns="0" bIns="0">
            <a:spAutoFit/>
          </a:bodyPr>
          <a:lstStyle/>
          <a:p>
            <a:pPr algn="l"/>
            <a:r>
              <a:rPr sz="1700" b="1">
                <a:solidFill>
                  <a:srgbClr val="2E6047"/>
                </a:solidFill>
                <a:latin typeface="맑은 고딕"/>
              </a:rPr>
              <a:t>320/325</a:t>
            </a:r>
          </a:p>
        </p:txBody>
      </p:sp>
      <p:sp>
        <p:nvSpPr>
          <p:cNvPr id="52" name="TextBox 51"/>
          <p:cNvSpPr txBox="1"/>
          <p:nvPr/>
        </p:nvSpPr>
        <p:spPr>
          <a:xfrm>
            <a:off x="7882128" y="3520440"/>
            <a:ext cx="3474720" cy="274320"/>
          </a:xfrm>
          <a:prstGeom prst="rect">
            <a:avLst/>
          </a:prstGeom>
          <a:noFill/>
        </p:spPr>
        <p:txBody>
          <a:bodyPr wrap="square" anchor="t" lIns="0" rIns="0" tIns="0" bIns="0">
            <a:spAutoFit/>
          </a:bodyPr>
          <a:lstStyle/>
          <a:p>
            <a:pPr algn="l"/>
            <a:r>
              <a:rPr sz="1150" b="1">
                <a:solidFill>
                  <a:srgbClr val="24392F"/>
                </a:solidFill>
                <a:latin typeface="맑은 고딕"/>
              </a:rPr>
              <a:t>검증 세트(학습에 없는 여행자 2명)</a:t>
            </a:r>
          </a:p>
        </p:txBody>
      </p:sp>
      <p:sp>
        <p:nvSpPr>
          <p:cNvPr id="53" name="TextBox 52"/>
          <p:cNvSpPr txBox="1"/>
          <p:nvPr/>
        </p:nvSpPr>
        <p:spPr>
          <a:xfrm>
            <a:off x="7882128" y="3785615"/>
            <a:ext cx="3474720" cy="320040"/>
          </a:xfrm>
          <a:prstGeom prst="rect">
            <a:avLst/>
          </a:prstGeom>
          <a:noFill/>
        </p:spPr>
        <p:txBody>
          <a:bodyPr wrap="square" anchor="t" lIns="0" rIns="0" tIns="0" bIns="0">
            <a:spAutoFit/>
          </a:bodyPr>
          <a:lstStyle/>
          <a:p>
            <a:pPr algn="l"/>
            <a:r>
              <a:rPr sz="950" b="0">
                <a:solidFill>
                  <a:srgbClr val="526858"/>
                </a:solidFill>
                <a:latin typeface="맑은 고딕"/>
              </a:rPr>
              <a:t>파인튜닝 전 265 → 후 320</a:t>
            </a:r>
          </a:p>
        </p:txBody>
      </p:sp>
      <p:cxnSp>
        <p:nvCxnSpPr>
          <p:cNvPr id="54" name="Connector 53"/>
          <p:cNvCxnSpPr/>
          <p:nvPr/>
        </p:nvCxnSpPr>
        <p:spPr>
          <a:xfrm>
            <a:off x="6510528" y="4087368"/>
            <a:ext cx="471830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510528" y="4160520"/>
            <a:ext cx="1325880" cy="457200"/>
          </a:xfrm>
          <a:prstGeom prst="rect">
            <a:avLst/>
          </a:prstGeom>
          <a:noFill/>
        </p:spPr>
        <p:txBody>
          <a:bodyPr wrap="square" anchor="t" lIns="0" rIns="0" tIns="0" bIns="0">
            <a:spAutoFit/>
          </a:bodyPr>
          <a:lstStyle/>
          <a:p>
            <a:pPr algn="l"/>
            <a:r>
              <a:rPr sz="1700" b="1">
                <a:solidFill>
                  <a:srgbClr val="2E6047"/>
                </a:solidFill>
                <a:latin typeface="맑은 고딕"/>
              </a:rPr>
              <a:t>750/769</a:t>
            </a:r>
          </a:p>
        </p:txBody>
      </p:sp>
      <p:sp>
        <p:nvSpPr>
          <p:cNvPr id="56" name="TextBox 55"/>
          <p:cNvSpPr txBox="1"/>
          <p:nvPr/>
        </p:nvSpPr>
        <p:spPr>
          <a:xfrm>
            <a:off x="7882128" y="4160520"/>
            <a:ext cx="3474720" cy="274320"/>
          </a:xfrm>
          <a:prstGeom prst="rect">
            <a:avLst/>
          </a:prstGeom>
          <a:noFill/>
        </p:spPr>
        <p:txBody>
          <a:bodyPr wrap="square" anchor="t" lIns="0" rIns="0" tIns="0" bIns="0">
            <a:spAutoFit/>
          </a:bodyPr>
          <a:lstStyle/>
          <a:p>
            <a:pPr algn="l"/>
            <a:r>
              <a:rPr sz="1150" b="1">
                <a:solidFill>
                  <a:srgbClr val="24392F"/>
                </a:solidFill>
                <a:latin typeface="맑은 고딕"/>
              </a:rPr>
              <a:t>시험지 mix8~12 · 사전 등록 기준 통과</a:t>
            </a:r>
          </a:p>
        </p:txBody>
      </p:sp>
      <p:sp>
        <p:nvSpPr>
          <p:cNvPr id="57" name="TextBox 56"/>
          <p:cNvSpPr txBox="1"/>
          <p:nvPr/>
        </p:nvSpPr>
        <p:spPr>
          <a:xfrm>
            <a:off x="7882128" y="4425696"/>
            <a:ext cx="3474720" cy="320040"/>
          </a:xfrm>
          <a:prstGeom prst="rect">
            <a:avLst/>
          </a:prstGeom>
          <a:noFill/>
        </p:spPr>
        <p:txBody>
          <a:bodyPr wrap="square" anchor="t" lIns="0" rIns="0" tIns="0" bIns="0">
            <a:spAutoFit/>
          </a:bodyPr>
          <a:lstStyle/>
          <a:p>
            <a:pPr algn="l"/>
            <a:r>
              <a:rPr sz="950" b="0">
                <a:solidFill>
                  <a:srgbClr val="526858"/>
                </a:solidFill>
                <a:latin typeface="맑은 고딕"/>
              </a:rPr>
              <a:t>전 688 → 후 750 · 갈린 문제 69 : 7 (p=6.4e-14) · 기준 +3%p · p&lt;0.05</a:t>
            </a:r>
          </a:p>
        </p:txBody>
      </p:sp>
      <p:cxnSp>
        <p:nvCxnSpPr>
          <p:cNvPr id="58" name="Connector 57"/>
          <p:cNvCxnSpPr/>
          <p:nvPr/>
        </p:nvCxnSpPr>
        <p:spPr>
          <a:xfrm>
            <a:off x="6510528" y="4727448"/>
            <a:ext cx="471830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510528" y="4800600"/>
            <a:ext cx="1325880" cy="457200"/>
          </a:xfrm>
          <a:prstGeom prst="rect">
            <a:avLst/>
          </a:prstGeom>
          <a:noFill/>
        </p:spPr>
        <p:txBody>
          <a:bodyPr wrap="square" anchor="t" lIns="0" rIns="0" tIns="0" bIns="0">
            <a:spAutoFit/>
          </a:bodyPr>
          <a:lstStyle/>
          <a:p>
            <a:pPr algn="l"/>
            <a:r>
              <a:rPr sz="1700" b="1">
                <a:solidFill>
                  <a:srgbClr val="2E6047"/>
                </a:solidFill>
                <a:latin typeface="맑은 고딕"/>
              </a:rPr>
              <a:t>760/769</a:t>
            </a:r>
          </a:p>
        </p:txBody>
      </p:sp>
      <p:sp>
        <p:nvSpPr>
          <p:cNvPr id="60" name="TextBox 59"/>
          <p:cNvSpPr txBox="1"/>
          <p:nvPr/>
        </p:nvSpPr>
        <p:spPr>
          <a:xfrm>
            <a:off x="7882128" y="4800600"/>
            <a:ext cx="3474720" cy="274320"/>
          </a:xfrm>
          <a:prstGeom prst="rect">
            <a:avLst/>
          </a:prstGeom>
          <a:noFill/>
        </p:spPr>
        <p:txBody>
          <a:bodyPr wrap="square" anchor="t" lIns="0" rIns="0" tIns="0" bIns="0">
            <a:spAutoFit/>
          </a:bodyPr>
          <a:lstStyle/>
          <a:p>
            <a:pPr algn="l"/>
            <a:r>
              <a:rPr sz="1150" b="1">
                <a:solidFill>
                  <a:srgbClr val="24392F"/>
                </a:solidFill>
                <a:latin typeface="맑은 고딕"/>
              </a:rPr>
              <a:t>시드만 바꿔 다시 학습</a:t>
            </a:r>
          </a:p>
        </p:txBody>
      </p:sp>
      <p:sp>
        <p:nvSpPr>
          <p:cNvPr id="61" name="TextBox 60"/>
          <p:cNvSpPr txBox="1"/>
          <p:nvPr/>
        </p:nvSpPr>
        <p:spPr>
          <a:xfrm>
            <a:off x="7882128" y="5065776"/>
            <a:ext cx="3474720" cy="320040"/>
          </a:xfrm>
          <a:prstGeom prst="rect">
            <a:avLst/>
          </a:prstGeom>
          <a:noFill/>
        </p:spPr>
        <p:txBody>
          <a:bodyPr wrap="square" anchor="t" lIns="0" rIns="0" tIns="0" bIns="0">
            <a:spAutoFit/>
          </a:bodyPr>
          <a:lstStyle/>
          <a:p>
            <a:pPr algn="l"/>
            <a:r>
              <a:rPr sz="950" b="0">
                <a:solidFill>
                  <a:srgbClr val="526858"/>
                </a:solidFill>
                <a:latin typeface="맑은 고딕"/>
              </a:rPr>
              <a:t>흔들림 10문제 → 모델끼리 순위는 시드 3개 이상</a:t>
            </a:r>
          </a:p>
        </p:txBody>
      </p:sp>
      <p:cxnSp>
        <p:nvCxnSpPr>
          <p:cNvPr id="62" name="Connector 61"/>
          <p:cNvCxnSpPr/>
          <p:nvPr/>
        </p:nvCxnSpPr>
        <p:spPr>
          <a:xfrm>
            <a:off x="6510528" y="5367527"/>
            <a:ext cx="471830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510528" y="5440679"/>
            <a:ext cx="1325880" cy="457200"/>
          </a:xfrm>
          <a:prstGeom prst="rect">
            <a:avLst/>
          </a:prstGeom>
          <a:noFill/>
        </p:spPr>
        <p:txBody>
          <a:bodyPr wrap="square" anchor="t" lIns="0" rIns="0" tIns="0" bIns="0">
            <a:spAutoFit/>
          </a:bodyPr>
          <a:lstStyle/>
          <a:p>
            <a:pPr algn="l"/>
            <a:r>
              <a:rPr sz="1700" b="1">
                <a:solidFill>
                  <a:srgbClr val="2E6047"/>
                </a:solidFill>
                <a:latin typeface="맑은 고딕"/>
              </a:rPr>
              <a:t>748/769</a:t>
            </a:r>
          </a:p>
        </p:txBody>
      </p:sp>
      <p:sp>
        <p:nvSpPr>
          <p:cNvPr id="64" name="TextBox 63"/>
          <p:cNvSpPr txBox="1"/>
          <p:nvPr/>
        </p:nvSpPr>
        <p:spPr>
          <a:xfrm>
            <a:off x="7882128" y="5440679"/>
            <a:ext cx="3474720" cy="274320"/>
          </a:xfrm>
          <a:prstGeom prst="rect">
            <a:avLst/>
          </a:prstGeom>
          <a:noFill/>
        </p:spPr>
        <p:txBody>
          <a:bodyPr wrap="square" anchor="t" lIns="0" rIns="0" tIns="0" bIns="0">
            <a:spAutoFit/>
          </a:bodyPr>
          <a:lstStyle/>
          <a:p>
            <a:pPr algn="l"/>
            <a:r>
              <a:rPr sz="1150" b="1">
                <a:solidFill>
                  <a:srgbClr val="24392F"/>
                </a:solidFill>
                <a:latin typeface="맑은 고딕"/>
              </a:rPr>
              <a:t>8비트 파일로 바꿔 CPU 4코어에서</a:t>
            </a:r>
          </a:p>
        </p:txBody>
      </p:sp>
      <p:sp>
        <p:nvSpPr>
          <p:cNvPr id="65" name="TextBox 64"/>
          <p:cNvSpPr txBox="1"/>
          <p:nvPr/>
        </p:nvSpPr>
        <p:spPr>
          <a:xfrm>
            <a:off x="7882128" y="5705855"/>
            <a:ext cx="3474720" cy="320040"/>
          </a:xfrm>
          <a:prstGeom prst="rect">
            <a:avLst/>
          </a:prstGeom>
          <a:noFill/>
        </p:spPr>
        <p:txBody>
          <a:bodyPr wrap="square" anchor="t" lIns="0" rIns="0" tIns="0" bIns="0">
            <a:spAutoFit/>
          </a:bodyPr>
          <a:lstStyle/>
          <a:p>
            <a:pPr algn="l"/>
            <a:r>
              <a:rPr sz="950" b="0">
                <a:solidFill>
                  <a:srgbClr val="526858"/>
                </a:solidFill>
                <a:latin typeface="맑은 고딕"/>
              </a:rPr>
              <a:t>배포용 변환 뒤에도 구분 안 됨</a:t>
            </a:r>
          </a:p>
        </p:txBody>
      </p:sp>
      <p:sp>
        <p:nvSpPr>
          <p:cNvPr id="66" name="TextBox 65"/>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시험지 mix8~12 는 학습 자료와 겹침을 뺀 별도 문제(AI 합성). 학습 자료와 mix12 를 같은 Claude 가 만들어 mix12 는 유리할 수 있습니다. 코드: program/scripts/plan_qa_bench/server/qlora_train.py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BENCHMARKS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같은 문제를 네 가지 기준으로 재고 모델마다 점수를 냈습니다</a:t>
            </a:r>
          </a:p>
        </p:txBody>
      </p:sp>
      <p:sp>
        <p:nvSpPr>
          <p:cNvPr id="14" name="Rounded Rectangle 13"/>
          <p:cNvSpPr/>
          <p:nvPr/>
        </p:nvSpPr>
        <p:spPr>
          <a:xfrm>
            <a:off x="685800" y="1508760"/>
            <a:ext cx="2578608"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572768"/>
            <a:ext cx="457200" cy="457200"/>
          </a:xfrm>
          <a:prstGeom prst="rect">
            <a:avLst/>
          </a:prstGeom>
          <a:noFill/>
        </p:spPr>
        <p:txBody>
          <a:bodyPr wrap="square" anchor="t" lIns="0" rIns="0" tIns="0" bIns="0">
            <a:spAutoFit/>
          </a:bodyPr>
          <a:lstStyle/>
          <a:p>
            <a:pPr algn="l"/>
            <a:r>
              <a:rPr sz="2200" b="1">
                <a:solidFill>
                  <a:srgbClr val="2E6047"/>
                </a:solidFill>
                <a:latin typeface="맑은 고딕"/>
              </a:rPr>
              <a:t>A</a:t>
            </a:r>
          </a:p>
        </p:txBody>
      </p:sp>
      <p:sp>
        <p:nvSpPr>
          <p:cNvPr id="16" name="TextBox 15"/>
          <p:cNvSpPr txBox="1"/>
          <p:nvPr/>
        </p:nvSpPr>
        <p:spPr>
          <a:xfrm>
            <a:off x="1325880" y="1591056"/>
            <a:ext cx="1874519" cy="502920"/>
          </a:xfrm>
          <a:prstGeom prst="rect">
            <a:avLst/>
          </a:prstGeom>
          <a:noFill/>
        </p:spPr>
        <p:txBody>
          <a:bodyPr wrap="square" anchor="t" lIns="0" rIns="0" tIns="0" bIns="0">
            <a:spAutoFit/>
          </a:bodyPr>
          <a:lstStyle/>
          <a:p>
            <a:pPr algn="l">
              <a:lnSpc>
                <a:spcPct val="100000"/>
              </a:lnSpc>
            </a:pPr>
            <a:r>
              <a:rPr sz="1050" b="1">
                <a:solidFill>
                  <a:srgbClr val="24392F"/>
                </a:solidFill>
                <a:latin typeface="맑은 고딕"/>
              </a:rPr>
              <a:t>835문제 · 먼저 말한 항목 하나만 정답</a:t>
            </a:r>
          </a:p>
        </p:txBody>
      </p:sp>
      <p:sp>
        <p:nvSpPr>
          <p:cNvPr id="17" name="TextBox 16"/>
          <p:cNvSpPr txBox="1"/>
          <p:nvPr/>
        </p:nvSpPr>
        <p:spPr>
          <a:xfrm>
            <a:off x="868680" y="2157984"/>
            <a:ext cx="2286000" cy="457200"/>
          </a:xfrm>
          <a:prstGeom prst="rect">
            <a:avLst/>
          </a:prstGeom>
          <a:noFill/>
        </p:spPr>
        <p:txBody>
          <a:bodyPr wrap="square" anchor="t" lIns="0" rIns="0" tIns="0" bIns="0">
            <a:spAutoFit/>
          </a:bodyPr>
          <a:lstStyle/>
          <a:p>
            <a:pPr algn="l">
              <a:lnSpc>
                <a:spcPct val="105000"/>
              </a:lnSpc>
            </a:pPr>
            <a:r>
              <a:rPr sz="900" b="0">
                <a:solidFill>
                  <a:srgbClr val="526858"/>
                </a:solidFill>
                <a:latin typeface="맑은 고딕"/>
              </a:rPr>
              <a:t>둘을 묻는 66문제는 먼저 말한 항목 하나를 맞혀야 정답</a:t>
            </a:r>
          </a:p>
        </p:txBody>
      </p:sp>
      <p:sp>
        <p:nvSpPr>
          <p:cNvPr id="18" name="Rounded Rectangle 17"/>
          <p:cNvSpPr/>
          <p:nvPr/>
        </p:nvSpPr>
        <p:spPr>
          <a:xfrm>
            <a:off x="3410712" y="1508760"/>
            <a:ext cx="2578608"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93592" y="1572768"/>
            <a:ext cx="457200" cy="457200"/>
          </a:xfrm>
          <a:prstGeom prst="rect">
            <a:avLst/>
          </a:prstGeom>
          <a:noFill/>
        </p:spPr>
        <p:txBody>
          <a:bodyPr wrap="square" anchor="t" lIns="0" rIns="0" tIns="0" bIns="0">
            <a:spAutoFit/>
          </a:bodyPr>
          <a:lstStyle/>
          <a:p>
            <a:pPr algn="l"/>
            <a:r>
              <a:rPr sz="2200" b="1">
                <a:solidFill>
                  <a:srgbClr val="2E6047"/>
                </a:solidFill>
                <a:latin typeface="맑은 고딕"/>
              </a:rPr>
              <a:t>B</a:t>
            </a:r>
          </a:p>
        </p:txBody>
      </p:sp>
      <p:sp>
        <p:nvSpPr>
          <p:cNvPr id="20" name="TextBox 19"/>
          <p:cNvSpPr txBox="1"/>
          <p:nvPr/>
        </p:nvSpPr>
        <p:spPr>
          <a:xfrm>
            <a:off x="4050791" y="1591056"/>
            <a:ext cx="1874519" cy="502920"/>
          </a:xfrm>
          <a:prstGeom prst="rect">
            <a:avLst/>
          </a:prstGeom>
          <a:noFill/>
        </p:spPr>
        <p:txBody>
          <a:bodyPr wrap="square" anchor="t" lIns="0" rIns="0" tIns="0" bIns="0">
            <a:spAutoFit/>
          </a:bodyPr>
          <a:lstStyle/>
          <a:p>
            <a:pPr algn="l">
              <a:lnSpc>
                <a:spcPct val="100000"/>
              </a:lnSpc>
            </a:pPr>
            <a:r>
              <a:rPr sz="1050" b="1">
                <a:solidFill>
                  <a:srgbClr val="24392F"/>
                </a:solidFill>
                <a:latin typeface="맑은 고딕"/>
              </a:rPr>
              <a:t>835문제 · 하나라도 맞으면 정답</a:t>
            </a:r>
          </a:p>
        </p:txBody>
      </p:sp>
      <p:sp>
        <p:nvSpPr>
          <p:cNvPr id="21" name="TextBox 20"/>
          <p:cNvSpPr txBox="1"/>
          <p:nvPr/>
        </p:nvSpPr>
        <p:spPr>
          <a:xfrm>
            <a:off x="3593592" y="2157984"/>
            <a:ext cx="2286000" cy="457200"/>
          </a:xfrm>
          <a:prstGeom prst="rect">
            <a:avLst/>
          </a:prstGeom>
          <a:noFill/>
        </p:spPr>
        <p:txBody>
          <a:bodyPr wrap="square" anchor="t" lIns="0" rIns="0" tIns="0" bIns="0">
            <a:spAutoFit/>
          </a:bodyPr>
          <a:lstStyle/>
          <a:p>
            <a:pPr algn="l">
              <a:lnSpc>
                <a:spcPct val="105000"/>
              </a:lnSpc>
            </a:pPr>
            <a:r>
              <a:rPr sz="900" b="0">
                <a:solidFill>
                  <a:srgbClr val="526858"/>
                </a:solidFill>
                <a:latin typeface="맑은 고딕"/>
              </a:rPr>
              <a:t>둘을 묻는 질문은 둘 중 하나만 맞혀도 정답 (주 채점)</a:t>
            </a:r>
          </a:p>
        </p:txBody>
      </p:sp>
      <p:sp>
        <p:nvSpPr>
          <p:cNvPr id="22" name="Rounded Rectangle 21"/>
          <p:cNvSpPr/>
          <p:nvPr/>
        </p:nvSpPr>
        <p:spPr>
          <a:xfrm>
            <a:off x="6135624" y="1508760"/>
            <a:ext cx="2578608"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1572768"/>
            <a:ext cx="457200" cy="457200"/>
          </a:xfrm>
          <a:prstGeom prst="rect">
            <a:avLst/>
          </a:prstGeom>
          <a:noFill/>
        </p:spPr>
        <p:txBody>
          <a:bodyPr wrap="square" anchor="t" lIns="0" rIns="0" tIns="0" bIns="0">
            <a:spAutoFit/>
          </a:bodyPr>
          <a:lstStyle/>
          <a:p>
            <a:pPr algn="l"/>
            <a:r>
              <a:rPr sz="2200" b="1">
                <a:solidFill>
                  <a:srgbClr val="2E6047"/>
                </a:solidFill>
                <a:latin typeface="맑은 고딕"/>
              </a:rPr>
              <a:t>C</a:t>
            </a:r>
          </a:p>
        </p:txBody>
      </p:sp>
      <p:sp>
        <p:nvSpPr>
          <p:cNvPr id="24" name="TextBox 23"/>
          <p:cNvSpPr txBox="1"/>
          <p:nvPr/>
        </p:nvSpPr>
        <p:spPr>
          <a:xfrm>
            <a:off x="6775704" y="1591056"/>
            <a:ext cx="1874519" cy="502920"/>
          </a:xfrm>
          <a:prstGeom prst="rect">
            <a:avLst/>
          </a:prstGeom>
          <a:noFill/>
        </p:spPr>
        <p:txBody>
          <a:bodyPr wrap="square" anchor="t" lIns="0" rIns="0" tIns="0" bIns="0">
            <a:spAutoFit/>
          </a:bodyPr>
          <a:lstStyle/>
          <a:p>
            <a:pPr algn="l">
              <a:lnSpc>
                <a:spcPct val="100000"/>
              </a:lnSpc>
            </a:pPr>
            <a:r>
              <a:rPr sz="1050" b="1">
                <a:solidFill>
                  <a:srgbClr val="24392F"/>
                </a:solidFill>
                <a:latin typeface="맑은 고딕"/>
              </a:rPr>
              <a:t>835문제 · 둘 다 맞혀야 정답</a:t>
            </a:r>
          </a:p>
        </p:txBody>
      </p:sp>
      <p:sp>
        <p:nvSpPr>
          <p:cNvPr id="25" name="TextBox 24"/>
          <p:cNvSpPr txBox="1"/>
          <p:nvPr/>
        </p:nvSpPr>
        <p:spPr>
          <a:xfrm>
            <a:off x="6318504" y="2157984"/>
            <a:ext cx="2286000" cy="457200"/>
          </a:xfrm>
          <a:prstGeom prst="rect">
            <a:avLst/>
          </a:prstGeom>
          <a:noFill/>
        </p:spPr>
        <p:txBody>
          <a:bodyPr wrap="square" anchor="t" lIns="0" rIns="0" tIns="0" bIns="0">
            <a:spAutoFit/>
          </a:bodyPr>
          <a:lstStyle/>
          <a:p>
            <a:pPr algn="l">
              <a:lnSpc>
                <a:spcPct val="105000"/>
              </a:lnSpc>
            </a:pPr>
            <a:r>
              <a:rPr sz="900" b="0">
                <a:solidFill>
                  <a:srgbClr val="526858"/>
                </a:solidFill>
                <a:latin typeface="맑은 고딕"/>
              </a:rPr>
              <a:t>낸 항목 묶음이 정답 묶음과 같아야 정답 (가장 엄격, 사전 등록)</a:t>
            </a:r>
          </a:p>
        </p:txBody>
      </p:sp>
      <p:sp>
        <p:nvSpPr>
          <p:cNvPr id="26" name="Rounded Rectangle 25"/>
          <p:cNvSpPr/>
          <p:nvPr/>
        </p:nvSpPr>
        <p:spPr>
          <a:xfrm>
            <a:off x="8860536" y="1508760"/>
            <a:ext cx="2578608" cy="1143000"/>
          </a:xfrm>
          <a:prstGeom prst="roundRect">
            <a:avLst>
              <a:gd name="adj" fmla="val 16000"/>
            </a:avLst>
          </a:prstGeom>
          <a:solidFill>
            <a:srgbClr val="E9F2EB"/>
          </a:solidFill>
          <a:ln w="1270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43415" y="1572768"/>
            <a:ext cx="457200" cy="457200"/>
          </a:xfrm>
          <a:prstGeom prst="rect">
            <a:avLst/>
          </a:prstGeom>
          <a:noFill/>
        </p:spPr>
        <p:txBody>
          <a:bodyPr wrap="square" anchor="t" lIns="0" rIns="0" tIns="0" bIns="0">
            <a:spAutoFit/>
          </a:bodyPr>
          <a:lstStyle/>
          <a:p>
            <a:pPr algn="l"/>
            <a:r>
              <a:rPr sz="2200" b="1">
                <a:solidFill>
                  <a:srgbClr val="2E6047"/>
                </a:solidFill>
                <a:latin typeface="맑은 고딕"/>
              </a:rPr>
              <a:t>D</a:t>
            </a:r>
          </a:p>
        </p:txBody>
      </p:sp>
      <p:sp>
        <p:nvSpPr>
          <p:cNvPr id="28" name="TextBox 27"/>
          <p:cNvSpPr txBox="1"/>
          <p:nvPr/>
        </p:nvSpPr>
        <p:spPr>
          <a:xfrm>
            <a:off x="9500615" y="1591056"/>
            <a:ext cx="1874519" cy="502920"/>
          </a:xfrm>
          <a:prstGeom prst="rect">
            <a:avLst/>
          </a:prstGeom>
          <a:noFill/>
        </p:spPr>
        <p:txBody>
          <a:bodyPr wrap="square" anchor="t" lIns="0" rIns="0" tIns="0" bIns="0">
            <a:spAutoFit/>
          </a:bodyPr>
          <a:lstStyle/>
          <a:p>
            <a:pPr algn="l">
              <a:lnSpc>
                <a:spcPct val="100000"/>
              </a:lnSpc>
            </a:pPr>
            <a:r>
              <a:rPr sz="1050" b="1">
                <a:solidFill>
                  <a:srgbClr val="24392F"/>
                </a:solidFill>
                <a:latin typeface="맑은 고딕"/>
              </a:rPr>
              <a:t>2,735문제 · 채팅처럼 섞음</a:t>
            </a:r>
          </a:p>
        </p:txBody>
      </p:sp>
      <p:sp>
        <p:nvSpPr>
          <p:cNvPr id="29" name="TextBox 28"/>
          <p:cNvSpPr txBox="1"/>
          <p:nvPr/>
        </p:nvSpPr>
        <p:spPr>
          <a:xfrm>
            <a:off x="9043415" y="2157984"/>
            <a:ext cx="2286000" cy="457200"/>
          </a:xfrm>
          <a:prstGeom prst="rect">
            <a:avLst/>
          </a:prstGeom>
          <a:noFill/>
        </p:spPr>
        <p:txBody>
          <a:bodyPr wrap="square" anchor="t" lIns="0" rIns="0" tIns="0" bIns="0">
            <a:spAutoFit/>
          </a:bodyPr>
          <a:lstStyle/>
          <a:p>
            <a:pPr algn="l">
              <a:lnSpc>
                <a:spcPct val="105000"/>
              </a:lnSpc>
            </a:pPr>
            <a:r>
              <a:rPr sz="900" b="0">
                <a:solidFill>
                  <a:srgbClr val="526858"/>
                </a:solidFill>
                <a:latin typeface="맑은 고딕"/>
              </a:rPr>
              <a:t>835 + 관광지 질문 600 + 일상 대화 1,000 + 구어체 300</a:t>
            </a:r>
          </a:p>
        </p:txBody>
      </p:sp>
      <p:sp>
        <p:nvSpPr>
          <p:cNvPr id="30" name="TextBox 29"/>
          <p:cNvSpPr txBox="1"/>
          <p:nvPr/>
        </p:nvSpPr>
        <p:spPr>
          <a:xfrm>
            <a:off x="685800" y="2834640"/>
            <a:ext cx="3886200" cy="274320"/>
          </a:xfrm>
          <a:prstGeom prst="rect">
            <a:avLst/>
          </a:prstGeom>
          <a:noFill/>
        </p:spPr>
        <p:txBody>
          <a:bodyPr wrap="square" anchor="t" lIns="0" rIns="0" tIns="0" bIns="0">
            <a:spAutoFit/>
          </a:bodyPr>
          <a:lstStyle/>
          <a:p>
            <a:pPr algn="l"/>
            <a:r>
              <a:rPr sz="1050" b="1">
                <a:solidFill>
                  <a:srgbClr val="6D7C73"/>
                </a:solidFill>
                <a:latin typeface="맑은 고딕"/>
              </a:rPr>
              <a:t>모델</a:t>
            </a:r>
          </a:p>
        </p:txBody>
      </p:sp>
      <p:sp>
        <p:nvSpPr>
          <p:cNvPr id="31" name="TextBox 30"/>
          <p:cNvSpPr txBox="1"/>
          <p:nvPr/>
        </p:nvSpPr>
        <p:spPr>
          <a:xfrm>
            <a:off x="4663440" y="2834640"/>
            <a:ext cx="1005839" cy="274320"/>
          </a:xfrm>
          <a:prstGeom prst="rect">
            <a:avLst/>
          </a:prstGeom>
          <a:noFill/>
        </p:spPr>
        <p:txBody>
          <a:bodyPr wrap="square" anchor="t" lIns="0" rIns="0" tIns="0" bIns="0">
            <a:spAutoFit/>
          </a:bodyPr>
          <a:lstStyle/>
          <a:p>
            <a:pPr algn="r"/>
            <a:r>
              <a:rPr sz="1050" b="1">
                <a:solidFill>
                  <a:srgbClr val="6D7C73"/>
                </a:solidFill>
                <a:latin typeface="맑은 고딕"/>
              </a:rPr>
              <a:t>769</a:t>
            </a:r>
          </a:p>
        </p:txBody>
      </p:sp>
      <p:sp>
        <p:nvSpPr>
          <p:cNvPr id="32" name="TextBox 31"/>
          <p:cNvSpPr txBox="1"/>
          <p:nvPr/>
        </p:nvSpPr>
        <p:spPr>
          <a:xfrm>
            <a:off x="5760720" y="2834640"/>
            <a:ext cx="1280160" cy="274320"/>
          </a:xfrm>
          <a:prstGeom prst="rect">
            <a:avLst/>
          </a:prstGeom>
          <a:noFill/>
        </p:spPr>
        <p:txBody>
          <a:bodyPr wrap="square" anchor="t" lIns="0" rIns="0" tIns="0" bIns="0">
            <a:spAutoFit/>
          </a:bodyPr>
          <a:lstStyle/>
          <a:p>
            <a:pPr algn="r"/>
            <a:r>
              <a:rPr sz="1050" b="1">
                <a:solidFill>
                  <a:srgbClr val="6D7C73"/>
                </a:solidFill>
                <a:latin typeface="맑은 고딕"/>
              </a:rPr>
              <a:t>A /835</a:t>
            </a:r>
          </a:p>
        </p:txBody>
      </p:sp>
      <p:sp>
        <p:nvSpPr>
          <p:cNvPr id="33" name="TextBox 32"/>
          <p:cNvSpPr txBox="1"/>
          <p:nvPr/>
        </p:nvSpPr>
        <p:spPr>
          <a:xfrm>
            <a:off x="7132320" y="2834640"/>
            <a:ext cx="1280160" cy="274320"/>
          </a:xfrm>
          <a:prstGeom prst="rect">
            <a:avLst/>
          </a:prstGeom>
          <a:noFill/>
        </p:spPr>
        <p:txBody>
          <a:bodyPr wrap="square" anchor="t" lIns="0" rIns="0" tIns="0" bIns="0">
            <a:spAutoFit/>
          </a:bodyPr>
          <a:lstStyle/>
          <a:p>
            <a:pPr algn="r"/>
            <a:r>
              <a:rPr sz="1050" b="1">
                <a:solidFill>
                  <a:srgbClr val="6D7C73"/>
                </a:solidFill>
                <a:latin typeface="맑은 고딕"/>
              </a:rPr>
              <a:t>B /835</a:t>
            </a:r>
          </a:p>
        </p:txBody>
      </p:sp>
      <p:sp>
        <p:nvSpPr>
          <p:cNvPr id="34" name="TextBox 33"/>
          <p:cNvSpPr txBox="1"/>
          <p:nvPr/>
        </p:nvSpPr>
        <p:spPr>
          <a:xfrm>
            <a:off x="8503920" y="2834640"/>
            <a:ext cx="1280160" cy="274320"/>
          </a:xfrm>
          <a:prstGeom prst="rect">
            <a:avLst/>
          </a:prstGeom>
          <a:noFill/>
        </p:spPr>
        <p:txBody>
          <a:bodyPr wrap="square" anchor="t" lIns="0" rIns="0" tIns="0" bIns="0">
            <a:spAutoFit/>
          </a:bodyPr>
          <a:lstStyle/>
          <a:p>
            <a:pPr algn="r"/>
            <a:r>
              <a:rPr sz="1050" b="1">
                <a:solidFill>
                  <a:srgbClr val="6D7C73"/>
                </a:solidFill>
                <a:latin typeface="맑은 고딕"/>
              </a:rPr>
              <a:t>C /835</a:t>
            </a:r>
          </a:p>
        </p:txBody>
      </p:sp>
      <p:sp>
        <p:nvSpPr>
          <p:cNvPr id="35" name="TextBox 34"/>
          <p:cNvSpPr txBox="1"/>
          <p:nvPr/>
        </p:nvSpPr>
        <p:spPr>
          <a:xfrm>
            <a:off x="9875520" y="2834640"/>
            <a:ext cx="1536192" cy="274320"/>
          </a:xfrm>
          <a:prstGeom prst="rect">
            <a:avLst/>
          </a:prstGeom>
          <a:noFill/>
        </p:spPr>
        <p:txBody>
          <a:bodyPr wrap="square" anchor="t" lIns="0" rIns="0" tIns="0" bIns="0">
            <a:spAutoFit/>
          </a:bodyPr>
          <a:lstStyle/>
          <a:p>
            <a:pPr algn="r"/>
            <a:r>
              <a:rPr sz="1050" b="1">
                <a:solidFill>
                  <a:srgbClr val="6D7C73"/>
                </a:solidFill>
                <a:latin typeface="맑은 고딕"/>
              </a:rPr>
              <a:t>D /2,669</a:t>
            </a:r>
          </a:p>
        </p:txBody>
      </p:sp>
      <p:cxnSp>
        <p:nvCxnSpPr>
          <p:cNvPr id="36" name="Connector 35"/>
          <p:cNvCxnSpPr/>
          <p:nvPr/>
        </p:nvCxnSpPr>
        <p:spPr>
          <a:xfrm>
            <a:off x="685800" y="3090672"/>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85800" y="3127248"/>
            <a:ext cx="3886200" cy="274320"/>
          </a:xfrm>
          <a:prstGeom prst="rect">
            <a:avLst/>
          </a:prstGeom>
          <a:noFill/>
        </p:spPr>
        <p:txBody>
          <a:bodyPr wrap="square" anchor="t" lIns="0" rIns="0" tIns="0" bIns="0">
            <a:spAutoFit/>
          </a:bodyPr>
          <a:lstStyle/>
          <a:p>
            <a:pPr algn="l"/>
            <a:r>
              <a:rPr sz="1050" b="0">
                <a:solidFill>
                  <a:srgbClr val="24392F"/>
                </a:solidFill>
                <a:latin typeface="맑은 고딕"/>
              </a:rPr>
              <a:t>Gemma 4 E4B · 파인튜닝 전</a:t>
            </a:r>
          </a:p>
        </p:txBody>
      </p:sp>
      <p:sp>
        <p:nvSpPr>
          <p:cNvPr id="38" name="TextBox 37"/>
          <p:cNvSpPr txBox="1"/>
          <p:nvPr/>
        </p:nvSpPr>
        <p:spPr>
          <a:xfrm>
            <a:off x="4663440" y="3127248"/>
            <a:ext cx="1005839" cy="274320"/>
          </a:xfrm>
          <a:prstGeom prst="rect">
            <a:avLst/>
          </a:prstGeom>
          <a:noFill/>
        </p:spPr>
        <p:txBody>
          <a:bodyPr wrap="square" anchor="t" lIns="0" rIns="0" tIns="0" bIns="0">
            <a:spAutoFit/>
          </a:bodyPr>
          <a:lstStyle/>
          <a:p>
            <a:pPr algn="r"/>
            <a:r>
              <a:rPr sz="1050" b="0">
                <a:solidFill>
                  <a:srgbClr val="24392F"/>
                </a:solidFill>
                <a:latin typeface="맑은 고딕"/>
              </a:rPr>
              <a:t>688</a:t>
            </a:r>
          </a:p>
        </p:txBody>
      </p:sp>
      <p:sp>
        <p:nvSpPr>
          <p:cNvPr id="39" name="TextBox 38"/>
          <p:cNvSpPr txBox="1"/>
          <p:nvPr/>
        </p:nvSpPr>
        <p:spPr>
          <a:xfrm>
            <a:off x="5760720" y="3127248"/>
            <a:ext cx="1280160" cy="274320"/>
          </a:xfrm>
          <a:prstGeom prst="rect">
            <a:avLst/>
          </a:prstGeom>
          <a:noFill/>
        </p:spPr>
        <p:txBody>
          <a:bodyPr wrap="square" anchor="t" lIns="0" rIns="0" tIns="0" bIns="0">
            <a:spAutoFit/>
          </a:bodyPr>
          <a:lstStyle/>
          <a:p>
            <a:pPr algn="r"/>
            <a:r>
              <a:rPr sz="1050" b="0">
                <a:solidFill>
                  <a:srgbClr val="24392F"/>
                </a:solidFill>
                <a:latin typeface="맑은 고딕"/>
              </a:rPr>
              <a:t>736</a:t>
            </a:r>
          </a:p>
        </p:txBody>
      </p:sp>
      <p:sp>
        <p:nvSpPr>
          <p:cNvPr id="40" name="TextBox 39"/>
          <p:cNvSpPr txBox="1"/>
          <p:nvPr/>
        </p:nvSpPr>
        <p:spPr>
          <a:xfrm>
            <a:off x="7132320" y="3127248"/>
            <a:ext cx="1280160" cy="274320"/>
          </a:xfrm>
          <a:prstGeom prst="rect">
            <a:avLst/>
          </a:prstGeom>
          <a:noFill/>
        </p:spPr>
        <p:txBody>
          <a:bodyPr wrap="square" anchor="t" lIns="0" rIns="0" tIns="0" bIns="0">
            <a:spAutoFit/>
          </a:bodyPr>
          <a:lstStyle/>
          <a:p>
            <a:pPr algn="r"/>
            <a:r>
              <a:rPr sz="1050" b="0">
                <a:solidFill>
                  <a:srgbClr val="24392F"/>
                </a:solidFill>
                <a:latin typeface="맑은 고딕"/>
              </a:rPr>
              <a:t>750</a:t>
            </a:r>
          </a:p>
        </p:txBody>
      </p:sp>
      <p:sp>
        <p:nvSpPr>
          <p:cNvPr id="41" name="TextBox 40"/>
          <p:cNvSpPr txBox="1"/>
          <p:nvPr/>
        </p:nvSpPr>
        <p:spPr>
          <a:xfrm>
            <a:off x="8503920" y="3127248"/>
            <a:ext cx="1280160" cy="274320"/>
          </a:xfrm>
          <a:prstGeom prst="rect">
            <a:avLst/>
          </a:prstGeom>
          <a:noFill/>
        </p:spPr>
        <p:txBody>
          <a:bodyPr wrap="square" anchor="t" lIns="0" rIns="0" tIns="0" bIns="0">
            <a:spAutoFit/>
          </a:bodyPr>
          <a:lstStyle/>
          <a:p>
            <a:pPr algn="r"/>
            <a:r>
              <a:rPr sz="1050" b="0">
                <a:solidFill>
                  <a:srgbClr val="24392F"/>
                </a:solidFill>
                <a:latin typeface="맑은 고딕"/>
              </a:rPr>
              <a:t>688</a:t>
            </a:r>
          </a:p>
        </p:txBody>
      </p:sp>
      <p:sp>
        <p:nvSpPr>
          <p:cNvPr id="42" name="TextBox 41"/>
          <p:cNvSpPr txBox="1"/>
          <p:nvPr/>
        </p:nvSpPr>
        <p:spPr>
          <a:xfrm>
            <a:off x="9875520" y="3127248"/>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sp>
        <p:nvSpPr>
          <p:cNvPr id="43" name="Rounded Rectangle 42"/>
          <p:cNvSpPr/>
          <p:nvPr/>
        </p:nvSpPr>
        <p:spPr>
          <a:xfrm>
            <a:off x="612648" y="3438144"/>
            <a:ext cx="10963656" cy="320040"/>
          </a:xfrm>
          <a:prstGeom prst="roundRect">
            <a:avLst>
              <a:gd name="adj" fmla="val 22857"/>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685800" y="3429000"/>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85800" y="3465576"/>
            <a:ext cx="3886200" cy="274320"/>
          </a:xfrm>
          <a:prstGeom prst="rect">
            <a:avLst/>
          </a:prstGeom>
          <a:noFill/>
        </p:spPr>
        <p:txBody>
          <a:bodyPr wrap="square" anchor="t" lIns="0" rIns="0" tIns="0" bIns="0">
            <a:spAutoFit/>
          </a:bodyPr>
          <a:lstStyle/>
          <a:p>
            <a:pPr algn="l"/>
            <a:r>
              <a:rPr sz="1050" b="1">
                <a:solidFill>
                  <a:srgbClr val="2E6047"/>
                </a:solidFill>
                <a:latin typeface="맑은 고딕"/>
              </a:rPr>
              <a:t>Gemma 4 E4B · 파인튜닝 (시드 1)</a:t>
            </a:r>
          </a:p>
        </p:txBody>
      </p:sp>
      <p:sp>
        <p:nvSpPr>
          <p:cNvPr id="46" name="TextBox 45"/>
          <p:cNvSpPr txBox="1"/>
          <p:nvPr/>
        </p:nvSpPr>
        <p:spPr>
          <a:xfrm>
            <a:off x="4663440" y="3465576"/>
            <a:ext cx="1005839" cy="274320"/>
          </a:xfrm>
          <a:prstGeom prst="rect">
            <a:avLst/>
          </a:prstGeom>
          <a:noFill/>
        </p:spPr>
        <p:txBody>
          <a:bodyPr wrap="square" anchor="t" lIns="0" rIns="0" tIns="0" bIns="0">
            <a:spAutoFit/>
          </a:bodyPr>
          <a:lstStyle/>
          <a:p>
            <a:pPr algn="r"/>
            <a:r>
              <a:rPr sz="1050" b="1">
                <a:solidFill>
                  <a:srgbClr val="2E6047"/>
                </a:solidFill>
                <a:latin typeface="맑은 고딕"/>
              </a:rPr>
              <a:t>750</a:t>
            </a:r>
          </a:p>
        </p:txBody>
      </p:sp>
      <p:sp>
        <p:nvSpPr>
          <p:cNvPr id="47" name="TextBox 46"/>
          <p:cNvSpPr txBox="1"/>
          <p:nvPr/>
        </p:nvSpPr>
        <p:spPr>
          <a:xfrm>
            <a:off x="5760720" y="3465576"/>
            <a:ext cx="1280160" cy="274320"/>
          </a:xfrm>
          <a:prstGeom prst="rect">
            <a:avLst/>
          </a:prstGeom>
          <a:noFill/>
        </p:spPr>
        <p:txBody>
          <a:bodyPr wrap="square" anchor="t" lIns="0" rIns="0" tIns="0" bIns="0">
            <a:spAutoFit/>
          </a:bodyPr>
          <a:lstStyle/>
          <a:p>
            <a:pPr algn="r"/>
            <a:r>
              <a:rPr sz="1050" b="1">
                <a:solidFill>
                  <a:srgbClr val="2E6047"/>
                </a:solidFill>
                <a:latin typeface="맑은 고딕"/>
              </a:rPr>
              <a:t>816</a:t>
            </a:r>
          </a:p>
        </p:txBody>
      </p:sp>
      <p:sp>
        <p:nvSpPr>
          <p:cNvPr id="48" name="TextBox 47"/>
          <p:cNvSpPr txBox="1"/>
          <p:nvPr/>
        </p:nvSpPr>
        <p:spPr>
          <a:xfrm>
            <a:off x="7132320" y="3465576"/>
            <a:ext cx="1280160" cy="274320"/>
          </a:xfrm>
          <a:prstGeom prst="rect">
            <a:avLst/>
          </a:prstGeom>
          <a:noFill/>
        </p:spPr>
        <p:txBody>
          <a:bodyPr wrap="square" anchor="t" lIns="0" rIns="0" tIns="0" bIns="0">
            <a:spAutoFit/>
          </a:bodyPr>
          <a:lstStyle/>
          <a:p>
            <a:pPr algn="r"/>
            <a:r>
              <a:rPr sz="1050" b="1">
                <a:solidFill>
                  <a:srgbClr val="2E6047"/>
                </a:solidFill>
                <a:latin typeface="맑은 고딕"/>
              </a:rPr>
              <a:t>816</a:t>
            </a:r>
          </a:p>
        </p:txBody>
      </p:sp>
      <p:sp>
        <p:nvSpPr>
          <p:cNvPr id="49" name="TextBox 48"/>
          <p:cNvSpPr txBox="1"/>
          <p:nvPr/>
        </p:nvSpPr>
        <p:spPr>
          <a:xfrm>
            <a:off x="8503920" y="3465576"/>
            <a:ext cx="1280160" cy="274320"/>
          </a:xfrm>
          <a:prstGeom prst="rect">
            <a:avLst/>
          </a:prstGeom>
          <a:noFill/>
        </p:spPr>
        <p:txBody>
          <a:bodyPr wrap="square" anchor="t" lIns="0" rIns="0" tIns="0" bIns="0">
            <a:spAutoFit/>
          </a:bodyPr>
          <a:lstStyle/>
          <a:p>
            <a:pPr algn="r"/>
            <a:r>
              <a:rPr sz="1050" b="1">
                <a:solidFill>
                  <a:srgbClr val="2E6047"/>
                </a:solidFill>
                <a:latin typeface="맑은 고딕"/>
              </a:rPr>
              <a:t>750</a:t>
            </a:r>
          </a:p>
        </p:txBody>
      </p:sp>
      <p:sp>
        <p:nvSpPr>
          <p:cNvPr id="50" name="TextBox 49"/>
          <p:cNvSpPr txBox="1"/>
          <p:nvPr/>
        </p:nvSpPr>
        <p:spPr>
          <a:xfrm>
            <a:off x="9875520" y="3465576"/>
            <a:ext cx="1536192" cy="274320"/>
          </a:xfrm>
          <a:prstGeom prst="rect">
            <a:avLst/>
          </a:prstGeom>
          <a:noFill/>
        </p:spPr>
        <p:txBody>
          <a:bodyPr wrap="square" anchor="t" lIns="0" rIns="0" tIns="0" bIns="0">
            <a:spAutoFit/>
          </a:bodyPr>
          <a:lstStyle/>
          <a:p>
            <a:pPr algn="r"/>
            <a:r>
              <a:rPr sz="1050" b="1">
                <a:solidFill>
                  <a:srgbClr val="2E6047"/>
                </a:solidFill>
                <a:latin typeface="맑은 고딕"/>
              </a:rPr>
              <a:t>2,498 (93.6%)</a:t>
            </a:r>
          </a:p>
        </p:txBody>
      </p:sp>
      <p:sp>
        <p:nvSpPr>
          <p:cNvPr id="51" name="Rounded Rectangle 50"/>
          <p:cNvSpPr/>
          <p:nvPr/>
        </p:nvSpPr>
        <p:spPr>
          <a:xfrm>
            <a:off x="612648" y="3776472"/>
            <a:ext cx="10963656" cy="320040"/>
          </a:xfrm>
          <a:prstGeom prst="roundRect">
            <a:avLst>
              <a:gd name="adj" fmla="val 22857"/>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685800" y="3767328"/>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85800" y="3803904"/>
            <a:ext cx="3886200" cy="274320"/>
          </a:xfrm>
          <a:prstGeom prst="rect">
            <a:avLst/>
          </a:prstGeom>
          <a:noFill/>
        </p:spPr>
        <p:txBody>
          <a:bodyPr wrap="square" anchor="t" lIns="0" rIns="0" tIns="0" bIns="0">
            <a:spAutoFit/>
          </a:bodyPr>
          <a:lstStyle/>
          <a:p>
            <a:pPr algn="l"/>
            <a:r>
              <a:rPr sz="1050" b="1">
                <a:solidFill>
                  <a:srgbClr val="2E6047"/>
                </a:solidFill>
                <a:latin typeface="맑은 고딕"/>
              </a:rPr>
              <a:t>Gemma 4 E4B · 파인튜닝 (시드 2)</a:t>
            </a:r>
          </a:p>
        </p:txBody>
      </p:sp>
      <p:sp>
        <p:nvSpPr>
          <p:cNvPr id="54" name="TextBox 53"/>
          <p:cNvSpPr txBox="1"/>
          <p:nvPr/>
        </p:nvSpPr>
        <p:spPr>
          <a:xfrm>
            <a:off x="4663440" y="3803904"/>
            <a:ext cx="1005839" cy="274320"/>
          </a:xfrm>
          <a:prstGeom prst="rect">
            <a:avLst/>
          </a:prstGeom>
          <a:noFill/>
        </p:spPr>
        <p:txBody>
          <a:bodyPr wrap="square" anchor="t" lIns="0" rIns="0" tIns="0" bIns="0">
            <a:spAutoFit/>
          </a:bodyPr>
          <a:lstStyle/>
          <a:p>
            <a:pPr algn="r"/>
            <a:r>
              <a:rPr sz="1050" b="1">
                <a:solidFill>
                  <a:srgbClr val="2E6047"/>
                </a:solidFill>
                <a:latin typeface="맑은 고딕"/>
              </a:rPr>
              <a:t>760</a:t>
            </a:r>
          </a:p>
        </p:txBody>
      </p:sp>
      <p:sp>
        <p:nvSpPr>
          <p:cNvPr id="55" name="TextBox 54"/>
          <p:cNvSpPr txBox="1"/>
          <p:nvPr/>
        </p:nvSpPr>
        <p:spPr>
          <a:xfrm>
            <a:off x="5760720" y="3803904"/>
            <a:ext cx="1280160" cy="274320"/>
          </a:xfrm>
          <a:prstGeom prst="rect">
            <a:avLst/>
          </a:prstGeom>
          <a:noFill/>
        </p:spPr>
        <p:txBody>
          <a:bodyPr wrap="square" anchor="t" lIns="0" rIns="0" tIns="0" bIns="0">
            <a:spAutoFit/>
          </a:bodyPr>
          <a:lstStyle/>
          <a:p>
            <a:pPr algn="r"/>
            <a:r>
              <a:rPr sz="1050" b="1">
                <a:solidFill>
                  <a:srgbClr val="2E6047"/>
                </a:solidFill>
                <a:latin typeface="맑은 고딕"/>
              </a:rPr>
              <a:t>825</a:t>
            </a:r>
          </a:p>
        </p:txBody>
      </p:sp>
      <p:sp>
        <p:nvSpPr>
          <p:cNvPr id="56" name="TextBox 55"/>
          <p:cNvSpPr txBox="1"/>
          <p:nvPr/>
        </p:nvSpPr>
        <p:spPr>
          <a:xfrm>
            <a:off x="7132320" y="3803904"/>
            <a:ext cx="1280160" cy="274320"/>
          </a:xfrm>
          <a:prstGeom prst="rect">
            <a:avLst/>
          </a:prstGeom>
          <a:noFill/>
        </p:spPr>
        <p:txBody>
          <a:bodyPr wrap="square" anchor="t" lIns="0" rIns="0" tIns="0" bIns="0">
            <a:spAutoFit/>
          </a:bodyPr>
          <a:lstStyle/>
          <a:p>
            <a:pPr algn="r"/>
            <a:r>
              <a:rPr sz="1050" b="1">
                <a:solidFill>
                  <a:srgbClr val="2E6047"/>
                </a:solidFill>
                <a:latin typeface="맑은 고딕"/>
              </a:rPr>
              <a:t>826</a:t>
            </a:r>
          </a:p>
        </p:txBody>
      </p:sp>
      <p:sp>
        <p:nvSpPr>
          <p:cNvPr id="57" name="TextBox 56"/>
          <p:cNvSpPr txBox="1"/>
          <p:nvPr/>
        </p:nvSpPr>
        <p:spPr>
          <a:xfrm>
            <a:off x="8503920" y="3803904"/>
            <a:ext cx="1280160" cy="274320"/>
          </a:xfrm>
          <a:prstGeom prst="rect">
            <a:avLst/>
          </a:prstGeom>
          <a:noFill/>
        </p:spPr>
        <p:txBody>
          <a:bodyPr wrap="square" anchor="t" lIns="0" rIns="0" tIns="0" bIns="0">
            <a:spAutoFit/>
          </a:bodyPr>
          <a:lstStyle/>
          <a:p>
            <a:pPr algn="r"/>
            <a:r>
              <a:rPr sz="1050" b="1">
                <a:solidFill>
                  <a:srgbClr val="2E6047"/>
                </a:solidFill>
                <a:latin typeface="맑은 고딕"/>
              </a:rPr>
              <a:t>760</a:t>
            </a:r>
          </a:p>
        </p:txBody>
      </p:sp>
      <p:sp>
        <p:nvSpPr>
          <p:cNvPr id="58" name="TextBox 57"/>
          <p:cNvSpPr txBox="1"/>
          <p:nvPr/>
        </p:nvSpPr>
        <p:spPr>
          <a:xfrm>
            <a:off x="9875520" y="3803904"/>
            <a:ext cx="1536192" cy="274320"/>
          </a:xfrm>
          <a:prstGeom prst="rect">
            <a:avLst/>
          </a:prstGeom>
          <a:noFill/>
        </p:spPr>
        <p:txBody>
          <a:bodyPr wrap="square" anchor="t" lIns="0" rIns="0" tIns="0" bIns="0">
            <a:spAutoFit/>
          </a:bodyPr>
          <a:lstStyle/>
          <a:p>
            <a:pPr algn="r"/>
            <a:r>
              <a:rPr sz="1050" b="1">
                <a:solidFill>
                  <a:srgbClr val="2E6047"/>
                </a:solidFill>
                <a:latin typeface="맑은 고딕"/>
              </a:rPr>
              <a:t>안 잼</a:t>
            </a:r>
          </a:p>
        </p:txBody>
      </p:sp>
      <p:sp>
        <p:nvSpPr>
          <p:cNvPr id="59" name="Rounded Rectangle 58"/>
          <p:cNvSpPr/>
          <p:nvPr/>
        </p:nvSpPr>
        <p:spPr>
          <a:xfrm>
            <a:off x="612648" y="4114799"/>
            <a:ext cx="10963656" cy="320040"/>
          </a:xfrm>
          <a:prstGeom prst="roundRect">
            <a:avLst>
              <a:gd name="adj" fmla="val 22857"/>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685800" y="4105655"/>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85800" y="4142231"/>
            <a:ext cx="3886200" cy="274320"/>
          </a:xfrm>
          <a:prstGeom prst="rect">
            <a:avLst/>
          </a:prstGeom>
          <a:noFill/>
        </p:spPr>
        <p:txBody>
          <a:bodyPr wrap="square" anchor="t" lIns="0" rIns="0" tIns="0" bIns="0">
            <a:spAutoFit/>
          </a:bodyPr>
          <a:lstStyle/>
          <a:p>
            <a:pPr algn="l"/>
            <a:r>
              <a:rPr sz="1050" b="1">
                <a:solidFill>
                  <a:srgbClr val="2E6047"/>
                </a:solidFill>
                <a:latin typeface="맑은 고딕"/>
              </a:rPr>
              <a:t>Winnow-E4B(Jev 계열) · 파인튜닝</a:t>
            </a:r>
          </a:p>
        </p:txBody>
      </p:sp>
      <p:sp>
        <p:nvSpPr>
          <p:cNvPr id="62" name="TextBox 61"/>
          <p:cNvSpPr txBox="1"/>
          <p:nvPr/>
        </p:nvSpPr>
        <p:spPr>
          <a:xfrm>
            <a:off x="4663440" y="4142231"/>
            <a:ext cx="1005839" cy="274320"/>
          </a:xfrm>
          <a:prstGeom prst="rect">
            <a:avLst/>
          </a:prstGeom>
          <a:noFill/>
        </p:spPr>
        <p:txBody>
          <a:bodyPr wrap="square" anchor="t" lIns="0" rIns="0" tIns="0" bIns="0">
            <a:spAutoFit/>
          </a:bodyPr>
          <a:lstStyle/>
          <a:p>
            <a:pPr algn="r"/>
            <a:r>
              <a:rPr sz="1050" b="1">
                <a:solidFill>
                  <a:srgbClr val="2E6047"/>
                </a:solidFill>
                <a:latin typeface="맑은 고딕"/>
              </a:rPr>
              <a:t>756</a:t>
            </a:r>
          </a:p>
        </p:txBody>
      </p:sp>
      <p:sp>
        <p:nvSpPr>
          <p:cNvPr id="63" name="TextBox 62"/>
          <p:cNvSpPr txBox="1"/>
          <p:nvPr/>
        </p:nvSpPr>
        <p:spPr>
          <a:xfrm>
            <a:off x="5760720" y="4142231"/>
            <a:ext cx="1280160" cy="274320"/>
          </a:xfrm>
          <a:prstGeom prst="rect">
            <a:avLst/>
          </a:prstGeom>
          <a:noFill/>
        </p:spPr>
        <p:txBody>
          <a:bodyPr wrap="square" anchor="t" lIns="0" rIns="0" tIns="0" bIns="0">
            <a:spAutoFit/>
          </a:bodyPr>
          <a:lstStyle/>
          <a:p>
            <a:pPr algn="r"/>
            <a:r>
              <a:rPr sz="1050" b="1">
                <a:solidFill>
                  <a:srgbClr val="2E6047"/>
                </a:solidFill>
                <a:latin typeface="맑은 고딕"/>
              </a:rPr>
              <a:t>821</a:t>
            </a:r>
          </a:p>
        </p:txBody>
      </p:sp>
      <p:sp>
        <p:nvSpPr>
          <p:cNvPr id="64" name="TextBox 63"/>
          <p:cNvSpPr txBox="1"/>
          <p:nvPr/>
        </p:nvSpPr>
        <p:spPr>
          <a:xfrm>
            <a:off x="7132320" y="4142231"/>
            <a:ext cx="1280160" cy="274320"/>
          </a:xfrm>
          <a:prstGeom prst="rect">
            <a:avLst/>
          </a:prstGeom>
          <a:noFill/>
        </p:spPr>
        <p:txBody>
          <a:bodyPr wrap="square" anchor="t" lIns="0" rIns="0" tIns="0" bIns="0">
            <a:spAutoFit/>
          </a:bodyPr>
          <a:lstStyle/>
          <a:p>
            <a:pPr algn="r"/>
            <a:r>
              <a:rPr sz="1050" b="1">
                <a:solidFill>
                  <a:srgbClr val="2E6047"/>
                </a:solidFill>
                <a:latin typeface="맑은 고딕"/>
              </a:rPr>
              <a:t>821</a:t>
            </a:r>
          </a:p>
        </p:txBody>
      </p:sp>
      <p:sp>
        <p:nvSpPr>
          <p:cNvPr id="65" name="TextBox 64"/>
          <p:cNvSpPr txBox="1"/>
          <p:nvPr/>
        </p:nvSpPr>
        <p:spPr>
          <a:xfrm>
            <a:off x="8503920" y="4142231"/>
            <a:ext cx="1280160" cy="274320"/>
          </a:xfrm>
          <a:prstGeom prst="rect">
            <a:avLst/>
          </a:prstGeom>
          <a:noFill/>
        </p:spPr>
        <p:txBody>
          <a:bodyPr wrap="square" anchor="t" lIns="0" rIns="0" tIns="0" bIns="0">
            <a:spAutoFit/>
          </a:bodyPr>
          <a:lstStyle/>
          <a:p>
            <a:pPr algn="r"/>
            <a:r>
              <a:rPr sz="1050" b="1">
                <a:solidFill>
                  <a:srgbClr val="2E6047"/>
                </a:solidFill>
                <a:latin typeface="맑은 고딕"/>
              </a:rPr>
              <a:t>756</a:t>
            </a:r>
          </a:p>
        </p:txBody>
      </p:sp>
      <p:sp>
        <p:nvSpPr>
          <p:cNvPr id="66" name="TextBox 65"/>
          <p:cNvSpPr txBox="1"/>
          <p:nvPr/>
        </p:nvSpPr>
        <p:spPr>
          <a:xfrm>
            <a:off x="9875520" y="4142231"/>
            <a:ext cx="1536192" cy="274320"/>
          </a:xfrm>
          <a:prstGeom prst="rect">
            <a:avLst/>
          </a:prstGeom>
          <a:noFill/>
        </p:spPr>
        <p:txBody>
          <a:bodyPr wrap="square" anchor="t" lIns="0" rIns="0" tIns="0" bIns="0">
            <a:spAutoFit/>
          </a:bodyPr>
          <a:lstStyle/>
          <a:p>
            <a:pPr algn="r"/>
            <a:r>
              <a:rPr sz="1050" b="1">
                <a:solidFill>
                  <a:srgbClr val="2E6047"/>
                </a:solidFill>
                <a:latin typeface="맑은 고딕"/>
              </a:rPr>
              <a:t>안 잼</a:t>
            </a:r>
          </a:p>
        </p:txBody>
      </p:sp>
      <p:cxnSp>
        <p:nvCxnSpPr>
          <p:cNvPr id="67" name="Connector 66"/>
          <p:cNvCxnSpPr/>
          <p:nvPr/>
        </p:nvCxnSpPr>
        <p:spPr>
          <a:xfrm>
            <a:off x="685800" y="4443984"/>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85800" y="4480560"/>
            <a:ext cx="3886200" cy="274320"/>
          </a:xfrm>
          <a:prstGeom prst="rect">
            <a:avLst/>
          </a:prstGeom>
          <a:noFill/>
        </p:spPr>
        <p:txBody>
          <a:bodyPr wrap="square" anchor="t" lIns="0" rIns="0" tIns="0" bIns="0">
            <a:spAutoFit/>
          </a:bodyPr>
          <a:lstStyle/>
          <a:p>
            <a:pPr algn="l"/>
            <a:r>
              <a:rPr sz="1050" b="0">
                <a:solidFill>
                  <a:srgbClr val="24392F"/>
                </a:solidFill>
                <a:latin typeface="맑은 고딕"/>
              </a:rPr>
              <a:t>Gemma 4 26B-A4B · 파인튜닝 없음</a:t>
            </a:r>
          </a:p>
        </p:txBody>
      </p:sp>
      <p:sp>
        <p:nvSpPr>
          <p:cNvPr id="69" name="TextBox 68"/>
          <p:cNvSpPr txBox="1"/>
          <p:nvPr/>
        </p:nvSpPr>
        <p:spPr>
          <a:xfrm>
            <a:off x="4663440" y="4480560"/>
            <a:ext cx="1005839" cy="274320"/>
          </a:xfrm>
          <a:prstGeom prst="rect">
            <a:avLst/>
          </a:prstGeom>
          <a:noFill/>
        </p:spPr>
        <p:txBody>
          <a:bodyPr wrap="square" anchor="t" lIns="0" rIns="0" tIns="0" bIns="0">
            <a:spAutoFit/>
          </a:bodyPr>
          <a:lstStyle/>
          <a:p>
            <a:pPr algn="r"/>
            <a:r>
              <a:rPr sz="1050" b="0">
                <a:solidFill>
                  <a:srgbClr val="24392F"/>
                </a:solidFill>
                <a:latin typeface="맑은 고딕"/>
              </a:rPr>
              <a:t>732</a:t>
            </a:r>
          </a:p>
        </p:txBody>
      </p:sp>
      <p:sp>
        <p:nvSpPr>
          <p:cNvPr id="70" name="TextBox 69"/>
          <p:cNvSpPr txBox="1"/>
          <p:nvPr/>
        </p:nvSpPr>
        <p:spPr>
          <a:xfrm>
            <a:off x="5760720" y="4480560"/>
            <a:ext cx="1280160" cy="274320"/>
          </a:xfrm>
          <a:prstGeom prst="rect">
            <a:avLst/>
          </a:prstGeom>
          <a:noFill/>
        </p:spPr>
        <p:txBody>
          <a:bodyPr wrap="square" anchor="t" lIns="0" rIns="0" tIns="0" bIns="0">
            <a:spAutoFit/>
          </a:bodyPr>
          <a:lstStyle/>
          <a:p>
            <a:pPr algn="r"/>
            <a:r>
              <a:rPr sz="1050" b="0">
                <a:solidFill>
                  <a:srgbClr val="24392F"/>
                </a:solidFill>
                <a:latin typeface="맑은 고딕"/>
              </a:rPr>
              <a:t>780</a:t>
            </a:r>
          </a:p>
        </p:txBody>
      </p:sp>
      <p:sp>
        <p:nvSpPr>
          <p:cNvPr id="71" name="TextBox 70"/>
          <p:cNvSpPr txBox="1"/>
          <p:nvPr/>
        </p:nvSpPr>
        <p:spPr>
          <a:xfrm>
            <a:off x="7132320" y="4480560"/>
            <a:ext cx="1280160" cy="274320"/>
          </a:xfrm>
          <a:prstGeom prst="rect">
            <a:avLst/>
          </a:prstGeom>
          <a:noFill/>
        </p:spPr>
        <p:txBody>
          <a:bodyPr wrap="square" anchor="t" lIns="0" rIns="0" tIns="0" bIns="0">
            <a:spAutoFit/>
          </a:bodyPr>
          <a:lstStyle/>
          <a:p>
            <a:pPr algn="r"/>
            <a:r>
              <a:rPr sz="1050" b="0">
                <a:solidFill>
                  <a:srgbClr val="24392F"/>
                </a:solidFill>
                <a:latin typeface="맑은 고딕"/>
              </a:rPr>
              <a:t>797</a:t>
            </a:r>
          </a:p>
        </p:txBody>
      </p:sp>
      <p:sp>
        <p:nvSpPr>
          <p:cNvPr id="72" name="TextBox 71"/>
          <p:cNvSpPr txBox="1"/>
          <p:nvPr/>
        </p:nvSpPr>
        <p:spPr>
          <a:xfrm>
            <a:off x="8503920" y="4480560"/>
            <a:ext cx="1280160" cy="274320"/>
          </a:xfrm>
          <a:prstGeom prst="rect">
            <a:avLst/>
          </a:prstGeom>
          <a:noFill/>
        </p:spPr>
        <p:txBody>
          <a:bodyPr wrap="square" anchor="t" lIns="0" rIns="0" tIns="0" bIns="0">
            <a:spAutoFit/>
          </a:bodyPr>
          <a:lstStyle/>
          <a:p>
            <a:pPr algn="r"/>
            <a:r>
              <a:rPr sz="1050" b="0">
                <a:solidFill>
                  <a:srgbClr val="24392F"/>
                </a:solidFill>
                <a:latin typeface="맑은 고딕"/>
              </a:rPr>
              <a:t>732</a:t>
            </a:r>
          </a:p>
        </p:txBody>
      </p:sp>
      <p:sp>
        <p:nvSpPr>
          <p:cNvPr id="73" name="TextBox 72"/>
          <p:cNvSpPr txBox="1"/>
          <p:nvPr/>
        </p:nvSpPr>
        <p:spPr>
          <a:xfrm>
            <a:off x="9875520" y="4480560"/>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cxnSp>
        <p:nvCxnSpPr>
          <p:cNvPr id="74" name="Connector 73"/>
          <p:cNvCxnSpPr/>
          <p:nvPr/>
        </p:nvCxnSpPr>
        <p:spPr>
          <a:xfrm>
            <a:off x="685800" y="4782312"/>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85800" y="4818888"/>
            <a:ext cx="3886200" cy="274320"/>
          </a:xfrm>
          <a:prstGeom prst="rect">
            <a:avLst/>
          </a:prstGeom>
          <a:noFill/>
        </p:spPr>
        <p:txBody>
          <a:bodyPr wrap="square" anchor="t" lIns="0" rIns="0" tIns="0" bIns="0">
            <a:spAutoFit/>
          </a:bodyPr>
          <a:lstStyle/>
          <a:p>
            <a:pPr algn="l"/>
            <a:r>
              <a:rPr sz="1050" b="0">
                <a:solidFill>
                  <a:srgbClr val="24392F"/>
                </a:solidFill>
                <a:latin typeface="맑은 고딕"/>
              </a:rPr>
              <a:t>Qwen3.8 27B · 파인튜닝 없음</a:t>
            </a:r>
          </a:p>
        </p:txBody>
      </p:sp>
      <p:sp>
        <p:nvSpPr>
          <p:cNvPr id="76" name="TextBox 75"/>
          <p:cNvSpPr txBox="1"/>
          <p:nvPr/>
        </p:nvSpPr>
        <p:spPr>
          <a:xfrm>
            <a:off x="4663440" y="4818888"/>
            <a:ext cx="1005839" cy="274320"/>
          </a:xfrm>
          <a:prstGeom prst="rect">
            <a:avLst/>
          </a:prstGeom>
          <a:noFill/>
        </p:spPr>
        <p:txBody>
          <a:bodyPr wrap="square" anchor="t" lIns="0" rIns="0" tIns="0" bIns="0">
            <a:spAutoFit/>
          </a:bodyPr>
          <a:lstStyle/>
          <a:p>
            <a:pPr algn="r"/>
            <a:r>
              <a:rPr sz="1050" b="0">
                <a:solidFill>
                  <a:srgbClr val="24392F"/>
                </a:solidFill>
                <a:latin typeface="맑은 고딕"/>
              </a:rPr>
              <a:t>749</a:t>
            </a:r>
          </a:p>
        </p:txBody>
      </p:sp>
      <p:sp>
        <p:nvSpPr>
          <p:cNvPr id="77" name="TextBox 76"/>
          <p:cNvSpPr txBox="1"/>
          <p:nvPr/>
        </p:nvSpPr>
        <p:spPr>
          <a:xfrm>
            <a:off x="5760720" y="4818888"/>
            <a:ext cx="1280160" cy="274320"/>
          </a:xfrm>
          <a:prstGeom prst="rect">
            <a:avLst/>
          </a:prstGeom>
          <a:noFill/>
        </p:spPr>
        <p:txBody>
          <a:bodyPr wrap="square" anchor="t" lIns="0" rIns="0" tIns="0" bIns="0">
            <a:spAutoFit/>
          </a:bodyPr>
          <a:lstStyle/>
          <a:p>
            <a:pPr algn="r"/>
            <a:r>
              <a:rPr sz="1050" b="0">
                <a:solidFill>
                  <a:srgbClr val="24392F"/>
                </a:solidFill>
                <a:latin typeface="맑은 고딕"/>
              </a:rPr>
              <a:t>793</a:t>
            </a:r>
          </a:p>
        </p:txBody>
      </p:sp>
      <p:sp>
        <p:nvSpPr>
          <p:cNvPr id="78" name="TextBox 77"/>
          <p:cNvSpPr txBox="1"/>
          <p:nvPr/>
        </p:nvSpPr>
        <p:spPr>
          <a:xfrm>
            <a:off x="7132320" y="4818888"/>
            <a:ext cx="1280160" cy="274320"/>
          </a:xfrm>
          <a:prstGeom prst="rect">
            <a:avLst/>
          </a:prstGeom>
          <a:noFill/>
        </p:spPr>
        <p:txBody>
          <a:bodyPr wrap="square" anchor="t" lIns="0" rIns="0" tIns="0" bIns="0">
            <a:spAutoFit/>
          </a:bodyPr>
          <a:lstStyle/>
          <a:p>
            <a:pPr algn="r"/>
            <a:r>
              <a:rPr sz="1050" b="0">
                <a:solidFill>
                  <a:srgbClr val="24392F"/>
                </a:solidFill>
                <a:latin typeface="맑은 고딕"/>
              </a:rPr>
              <a:t>814</a:t>
            </a:r>
          </a:p>
        </p:txBody>
      </p:sp>
      <p:sp>
        <p:nvSpPr>
          <p:cNvPr id="79" name="TextBox 78"/>
          <p:cNvSpPr txBox="1"/>
          <p:nvPr/>
        </p:nvSpPr>
        <p:spPr>
          <a:xfrm>
            <a:off x="8503920" y="4818888"/>
            <a:ext cx="1280160" cy="274320"/>
          </a:xfrm>
          <a:prstGeom prst="rect">
            <a:avLst/>
          </a:prstGeom>
          <a:noFill/>
        </p:spPr>
        <p:txBody>
          <a:bodyPr wrap="square" anchor="t" lIns="0" rIns="0" tIns="0" bIns="0">
            <a:spAutoFit/>
          </a:bodyPr>
          <a:lstStyle/>
          <a:p>
            <a:pPr algn="r"/>
            <a:r>
              <a:rPr sz="1050" b="0">
                <a:solidFill>
                  <a:srgbClr val="24392F"/>
                </a:solidFill>
                <a:latin typeface="맑은 고딕"/>
              </a:rPr>
              <a:t>749</a:t>
            </a:r>
          </a:p>
        </p:txBody>
      </p:sp>
      <p:sp>
        <p:nvSpPr>
          <p:cNvPr id="80" name="TextBox 79"/>
          <p:cNvSpPr txBox="1"/>
          <p:nvPr/>
        </p:nvSpPr>
        <p:spPr>
          <a:xfrm>
            <a:off x="9875520" y="4818888"/>
            <a:ext cx="1536192" cy="274320"/>
          </a:xfrm>
          <a:prstGeom prst="rect">
            <a:avLst/>
          </a:prstGeom>
          <a:noFill/>
        </p:spPr>
        <p:txBody>
          <a:bodyPr wrap="square" anchor="t" lIns="0" rIns="0" tIns="0" bIns="0">
            <a:spAutoFit/>
          </a:bodyPr>
          <a:lstStyle/>
          <a:p>
            <a:pPr algn="r"/>
            <a:r>
              <a:rPr sz="1050" b="0">
                <a:solidFill>
                  <a:srgbClr val="24392F"/>
                </a:solidFill>
                <a:latin typeface="맑은 고딕"/>
              </a:rPr>
              <a:t>못 잼 · 큰 GPU 필요</a:t>
            </a:r>
          </a:p>
        </p:txBody>
      </p:sp>
      <p:cxnSp>
        <p:nvCxnSpPr>
          <p:cNvPr id="81" name="Connector 80"/>
          <p:cNvCxnSpPr/>
          <p:nvPr/>
        </p:nvCxnSpPr>
        <p:spPr>
          <a:xfrm>
            <a:off x="685800" y="5120640"/>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85800" y="5157216"/>
            <a:ext cx="3886200" cy="274320"/>
          </a:xfrm>
          <a:prstGeom prst="rect">
            <a:avLst/>
          </a:prstGeom>
          <a:noFill/>
        </p:spPr>
        <p:txBody>
          <a:bodyPr wrap="square" anchor="t" lIns="0" rIns="0" tIns="0" bIns="0">
            <a:spAutoFit/>
          </a:bodyPr>
          <a:lstStyle/>
          <a:p>
            <a:pPr algn="l"/>
            <a:r>
              <a:rPr sz="1050" b="0">
                <a:solidFill>
                  <a:srgbClr val="24392F"/>
                </a:solidFill>
                <a:latin typeface="맑은 고딕"/>
              </a:rPr>
              <a:t>Claude Opus 5.5 · 상용</a:t>
            </a:r>
          </a:p>
        </p:txBody>
      </p:sp>
      <p:sp>
        <p:nvSpPr>
          <p:cNvPr id="83" name="TextBox 82"/>
          <p:cNvSpPr txBox="1"/>
          <p:nvPr/>
        </p:nvSpPr>
        <p:spPr>
          <a:xfrm>
            <a:off x="4663440" y="5157216"/>
            <a:ext cx="1005839" cy="274320"/>
          </a:xfrm>
          <a:prstGeom prst="rect">
            <a:avLst/>
          </a:prstGeom>
          <a:noFill/>
        </p:spPr>
        <p:txBody>
          <a:bodyPr wrap="square" anchor="t" lIns="0" rIns="0" tIns="0" bIns="0">
            <a:spAutoFit/>
          </a:bodyPr>
          <a:lstStyle/>
          <a:p>
            <a:pPr algn="r"/>
            <a:r>
              <a:rPr sz="1050" b="0">
                <a:solidFill>
                  <a:srgbClr val="24392F"/>
                </a:solidFill>
                <a:latin typeface="맑은 고딕"/>
              </a:rPr>
              <a:t>759</a:t>
            </a:r>
          </a:p>
        </p:txBody>
      </p:sp>
      <p:sp>
        <p:nvSpPr>
          <p:cNvPr id="84" name="TextBox 83"/>
          <p:cNvSpPr txBox="1"/>
          <p:nvPr/>
        </p:nvSpPr>
        <p:spPr>
          <a:xfrm>
            <a:off x="5760720" y="5157216"/>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823</a:t>
            </a:r>
          </a:p>
        </p:txBody>
      </p:sp>
      <p:sp>
        <p:nvSpPr>
          <p:cNvPr id="85" name="TextBox 84"/>
          <p:cNvSpPr txBox="1"/>
          <p:nvPr/>
        </p:nvSpPr>
        <p:spPr>
          <a:xfrm>
            <a:off x="7132320" y="5157216"/>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825</a:t>
            </a:r>
          </a:p>
        </p:txBody>
      </p:sp>
      <p:sp>
        <p:nvSpPr>
          <p:cNvPr id="86" name="TextBox 85"/>
          <p:cNvSpPr txBox="1"/>
          <p:nvPr/>
        </p:nvSpPr>
        <p:spPr>
          <a:xfrm>
            <a:off x="8503920" y="5157216"/>
            <a:ext cx="1280160" cy="274320"/>
          </a:xfrm>
          <a:prstGeom prst="rect">
            <a:avLst/>
          </a:prstGeom>
          <a:noFill/>
        </p:spPr>
        <p:txBody>
          <a:bodyPr wrap="square" anchor="t" lIns="0" rIns="0" tIns="0" bIns="0">
            <a:spAutoFit/>
          </a:bodyPr>
          <a:lstStyle/>
          <a:p>
            <a:pPr algn="r"/>
            <a:r>
              <a:rPr sz="1050" b="0">
                <a:solidFill>
                  <a:srgbClr val="24392F"/>
                </a:solidFill>
                <a:latin typeface="맑은 고딕"/>
              </a:rPr>
              <a:t>819</a:t>
            </a:r>
          </a:p>
        </p:txBody>
      </p:sp>
      <p:sp>
        <p:nvSpPr>
          <p:cNvPr id="87" name="TextBox 86"/>
          <p:cNvSpPr txBox="1"/>
          <p:nvPr/>
        </p:nvSpPr>
        <p:spPr>
          <a:xfrm>
            <a:off x="9875520" y="5157216"/>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cxnSp>
        <p:nvCxnSpPr>
          <p:cNvPr id="88" name="Connector 87"/>
          <p:cNvCxnSpPr/>
          <p:nvPr/>
        </p:nvCxnSpPr>
        <p:spPr>
          <a:xfrm>
            <a:off x="685800" y="5458968"/>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85800" y="5495544"/>
            <a:ext cx="3886200" cy="274320"/>
          </a:xfrm>
          <a:prstGeom prst="rect">
            <a:avLst/>
          </a:prstGeom>
          <a:noFill/>
        </p:spPr>
        <p:txBody>
          <a:bodyPr wrap="square" anchor="t" lIns="0" rIns="0" tIns="0" bIns="0">
            <a:spAutoFit/>
          </a:bodyPr>
          <a:lstStyle/>
          <a:p>
            <a:pPr algn="l"/>
            <a:r>
              <a:rPr sz="1050" b="0">
                <a:solidFill>
                  <a:srgbClr val="24392F"/>
                </a:solidFill>
                <a:latin typeface="맑은 고딕"/>
              </a:rPr>
              <a:t>Claude Fable 5.1 · 상용</a:t>
            </a:r>
          </a:p>
        </p:txBody>
      </p:sp>
      <p:sp>
        <p:nvSpPr>
          <p:cNvPr id="90" name="TextBox 89"/>
          <p:cNvSpPr txBox="1"/>
          <p:nvPr/>
        </p:nvSpPr>
        <p:spPr>
          <a:xfrm>
            <a:off x="4663440" y="5495544"/>
            <a:ext cx="1005839" cy="274320"/>
          </a:xfrm>
          <a:prstGeom prst="rect">
            <a:avLst/>
          </a:prstGeom>
          <a:noFill/>
        </p:spPr>
        <p:txBody>
          <a:bodyPr wrap="square" anchor="t" lIns="0" rIns="0" tIns="0" bIns="0">
            <a:spAutoFit/>
          </a:bodyPr>
          <a:lstStyle/>
          <a:p>
            <a:pPr algn="r"/>
            <a:r>
              <a:rPr sz="1050" b="0">
                <a:solidFill>
                  <a:srgbClr val="24392F"/>
                </a:solidFill>
                <a:latin typeface="맑은 고딕"/>
              </a:rPr>
              <a:t>762</a:t>
            </a:r>
          </a:p>
        </p:txBody>
      </p:sp>
      <p:sp>
        <p:nvSpPr>
          <p:cNvPr id="91" name="TextBox 90"/>
          <p:cNvSpPr txBox="1"/>
          <p:nvPr/>
        </p:nvSpPr>
        <p:spPr>
          <a:xfrm>
            <a:off x="5760720" y="5495544"/>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825</a:t>
            </a:r>
          </a:p>
        </p:txBody>
      </p:sp>
      <p:sp>
        <p:nvSpPr>
          <p:cNvPr id="92" name="TextBox 91"/>
          <p:cNvSpPr txBox="1"/>
          <p:nvPr/>
        </p:nvSpPr>
        <p:spPr>
          <a:xfrm>
            <a:off x="7132320" y="5495544"/>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828</a:t>
            </a:r>
          </a:p>
        </p:txBody>
      </p:sp>
      <p:sp>
        <p:nvSpPr>
          <p:cNvPr id="93" name="TextBox 92"/>
          <p:cNvSpPr txBox="1"/>
          <p:nvPr/>
        </p:nvSpPr>
        <p:spPr>
          <a:xfrm>
            <a:off x="8503920" y="5495544"/>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821</a:t>
            </a:r>
          </a:p>
        </p:txBody>
      </p:sp>
      <p:sp>
        <p:nvSpPr>
          <p:cNvPr id="94" name="TextBox 93"/>
          <p:cNvSpPr txBox="1"/>
          <p:nvPr/>
        </p:nvSpPr>
        <p:spPr>
          <a:xfrm>
            <a:off x="9875520" y="5495544"/>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cxnSp>
        <p:nvCxnSpPr>
          <p:cNvPr id="95" name="Connector 94"/>
          <p:cNvCxnSpPr/>
          <p:nvPr/>
        </p:nvCxnSpPr>
        <p:spPr>
          <a:xfrm>
            <a:off x="685800" y="5797296"/>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685800" y="5833872"/>
            <a:ext cx="3886200" cy="274320"/>
          </a:xfrm>
          <a:prstGeom prst="rect">
            <a:avLst/>
          </a:prstGeom>
          <a:noFill/>
        </p:spPr>
        <p:txBody>
          <a:bodyPr wrap="square" anchor="t" lIns="0" rIns="0" tIns="0" bIns="0">
            <a:spAutoFit/>
          </a:bodyPr>
          <a:lstStyle/>
          <a:p>
            <a:pPr algn="l"/>
            <a:r>
              <a:rPr sz="1050" b="0">
                <a:solidFill>
                  <a:srgbClr val="24392F"/>
                </a:solidFill>
                <a:latin typeface="맑은 고딕"/>
              </a:rPr>
              <a:t>Codex Sol · Astra · Luna · 상용</a:t>
            </a:r>
          </a:p>
        </p:txBody>
      </p:sp>
      <p:sp>
        <p:nvSpPr>
          <p:cNvPr id="97" name="TextBox 96"/>
          <p:cNvSpPr txBox="1"/>
          <p:nvPr/>
        </p:nvSpPr>
        <p:spPr>
          <a:xfrm>
            <a:off x="4663440" y="5833872"/>
            <a:ext cx="1005839" cy="274320"/>
          </a:xfrm>
          <a:prstGeom prst="rect">
            <a:avLst/>
          </a:prstGeom>
          <a:noFill/>
        </p:spPr>
        <p:txBody>
          <a:bodyPr wrap="square" anchor="t" lIns="0" rIns="0" tIns="0" bIns="0">
            <a:spAutoFit/>
          </a:bodyPr>
          <a:lstStyle/>
          <a:p>
            <a:pPr algn="r"/>
            <a:r>
              <a:rPr sz="1050" b="0">
                <a:solidFill>
                  <a:srgbClr val="24392F"/>
                </a:solidFill>
                <a:latin typeface="맑은 고딕"/>
              </a:rPr>
              <a:t>760 · 766 · 741</a:t>
            </a:r>
          </a:p>
        </p:txBody>
      </p:sp>
      <p:sp>
        <p:nvSpPr>
          <p:cNvPr id="98" name="TextBox 97"/>
          <p:cNvSpPr txBox="1"/>
          <p:nvPr/>
        </p:nvSpPr>
        <p:spPr>
          <a:xfrm>
            <a:off x="5760720" y="5833872"/>
            <a:ext cx="1280160" cy="274320"/>
          </a:xfrm>
          <a:prstGeom prst="rect">
            <a:avLst/>
          </a:prstGeom>
          <a:noFill/>
        </p:spPr>
        <p:txBody>
          <a:bodyPr wrap="square" anchor="t" lIns="0" rIns="0" tIns="0" bIns="0">
            <a:spAutoFit/>
          </a:bodyPr>
          <a:lstStyle/>
          <a:p>
            <a:pPr algn="r"/>
            <a:r>
              <a:rPr sz="1050" b="0">
                <a:solidFill>
                  <a:srgbClr val="6D7C73"/>
                </a:solidFill>
                <a:latin typeface="맑은 고딕"/>
              </a:rPr>
              <a:t>없음</a:t>
            </a:r>
          </a:p>
        </p:txBody>
      </p:sp>
      <p:sp>
        <p:nvSpPr>
          <p:cNvPr id="99" name="TextBox 98"/>
          <p:cNvSpPr txBox="1"/>
          <p:nvPr/>
        </p:nvSpPr>
        <p:spPr>
          <a:xfrm>
            <a:off x="7132320" y="5833872"/>
            <a:ext cx="1280160" cy="274320"/>
          </a:xfrm>
          <a:prstGeom prst="rect">
            <a:avLst/>
          </a:prstGeom>
          <a:noFill/>
        </p:spPr>
        <p:txBody>
          <a:bodyPr wrap="square" anchor="t" lIns="0" rIns="0" tIns="0" bIns="0">
            <a:spAutoFit/>
          </a:bodyPr>
          <a:lstStyle/>
          <a:p>
            <a:pPr algn="r"/>
            <a:r>
              <a:rPr sz="1050" b="0">
                <a:solidFill>
                  <a:srgbClr val="6D7C73"/>
                </a:solidFill>
                <a:latin typeface="맑은 고딕"/>
              </a:rPr>
              <a:t>없음</a:t>
            </a:r>
          </a:p>
        </p:txBody>
      </p:sp>
      <p:sp>
        <p:nvSpPr>
          <p:cNvPr id="100" name="TextBox 99"/>
          <p:cNvSpPr txBox="1"/>
          <p:nvPr/>
        </p:nvSpPr>
        <p:spPr>
          <a:xfrm>
            <a:off x="8503920" y="5833872"/>
            <a:ext cx="1280160" cy="274320"/>
          </a:xfrm>
          <a:prstGeom prst="rect">
            <a:avLst/>
          </a:prstGeom>
          <a:noFill/>
        </p:spPr>
        <p:txBody>
          <a:bodyPr wrap="square" anchor="t" lIns="0" rIns="0" tIns="0" bIns="0">
            <a:spAutoFit/>
          </a:bodyPr>
          <a:lstStyle/>
          <a:p>
            <a:pPr algn="r"/>
            <a:r>
              <a:rPr sz="1050" b="0">
                <a:solidFill>
                  <a:srgbClr val="24392F"/>
                </a:solidFill>
                <a:latin typeface="맑은 고딕"/>
              </a:rPr>
              <a:t>814 · 823 · 793</a:t>
            </a:r>
          </a:p>
        </p:txBody>
      </p:sp>
      <p:sp>
        <p:nvSpPr>
          <p:cNvPr id="101" name="TextBox 100"/>
          <p:cNvSpPr txBox="1"/>
          <p:nvPr/>
        </p:nvSpPr>
        <p:spPr>
          <a:xfrm>
            <a:off x="9875520" y="5833872"/>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sp>
        <p:nvSpPr>
          <p:cNvPr id="102" name="TextBox 101"/>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769 = 둘을 묻는 66문제를 뺀 주 지표. 우리 모델은 항목을 하나만 내는 구조라 C 에서 66문제를 놓칩니다. D 는 둘을 묻는 질문을 뺀 2,669문제를 생각 모드를 끄고 채점(지금은 파인튜닝 Gemma 4 E4B 만 잼 · 나머지는 RAG 세션이 재는 중). 상용은 CLI 실행 · 출제자 편향으로 공정 비교 아님, Codex 의 A · B 는 기록 없음.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FAIR COMPARISON · COST</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점수는 상용 모델이 가장 높지만, 운영 비용이 문제입니다</a:t>
            </a:r>
          </a:p>
        </p:txBody>
      </p:sp>
      <p:sp>
        <p:nvSpPr>
          <p:cNvPr id="14" name="TextBox 13"/>
          <p:cNvSpPr txBox="1"/>
          <p:nvPr/>
        </p:nvSpPr>
        <p:spPr>
          <a:xfrm>
            <a:off x="685800" y="1481328"/>
            <a:ext cx="5120640" cy="274320"/>
          </a:xfrm>
          <a:prstGeom prst="rect">
            <a:avLst/>
          </a:prstGeom>
          <a:noFill/>
        </p:spPr>
        <p:txBody>
          <a:bodyPr wrap="square" anchor="t" lIns="0" rIns="0" tIns="0" bIns="0">
            <a:spAutoFit/>
          </a:bodyPr>
          <a:lstStyle/>
          <a:p>
            <a:pPr algn="l"/>
            <a:r>
              <a:rPr sz="1250" b="1">
                <a:solidFill>
                  <a:srgbClr val="24392F"/>
                </a:solidFill>
                <a:latin typeface="맑은 고딕"/>
              </a:rPr>
              <a:t>Codex 가 쓴 659문제  ·  Codex 모델 제외</a:t>
            </a:r>
          </a:p>
        </p:txBody>
      </p:sp>
      <p:pic>
        <p:nvPicPr>
          <p:cNvPr id="15" name="Picture 14" descr="fair_codex_made.png"/>
          <p:cNvPicPr>
            <a:picLocks noChangeAspect="1"/>
          </p:cNvPicPr>
          <p:nvPr/>
        </p:nvPicPr>
        <p:blipFill>
          <a:blip r:embed="rId2"/>
          <a:stretch>
            <a:fillRect/>
          </a:stretch>
        </p:blipFill>
        <p:spPr>
          <a:xfrm>
            <a:off x="685800" y="1860864"/>
            <a:ext cx="5120640" cy="2450471"/>
          </a:xfrm>
          <a:prstGeom prst="rect">
            <a:avLst/>
          </a:prstGeom>
        </p:spPr>
      </p:pic>
      <p:sp>
        <p:nvSpPr>
          <p:cNvPr id="16" name="TextBox 15"/>
          <p:cNvSpPr txBox="1"/>
          <p:nvPr/>
        </p:nvSpPr>
        <p:spPr>
          <a:xfrm>
            <a:off x="6355080" y="1481328"/>
            <a:ext cx="5120640" cy="274320"/>
          </a:xfrm>
          <a:prstGeom prst="rect">
            <a:avLst/>
          </a:prstGeom>
          <a:noFill/>
        </p:spPr>
        <p:txBody>
          <a:bodyPr wrap="square" anchor="t" lIns="0" rIns="0" tIns="0" bIns="0">
            <a:spAutoFit/>
          </a:bodyPr>
          <a:lstStyle/>
          <a:p>
            <a:pPr algn="l"/>
            <a:r>
              <a:rPr sz="1250" b="1">
                <a:solidFill>
                  <a:srgbClr val="24392F"/>
                </a:solidFill>
                <a:latin typeface="맑은 고딕"/>
              </a:rPr>
              <a:t>Claude 가 쓴 176문제  ·  Claude 모델 제외</a:t>
            </a:r>
          </a:p>
        </p:txBody>
      </p:sp>
      <p:pic>
        <p:nvPicPr>
          <p:cNvPr id="17" name="Picture 16" descr="fair_claude_made.png"/>
          <p:cNvPicPr>
            <a:picLocks noChangeAspect="1"/>
          </p:cNvPicPr>
          <p:nvPr/>
        </p:nvPicPr>
        <p:blipFill>
          <a:blip r:embed="rId3"/>
          <a:stretch>
            <a:fillRect/>
          </a:stretch>
        </p:blipFill>
        <p:spPr>
          <a:xfrm>
            <a:off x="6574599" y="1783080"/>
            <a:ext cx="4681601" cy="2606040"/>
          </a:xfrm>
          <a:prstGeom prst="rect">
            <a:avLst/>
          </a:prstGeom>
        </p:spPr>
      </p:pic>
      <p:sp>
        <p:nvSpPr>
          <p:cNvPr id="18" name="TextBox 17"/>
          <p:cNvSpPr txBox="1"/>
          <p:nvPr/>
        </p:nvSpPr>
        <p:spPr>
          <a:xfrm>
            <a:off x="685800" y="4572000"/>
            <a:ext cx="3657600" cy="274320"/>
          </a:xfrm>
          <a:prstGeom prst="rect">
            <a:avLst/>
          </a:prstGeom>
          <a:noFill/>
        </p:spPr>
        <p:txBody>
          <a:bodyPr wrap="square" anchor="t" lIns="0" rIns="0" tIns="0" bIns="0">
            <a:spAutoFit/>
          </a:bodyPr>
          <a:lstStyle/>
          <a:p>
            <a:pPr algn="l"/>
            <a:r>
              <a:rPr sz="1200" b="1" spc="50">
                <a:solidFill>
                  <a:srgbClr val="6D7C73"/>
                </a:solidFill>
                <a:latin typeface="맑은 고딕"/>
              </a:rPr>
              <a:t>운영 비용 (한 달)</a:t>
            </a:r>
          </a:p>
        </p:txBody>
      </p:sp>
      <p:sp>
        <p:nvSpPr>
          <p:cNvPr id="19" name="Rounded Rectangle 18"/>
          <p:cNvSpPr/>
          <p:nvPr/>
        </p:nvSpPr>
        <p:spPr>
          <a:xfrm>
            <a:off x="685800" y="4892040"/>
            <a:ext cx="3474720" cy="1298448"/>
          </a:xfrm>
          <a:prstGeom prst="roundRect">
            <a:avLst>
              <a:gd name="adj" fmla="val 14084"/>
            </a:avLst>
          </a:prstGeom>
          <a:solidFill>
            <a:srgbClr val="FAF6EC"/>
          </a:solidFill>
          <a:ln w="12700">
            <a:solidFill>
              <a:srgbClr val="E5D9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983480"/>
            <a:ext cx="3108960" cy="274320"/>
          </a:xfrm>
          <a:prstGeom prst="rect">
            <a:avLst/>
          </a:prstGeom>
          <a:noFill/>
        </p:spPr>
        <p:txBody>
          <a:bodyPr wrap="square" anchor="t" lIns="0" rIns="0" tIns="0" bIns="0">
            <a:spAutoFit/>
          </a:bodyPr>
          <a:lstStyle/>
          <a:p>
            <a:pPr algn="l"/>
            <a:r>
              <a:rPr sz="1200" b="1">
                <a:solidFill>
                  <a:srgbClr val="82693E"/>
                </a:solidFill>
                <a:latin typeface="맑은 고딕"/>
              </a:rPr>
              <a:t>상용 API 만 쓸 때</a:t>
            </a:r>
          </a:p>
        </p:txBody>
      </p:sp>
      <p:sp>
        <p:nvSpPr>
          <p:cNvPr id="21" name="TextBox 20"/>
          <p:cNvSpPr txBox="1"/>
          <p:nvPr/>
        </p:nvSpPr>
        <p:spPr>
          <a:xfrm>
            <a:off x="914400" y="5230368"/>
            <a:ext cx="3108960" cy="548640"/>
          </a:xfrm>
          <a:prstGeom prst="rect">
            <a:avLst/>
          </a:prstGeom>
          <a:noFill/>
        </p:spPr>
        <p:txBody>
          <a:bodyPr wrap="square" anchor="t" lIns="0" rIns="0" tIns="0" bIns="0">
            <a:spAutoFit/>
          </a:bodyPr>
          <a:lstStyle/>
          <a:p>
            <a:pPr algn="l"/>
            <a:r>
              <a:rPr sz="2800" b="1" spc="-50">
                <a:solidFill>
                  <a:srgbClr val="82693E"/>
                </a:solidFill>
                <a:latin typeface="맑은 고딕"/>
              </a:rPr>
              <a:t>+5~10만원</a:t>
            </a:r>
          </a:p>
        </p:txBody>
      </p:sp>
      <p:sp>
        <p:nvSpPr>
          <p:cNvPr id="22" name="TextBox 21"/>
          <p:cNvSpPr txBox="1"/>
          <p:nvPr/>
        </p:nvSpPr>
        <p:spPr>
          <a:xfrm>
            <a:off x="914400" y="5742432"/>
            <a:ext cx="3108960" cy="411480"/>
          </a:xfrm>
          <a:prstGeom prst="rect">
            <a:avLst/>
          </a:prstGeom>
          <a:noFill/>
        </p:spPr>
        <p:txBody>
          <a:bodyPr wrap="square" anchor="t" lIns="0" rIns="0" tIns="0" bIns="0">
            <a:spAutoFit/>
          </a:bodyPr>
          <a:lstStyle/>
          <a:p>
            <a:pPr algn="l">
              <a:lnSpc>
                <a:spcPct val="110000"/>
              </a:lnSpc>
            </a:pPr>
            <a:r>
              <a:rPr sz="1000" b="0">
                <a:solidFill>
                  <a:srgbClr val="526858"/>
                </a:solidFill>
                <a:latin typeface="맑은 고딕"/>
              </a:rPr>
              <a:t>상위 모델 사용량 과금 · 서버는 따로 필요</a:t>
            </a:r>
          </a:p>
        </p:txBody>
      </p:sp>
      <p:sp>
        <p:nvSpPr>
          <p:cNvPr id="23" name="Rounded Rectangle 22"/>
          <p:cNvSpPr/>
          <p:nvPr/>
        </p:nvSpPr>
        <p:spPr>
          <a:xfrm>
            <a:off x="4325112" y="4892040"/>
            <a:ext cx="3474720" cy="1298448"/>
          </a:xfrm>
          <a:prstGeom prst="roundRect">
            <a:avLst>
              <a:gd name="adj" fmla="val 14084"/>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3712" y="4983480"/>
            <a:ext cx="3108960" cy="274320"/>
          </a:xfrm>
          <a:prstGeom prst="rect">
            <a:avLst/>
          </a:prstGeom>
          <a:noFill/>
        </p:spPr>
        <p:txBody>
          <a:bodyPr wrap="square" anchor="t" lIns="0" rIns="0" tIns="0" bIns="0">
            <a:spAutoFit/>
          </a:bodyPr>
          <a:lstStyle/>
          <a:p>
            <a:pPr algn="l"/>
            <a:r>
              <a:rPr sz="1200" b="1">
                <a:solidFill>
                  <a:srgbClr val="24392F"/>
                </a:solidFill>
                <a:latin typeface="맑은 고딕"/>
              </a:rPr>
              <a:t>RunPod GPU 서버</a:t>
            </a:r>
          </a:p>
        </p:txBody>
      </p:sp>
      <p:sp>
        <p:nvSpPr>
          <p:cNvPr id="25" name="TextBox 24"/>
          <p:cNvSpPr txBox="1"/>
          <p:nvPr/>
        </p:nvSpPr>
        <p:spPr>
          <a:xfrm>
            <a:off x="4553712" y="5230368"/>
            <a:ext cx="3108960" cy="548640"/>
          </a:xfrm>
          <a:prstGeom prst="rect">
            <a:avLst/>
          </a:prstGeom>
          <a:noFill/>
        </p:spPr>
        <p:txBody>
          <a:bodyPr wrap="square" anchor="t" lIns="0" rIns="0" tIns="0" bIns="0">
            <a:spAutoFit/>
          </a:bodyPr>
          <a:lstStyle/>
          <a:p>
            <a:pPr algn="l"/>
            <a:r>
              <a:rPr sz="2800" b="1" spc="-50">
                <a:solidFill>
                  <a:srgbClr val="24392F"/>
                </a:solidFill>
                <a:latin typeface="맑은 고딕"/>
              </a:rPr>
              <a:t>24만원</a:t>
            </a:r>
          </a:p>
        </p:txBody>
      </p:sp>
      <p:sp>
        <p:nvSpPr>
          <p:cNvPr id="26" name="TextBox 25"/>
          <p:cNvSpPr txBox="1"/>
          <p:nvPr/>
        </p:nvSpPr>
        <p:spPr>
          <a:xfrm>
            <a:off x="4553712" y="5742432"/>
            <a:ext cx="3108960" cy="411480"/>
          </a:xfrm>
          <a:prstGeom prst="rect">
            <a:avLst/>
          </a:prstGeom>
          <a:noFill/>
        </p:spPr>
        <p:txBody>
          <a:bodyPr wrap="square" anchor="t" lIns="0" rIns="0" tIns="0" bIns="0">
            <a:spAutoFit/>
          </a:bodyPr>
          <a:lstStyle/>
          <a:p>
            <a:pPr algn="l">
              <a:lnSpc>
                <a:spcPct val="110000"/>
              </a:lnSpc>
            </a:pPr>
            <a:r>
              <a:rPr sz="1000" b="0">
                <a:solidFill>
                  <a:srgbClr val="526858"/>
                </a:solidFill>
                <a:latin typeface="맑은 고딕"/>
              </a:rPr>
              <a:t>월 고정</a:t>
            </a:r>
          </a:p>
        </p:txBody>
      </p:sp>
      <p:sp>
        <p:nvSpPr>
          <p:cNvPr id="27" name="Rounded Rectangle 26"/>
          <p:cNvSpPr/>
          <p:nvPr/>
        </p:nvSpPr>
        <p:spPr>
          <a:xfrm>
            <a:off x="7964424" y="4892040"/>
            <a:ext cx="3474720" cy="1298448"/>
          </a:xfrm>
          <a:prstGeom prst="roundRect">
            <a:avLst>
              <a:gd name="adj" fmla="val 14084"/>
            </a:avLst>
          </a:prstGeom>
          <a:solidFill>
            <a:srgbClr val="E9F2EB"/>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93024" y="4983480"/>
            <a:ext cx="3108960" cy="274320"/>
          </a:xfrm>
          <a:prstGeom prst="rect">
            <a:avLst/>
          </a:prstGeom>
          <a:noFill/>
        </p:spPr>
        <p:txBody>
          <a:bodyPr wrap="square" anchor="t" lIns="0" rIns="0" tIns="0" bIns="0">
            <a:spAutoFit/>
          </a:bodyPr>
          <a:lstStyle/>
          <a:p>
            <a:pPr algn="l"/>
            <a:r>
              <a:rPr sz="1200" b="1">
                <a:solidFill>
                  <a:srgbClr val="2E6047"/>
                </a:solidFill>
                <a:latin typeface="맑은 고딕"/>
              </a:rPr>
              <a:t>오라클 무료 서버</a:t>
            </a:r>
          </a:p>
        </p:txBody>
      </p:sp>
      <p:sp>
        <p:nvSpPr>
          <p:cNvPr id="29" name="TextBox 28"/>
          <p:cNvSpPr txBox="1"/>
          <p:nvPr/>
        </p:nvSpPr>
        <p:spPr>
          <a:xfrm>
            <a:off x="8193024" y="5230368"/>
            <a:ext cx="3108960" cy="548640"/>
          </a:xfrm>
          <a:prstGeom prst="rect">
            <a:avLst/>
          </a:prstGeom>
          <a:noFill/>
        </p:spPr>
        <p:txBody>
          <a:bodyPr wrap="square" anchor="t" lIns="0" rIns="0" tIns="0" bIns="0">
            <a:spAutoFit/>
          </a:bodyPr>
          <a:lstStyle/>
          <a:p>
            <a:pPr algn="l"/>
            <a:r>
              <a:rPr sz="2800" b="1" spc="-50">
                <a:solidFill>
                  <a:srgbClr val="2E6047"/>
                </a:solidFill>
                <a:latin typeface="맑은 고딕"/>
              </a:rPr>
              <a:t>0원</a:t>
            </a:r>
          </a:p>
        </p:txBody>
      </p:sp>
      <p:sp>
        <p:nvSpPr>
          <p:cNvPr id="30" name="TextBox 29"/>
          <p:cNvSpPr txBox="1"/>
          <p:nvPr/>
        </p:nvSpPr>
        <p:spPr>
          <a:xfrm>
            <a:off x="8193024" y="5742432"/>
            <a:ext cx="3108960" cy="411480"/>
          </a:xfrm>
          <a:prstGeom prst="rect">
            <a:avLst/>
          </a:prstGeom>
          <a:noFill/>
        </p:spPr>
        <p:txBody>
          <a:bodyPr wrap="square" anchor="t" lIns="0" rIns="0" tIns="0" bIns="0">
            <a:spAutoFit/>
          </a:bodyPr>
          <a:lstStyle/>
          <a:p>
            <a:pPr algn="l">
              <a:lnSpc>
                <a:spcPct val="110000"/>
              </a:lnSpc>
            </a:pPr>
            <a:r>
              <a:rPr sz="1000" b="0">
                <a:solidFill>
                  <a:srgbClr val="526858"/>
                </a:solidFill>
                <a:latin typeface="맑은 고딕"/>
              </a:rPr>
              <a:t>2 CPU · 12GB · 월 10TB · 처리량 측정 중</a:t>
            </a:r>
          </a:p>
        </p:txBody>
      </p:sp>
      <p:sp>
        <p:nvSpPr>
          <p:cNvPr id="31" name="TextBox 30"/>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B: 둘 다 묻는 질문은 하나라도 맞으면 정답 · C: 묶음이 정답과 같아야 정답. 비용은 사용자 제공(10-07), 무료 서버 처리량은 측정 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COST BREAK-EVEN</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하루 질문 수에 따라 가장 싼 방식이 바뀝니다</a:t>
            </a:r>
          </a:p>
        </p:txBody>
      </p:sp>
      <p:pic>
        <p:nvPicPr>
          <p:cNvPr id="14" name="Picture 13" descr="breakeven.png"/>
          <p:cNvPicPr>
            <a:picLocks noChangeAspect="1"/>
          </p:cNvPicPr>
          <p:nvPr/>
        </p:nvPicPr>
        <p:blipFill>
          <a:blip r:embed="rId2"/>
          <a:stretch>
            <a:fillRect/>
          </a:stretch>
        </p:blipFill>
        <p:spPr>
          <a:xfrm>
            <a:off x="594360" y="1635265"/>
            <a:ext cx="6766560" cy="3898365"/>
          </a:xfrm>
          <a:prstGeom prst="rect">
            <a:avLst/>
          </a:prstGeom>
        </p:spPr>
      </p:pic>
      <p:sp>
        <p:nvSpPr>
          <p:cNvPr id="15" name="TextBox 14"/>
          <p:cNvSpPr txBox="1"/>
          <p:nvPr/>
        </p:nvSpPr>
        <p:spPr>
          <a:xfrm>
            <a:off x="7589520" y="1554480"/>
            <a:ext cx="3931920" cy="274320"/>
          </a:xfrm>
          <a:prstGeom prst="rect">
            <a:avLst/>
          </a:prstGeom>
          <a:noFill/>
        </p:spPr>
        <p:txBody>
          <a:bodyPr wrap="square" anchor="t" lIns="0" rIns="0" tIns="0" bIns="0">
            <a:spAutoFit/>
          </a:bodyPr>
          <a:lstStyle/>
          <a:p>
            <a:pPr algn="l"/>
            <a:r>
              <a:rPr sz="1300" b="1">
                <a:solidFill>
                  <a:srgbClr val="24392F"/>
                </a:solidFill>
                <a:latin typeface="맑은 고딕"/>
              </a:rPr>
              <a:t>금액은 이렇게 나왔습니다</a:t>
            </a:r>
          </a:p>
        </p:txBody>
      </p:sp>
      <p:sp>
        <p:nvSpPr>
          <p:cNvPr id="16" name="TextBox 15"/>
          <p:cNvSpPr txBox="1"/>
          <p:nvPr/>
        </p:nvSpPr>
        <p:spPr>
          <a:xfrm>
            <a:off x="7589520" y="1938528"/>
            <a:ext cx="960120" cy="274320"/>
          </a:xfrm>
          <a:prstGeom prst="rect">
            <a:avLst/>
          </a:prstGeom>
          <a:noFill/>
        </p:spPr>
        <p:txBody>
          <a:bodyPr wrap="square" anchor="t" lIns="0" rIns="0" tIns="0" bIns="0">
            <a:spAutoFit/>
          </a:bodyPr>
          <a:lstStyle/>
          <a:p>
            <a:pPr algn="l"/>
            <a:r>
              <a:rPr sz="1100" b="1">
                <a:solidFill>
                  <a:srgbClr val="2E6047"/>
                </a:solidFill>
                <a:latin typeface="맑은 고딕"/>
              </a:rPr>
              <a:t>API 1건</a:t>
            </a:r>
          </a:p>
        </p:txBody>
      </p:sp>
      <p:sp>
        <p:nvSpPr>
          <p:cNvPr id="17" name="TextBox 16"/>
          <p:cNvSpPr txBox="1"/>
          <p:nvPr/>
        </p:nvSpPr>
        <p:spPr>
          <a:xfrm>
            <a:off x="8577072" y="1938528"/>
            <a:ext cx="2926080" cy="822960"/>
          </a:xfrm>
          <a:prstGeom prst="rect">
            <a:avLst/>
          </a:prstGeom>
          <a:noFill/>
        </p:spPr>
        <p:txBody>
          <a:bodyPr wrap="square" anchor="t" lIns="0" rIns="0" tIns="0" bIns="0">
            <a:spAutoFit/>
          </a:bodyPr>
          <a:lstStyle/>
          <a:p>
            <a:pPr algn="l">
              <a:lnSpc>
                <a:spcPct val="112000"/>
              </a:lnSpc>
            </a:pPr>
            <a:r>
              <a:rPr sz="1050" b="0">
                <a:solidFill>
                  <a:srgbClr val="24392F"/>
                </a:solidFill>
                <a:latin typeface="맑은 고딕"/>
              </a:rPr>
              <a:t>입력 1,700 + 출력 12토큰 × 공식 단가 × 1,400원/달러
Luna 0.25 · Sol 4.93 · Opus 5.5 9.86 · Astra · Fable 5.1 24.64원</a:t>
            </a:r>
          </a:p>
        </p:txBody>
      </p:sp>
      <p:cxnSp>
        <p:nvCxnSpPr>
          <p:cNvPr id="18" name="Connector 17"/>
          <p:cNvCxnSpPr/>
          <p:nvPr/>
        </p:nvCxnSpPr>
        <p:spPr>
          <a:xfrm>
            <a:off x="7589520" y="2761488"/>
            <a:ext cx="39136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589520" y="2852928"/>
            <a:ext cx="960120" cy="274320"/>
          </a:xfrm>
          <a:prstGeom prst="rect">
            <a:avLst/>
          </a:prstGeom>
          <a:noFill/>
        </p:spPr>
        <p:txBody>
          <a:bodyPr wrap="square" anchor="t" lIns="0" rIns="0" tIns="0" bIns="0">
            <a:spAutoFit/>
          </a:bodyPr>
          <a:lstStyle/>
          <a:p>
            <a:pPr algn="l"/>
            <a:r>
              <a:rPr sz="1100" b="1">
                <a:solidFill>
                  <a:srgbClr val="2E6047"/>
                </a:solidFill>
                <a:latin typeface="맑은 고딕"/>
              </a:rPr>
              <a:t>앱 서버</a:t>
            </a:r>
          </a:p>
        </p:txBody>
      </p:sp>
      <p:sp>
        <p:nvSpPr>
          <p:cNvPr id="20" name="TextBox 19"/>
          <p:cNvSpPr txBox="1"/>
          <p:nvPr/>
        </p:nvSpPr>
        <p:spPr>
          <a:xfrm>
            <a:off x="8577072" y="2852928"/>
            <a:ext cx="2926080" cy="822960"/>
          </a:xfrm>
          <a:prstGeom prst="rect">
            <a:avLst/>
          </a:prstGeom>
          <a:noFill/>
        </p:spPr>
        <p:txBody>
          <a:bodyPr wrap="square" anchor="t" lIns="0" rIns="0" tIns="0" bIns="0">
            <a:spAutoFit/>
          </a:bodyPr>
          <a:lstStyle/>
          <a:p>
            <a:pPr algn="l">
              <a:lnSpc>
                <a:spcPct val="112000"/>
              </a:lnSpc>
            </a:pPr>
            <a:r>
              <a:rPr sz="1050" b="0">
                <a:solidFill>
                  <a:srgbClr val="24392F"/>
                </a:solidFill>
                <a:latin typeface="맑은 고딕"/>
              </a:rPr>
              <a:t>API 를 써도 서버는 필요 · AWS 서울 t3.medium 월 5.4만원</a:t>
            </a:r>
          </a:p>
        </p:txBody>
      </p:sp>
      <p:cxnSp>
        <p:nvCxnSpPr>
          <p:cNvPr id="21" name="Connector 20"/>
          <p:cNvCxnSpPr/>
          <p:nvPr/>
        </p:nvCxnSpPr>
        <p:spPr>
          <a:xfrm>
            <a:off x="7589520" y="3675888"/>
            <a:ext cx="39136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589520" y="3767328"/>
            <a:ext cx="960120" cy="274320"/>
          </a:xfrm>
          <a:prstGeom prst="rect">
            <a:avLst/>
          </a:prstGeom>
          <a:noFill/>
        </p:spPr>
        <p:txBody>
          <a:bodyPr wrap="square" anchor="t" lIns="0" rIns="0" tIns="0" bIns="0">
            <a:spAutoFit/>
          </a:bodyPr>
          <a:lstStyle/>
          <a:p>
            <a:pPr algn="l"/>
            <a:r>
              <a:rPr sz="1100" b="1">
                <a:solidFill>
                  <a:srgbClr val="2E6047"/>
                </a:solidFill>
                <a:latin typeface="맑은 고딕"/>
              </a:rPr>
              <a:t>RunPod</a:t>
            </a:r>
          </a:p>
        </p:txBody>
      </p:sp>
      <p:sp>
        <p:nvSpPr>
          <p:cNvPr id="23" name="TextBox 22"/>
          <p:cNvSpPr txBox="1"/>
          <p:nvPr/>
        </p:nvSpPr>
        <p:spPr>
          <a:xfrm>
            <a:off x="8577072" y="3767328"/>
            <a:ext cx="2926080" cy="822960"/>
          </a:xfrm>
          <a:prstGeom prst="rect">
            <a:avLst/>
          </a:prstGeom>
          <a:noFill/>
        </p:spPr>
        <p:txBody>
          <a:bodyPr wrap="square" anchor="t" lIns="0" rIns="0" tIns="0" bIns="0">
            <a:spAutoFit/>
          </a:bodyPr>
          <a:lstStyle/>
          <a:p>
            <a:pPr algn="l">
              <a:lnSpc>
                <a:spcPct val="112000"/>
              </a:lnSpc>
            </a:pPr>
            <a:r>
              <a:rPr sz="1050" b="0">
                <a:solidFill>
                  <a:srgbClr val="24392F"/>
                </a:solidFill>
                <a:latin typeface="맑은 고딕"/>
              </a:rPr>
              <a:t>RTX 2000 Ada $0.24 × 730시간
= 월 24.5만원(앱 포함) · 한 대 하루 약 4.2만 건</a:t>
            </a:r>
          </a:p>
        </p:txBody>
      </p:sp>
      <p:cxnSp>
        <p:nvCxnSpPr>
          <p:cNvPr id="24" name="Connector 23"/>
          <p:cNvCxnSpPr/>
          <p:nvPr/>
        </p:nvCxnSpPr>
        <p:spPr>
          <a:xfrm>
            <a:off x="7589520" y="4590288"/>
            <a:ext cx="39136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589520" y="4681728"/>
            <a:ext cx="960120" cy="274320"/>
          </a:xfrm>
          <a:prstGeom prst="rect">
            <a:avLst/>
          </a:prstGeom>
          <a:noFill/>
        </p:spPr>
        <p:txBody>
          <a:bodyPr wrap="square" anchor="t" lIns="0" rIns="0" tIns="0" bIns="0">
            <a:spAutoFit/>
          </a:bodyPr>
          <a:lstStyle/>
          <a:p>
            <a:pPr algn="l"/>
            <a:r>
              <a:rPr sz="1100" b="1">
                <a:solidFill>
                  <a:srgbClr val="2E6047"/>
                </a:solidFill>
                <a:latin typeface="맑은 고딕"/>
              </a:rPr>
              <a:t>오라클 무료</a:t>
            </a:r>
          </a:p>
        </p:txBody>
      </p:sp>
      <p:sp>
        <p:nvSpPr>
          <p:cNvPr id="26" name="TextBox 25"/>
          <p:cNvSpPr txBox="1"/>
          <p:nvPr/>
        </p:nvSpPr>
        <p:spPr>
          <a:xfrm>
            <a:off x="8577072" y="4681728"/>
            <a:ext cx="2926080" cy="822960"/>
          </a:xfrm>
          <a:prstGeom prst="rect">
            <a:avLst/>
          </a:prstGeom>
          <a:noFill/>
        </p:spPr>
        <p:txBody>
          <a:bodyPr wrap="square" anchor="t" lIns="0" rIns="0" tIns="0" bIns="0">
            <a:spAutoFit/>
          </a:bodyPr>
          <a:lstStyle/>
          <a:p>
            <a:pPr algn="l">
              <a:lnSpc>
                <a:spcPct val="112000"/>
              </a:lnSpc>
            </a:pPr>
            <a:r>
              <a:rPr sz="1050" b="0">
                <a:solidFill>
                  <a:srgbClr val="24392F"/>
                </a:solidFill>
                <a:latin typeface="맑은 고딕"/>
              </a:rPr>
              <a:t>2코어 ARM · 12GB · 월 10TB = 0원 · 트래픽은 약 12억 건
실측: 이어지는 질문 7.7초 · 새 일정 112.5초 · 하루 약 3,000건</a:t>
            </a:r>
          </a:p>
        </p:txBody>
      </p:sp>
      <p:sp>
        <p:nvSpPr>
          <p:cNvPr id="27" name="Rounded Rectangle 26"/>
          <p:cNvSpPr/>
          <p:nvPr/>
        </p:nvSpPr>
        <p:spPr>
          <a:xfrm>
            <a:off x="685800" y="5733288"/>
            <a:ext cx="10817352" cy="502920"/>
          </a:xfrm>
          <a:prstGeom prst="roundRect">
            <a:avLst>
              <a:gd name="adj" fmla="val 3636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733288"/>
            <a:ext cx="10360152" cy="502920"/>
          </a:xfrm>
          <a:prstGeom prst="rect">
            <a:avLst/>
          </a:prstGeom>
          <a:noFill/>
        </p:spPr>
        <p:txBody>
          <a:bodyPr wrap="square" anchor="ctr" lIns="0" rIns="0" tIns="0" bIns="0">
            <a:spAutoFit/>
          </a:bodyPr>
          <a:lstStyle/>
          <a:p>
            <a:pPr algn="l"/>
            <a:r>
              <a:rPr sz="1200" b="1">
                <a:solidFill>
                  <a:srgbClr val="2E6047"/>
                </a:solidFill>
                <a:latin typeface="맑은 고딕"/>
              </a:rPr>
              <a:t>읽는 법  </a:t>
            </a:r>
            <a:r>
              <a:rPr sz="1200" b="0">
                <a:solidFill>
                  <a:srgbClr val="24392F"/>
                </a:solidFill>
                <a:latin typeface="맑은 고딕"/>
              </a:rPr>
              <a:t>한 가지 방식만 쓸 때의 비교입니다. 실제로는 섞어 쓰며, 질문 수별 가장 싼 조합은 다음 장에 있습니다.</a:t>
            </a:r>
          </a:p>
        </p:txBody>
      </p:sp>
      <p:sp>
        <p:nvSpPr>
          <p:cNvPr id="29" name="TextBox 28"/>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단가: Claude · OpenAI 공식 가격 페이지(10-07 확인), 생각 토큰 · 캐시는 뺀 값. 「API 만 쓰면 월 5~10만원」은 Luna + 앱 서버 하루 1천~5천 건(6.1~9.1만원)과 맞습니다. 트래픽은 CPU 보다 한참 뒤에 막힙니다.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SCALING PLAN</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무료 서버만 → +API → GPU 서버 → 증설 순으로 넘어갑니다</a:t>
            </a:r>
          </a:p>
        </p:txBody>
      </p:sp>
      <p:pic>
        <p:nvPicPr>
          <p:cNvPr id="14" name="Picture 13" descr="scaling.png"/>
          <p:cNvPicPr>
            <a:picLocks noChangeAspect="1"/>
          </p:cNvPicPr>
          <p:nvPr/>
        </p:nvPicPr>
        <p:blipFill>
          <a:blip r:embed="rId2"/>
          <a:stretch>
            <a:fillRect/>
          </a:stretch>
        </p:blipFill>
        <p:spPr>
          <a:xfrm>
            <a:off x="644895" y="1463040"/>
            <a:ext cx="6025408" cy="3429000"/>
          </a:xfrm>
          <a:prstGeom prst="rect">
            <a:avLst/>
          </a:prstGeom>
        </p:spPr>
      </p:pic>
      <p:sp>
        <p:nvSpPr>
          <p:cNvPr id="15" name="TextBox 14"/>
          <p:cNvSpPr txBox="1"/>
          <p:nvPr/>
        </p:nvSpPr>
        <p:spPr>
          <a:xfrm>
            <a:off x="6858000" y="1508760"/>
            <a:ext cx="4663440" cy="274320"/>
          </a:xfrm>
          <a:prstGeom prst="rect">
            <a:avLst/>
          </a:prstGeom>
          <a:noFill/>
        </p:spPr>
        <p:txBody>
          <a:bodyPr wrap="square" anchor="t" lIns="0" rIns="0" tIns="0" bIns="0">
            <a:spAutoFit/>
          </a:bodyPr>
          <a:lstStyle/>
          <a:p>
            <a:pPr algn="l"/>
            <a:r>
              <a:rPr sz="1250" b="1">
                <a:solidFill>
                  <a:srgbClr val="24392F"/>
                </a:solidFill>
                <a:latin typeface="맑은 고딕"/>
              </a:rPr>
              <a:t>비용 우선 경로 (넘치는 질문은 Luna API)</a:t>
            </a:r>
          </a:p>
        </p:txBody>
      </p:sp>
      <p:sp>
        <p:nvSpPr>
          <p:cNvPr id="16" name="TextBox 15"/>
          <p:cNvSpPr txBox="1"/>
          <p:nvPr/>
        </p:nvSpPr>
        <p:spPr>
          <a:xfrm>
            <a:off x="6858000" y="1828800"/>
            <a:ext cx="320040" cy="365760"/>
          </a:xfrm>
          <a:prstGeom prst="rect">
            <a:avLst/>
          </a:prstGeom>
          <a:noFill/>
        </p:spPr>
        <p:txBody>
          <a:bodyPr wrap="square" anchor="t" lIns="0" rIns="0" tIns="0" bIns="0">
            <a:spAutoFit/>
          </a:bodyPr>
          <a:lstStyle/>
          <a:p>
            <a:pPr algn="l"/>
            <a:r>
              <a:rPr sz="1300" b="1">
                <a:solidFill>
                  <a:srgbClr val="2E6047"/>
                </a:solidFill>
                <a:latin typeface="맑은 고딕"/>
              </a:rPr>
              <a:t>⓪</a:t>
            </a:r>
          </a:p>
        </p:txBody>
      </p:sp>
      <p:sp>
        <p:nvSpPr>
          <p:cNvPr id="17" name="TextBox 16"/>
          <p:cNvSpPr txBox="1"/>
          <p:nvPr/>
        </p:nvSpPr>
        <p:spPr>
          <a:xfrm>
            <a:off x="7205472" y="1828800"/>
            <a:ext cx="1143000" cy="274320"/>
          </a:xfrm>
          <a:prstGeom prst="rect">
            <a:avLst/>
          </a:prstGeom>
          <a:noFill/>
        </p:spPr>
        <p:txBody>
          <a:bodyPr wrap="square" anchor="t" lIns="0" rIns="0" tIns="0" bIns="0">
            <a:spAutoFit/>
          </a:bodyPr>
          <a:lstStyle/>
          <a:p>
            <a:pPr algn="l"/>
            <a:r>
              <a:rPr sz="1000" b="1">
                <a:solidFill>
                  <a:srgbClr val="6D7C73"/>
                </a:solidFill>
                <a:latin typeface="맑은 고딕"/>
              </a:rPr>
              <a:t>~1.5천</a:t>
            </a:r>
          </a:p>
        </p:txBody>
      </p:sp>
      <p:sp>
        <p:nvSpPr>
          <p:cNvPr id="18" name="TextBox 17"/>
          <p:cNvSpPr txBox="1"/>
          <p:nvPr/>
        </p:nvSpPr>
        <p:spPr>
          <a:xfrm>
            <a:off x="8321040" y="1828800"/>
            <a:ext cx="2194560" cy="274320"/>
          </a:xfrm>
          <a:prstGeom prst="rect">
            <a:avLst/>
          </a:prstGeom>
          <a:noFill/>
        </p:spPr>
        <p:txBody>
          <a:bodyPr wrap="square" anchor="t" lIns="0" rIns="0" tIns="0" bIns="0">
            <a:spAutoFit/>
          </a:bodyPr>
          <a:lstStyle/>
          <a:p>
            <a:pPr algn="l"/>
            <a:r>
              <a:rPr sz="1100" b="1">
                <a:solidFill>
                  <a:srgbClr val="24392F"/>
                </a:solidFill>
                <a:latin typeface="맑은 고딕"/>
              </a:rPr>
              <a:t>무료 서버만</a:t>
            </a:r>
          </a:p>
        </p:txBody>
      </p:sp>
      <p:sp>
        <p:nvSpPr>
          <p:cNvPr id="19" name="TextBox 18"/>
          <p:cNvSpPr txBox="1"/>
          <p:nvPr/>
        </p:nvSpPr>
        <p:spPr>
          <a:xfrm>
            <a:off x="10515600" y="1828800"/>
            <a:ext cx="987552" cy="274320"/>
          </a:xfrm>
          <a:prstGeom prst="rect">
            <a:avLst/>
          </a:prstGeom>
          <a:noFill/>
        </p:spPr>
        <p:txBody>
          <a:bodyPr wrap="square" anchor="t" lIns="0" rIns="0" tIns="0" bIns="0">
            <a:spAutoFit/>
          </a:bodyPr>
          <a:lstStyle/>
          <a:p>
            <a:pPr algn="r"/>
            <a:r>
              <a:rPr sz="1000" b="1">
                <a:solidFill>
                  <a:srgbClr val="2E6047"/>
                </a:solidFill>
                <a:latin typeface="맑은 고딕"/>
              </a:rPr>
              <a:t>0원</a:t>
            </a:r>
          </a:p>
        </p:txBody>
      </p:sp>
      <p:sp>
        <p:nvSpPr>
          <p:cNvPr id="20" name="TextBox 19"/>
          <p:cNvSpPr txBox="1"/>
          <p:nvPr/>
        </p:nvSpPr>
        <p:spPr>
          <a:xfrm>
            <a:off x="8321040" y="2029968"/>
            <a:ext cx="3200400" cy="237744"/>
          </a:xfrm>
          <a:prstGeom prst="rect">
            <a:avLst/>
          </a:prstGeom>
          <a:noFill/>
        </p:spPr>
        <p:txBody>
          <a:bodyPr wrap="square" anchor="t" lIns="0" rIns="0" tIns="0" bIns="0">
            <a:spAutoFit/>
          </a:bodyPr>
          <a:lstStyle/>
          <a:p>
            <a:pPr algn="l"/>
            <a:r>
              <a:rPr sz="850" b="0">
                <a:solidFill>
                  <a:srgbClr val="526858"/>
                </a:solidFill>
                <a:latin typeface="맑은 고딕"/>
              </a:rPr>
              <a:t>일정을 등록 · 변경할 때 미리 읽어 둠 → 모든 질문 7.7초</a:t>
            </a:r>
          </a:p>
        </p:txBody>
      </p:sp>
      <p:cxnSp>
        <p:nvCxnSpPr>
          <p:cNvPr id="21" name="Connector 20"/>
          <p:cNvCxnSpPr/>
          <p:nvPr/>
        </p:nvCxnSpPr>
        <p:spPr>
          <a:xfrm>
            <a:off x="6858000" y="2313432"/>
            <a:ext cx="46451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0" y="2340864"/>
            <a:ext cx="320040" cy="365760"/>
          </a:xfrm>
          <a:prstGeom prst="rect">
            <a:avLst/>
          </a:prstGeom>
          <a:noFill/>
        </p:spPr>
        <p:txBody>
          <a:bodyPr wrap="square" anchor="t" lIns="0" rIns="0" tIns="0" bIns="0">
            <a:spAutoFit/>
          </a:bodyPr>
          <a:lstStyle/>
          <a:p>
            <a:pPr algn="l"/>
            <a:r>
              <a:rPr sz="1300" b="1">
                <a:solidFill>
                  <a:srgbClr val="2E6047"/>
                </a:solidFill>
                <a:latin typeface="맑은 고딕"/>
              </a:rPr>
              <a:t>①</a:t>
            </a:r>
          </a:p>
        </p:txBody>
      </p:sp>
      <p:sp>
        <p:nvSpPr>
          <p:cNvPr id="23" name="TextBox 22"/>
          <p:cNvSpPr txBox="1"/>
          <p:nvPr/>
        </p:nvSpPr>
        <p:spPr>
          <a:xfrm>
            <a:off x="7205472" y="2340864"/>
            <a:ext cx="1143000" cy="274320"/>
          </a:xfrm>
          <a:prstGeom prst="rect">
            <a:avLst/>
          </a:prstGeom>
          <a:noFill/>
        </p:spPr>
        <p:txBody>
          <a:bodyPr wrap="square" anchor="t" lIns="0" rIns="0" tIns="0" bIns="0">
            <a:spAutoFit/>
          </a:bodyPr>
          <a:lstStyle/>
          <a:p>
            <a:pPr algn="l"/>
            <a:r>
              <a:rPr sz="1000" b="1">
                <a:solidFill>
                  <a:srgbClr val="6D7C73"/>
                </a:solidFill>
                <a:latin typeface="맑은 고딕"/>
              </a:rPr>
              <a:t>1.5천~7천</a:t>
            </a:r>
          </a:p>
        </p:txBody>
      </p:sp>
      <p:sp>
        <p:nvSpPr>
          <p:cNvPr id="24" name="TextBox 23"/>
          <p:cNvSpPr txBox="1"/>
          <p:nvPr/>
        </p:nvSpPr>
        <p:spPr>
          <a:xfrm>
            <a:off x="8321040" y="2340864"/>
            <a:ext cx="2194560" cy="274320"/>
          </a:xfrm>
          <a:prstGeom prst="rect">
            <a:avLst/>
          </a:prstGeom>
          <a:noFill/>
        </p:spPr>
        <p:txBody>
          <a:bodyPr wrap="square" anchor="t" lIns="0" rIns="0" tIns="0" bIns="0">
            <a:spAutoFit/>
          </a:bodyPr>
          <a:lstStyle/>
          <a:p>
            <a:pPr algn="l"/>
            <a:r>
              <a:rPr sz="1100" b="1">
                <a:solidFill>
                  <a:srgbClr val="24392F"/>
                </a:solidFill>
                <a:latin typeface="맑은 고딕"/>
              </a:rPr>
              <a:t>무료 서버 + API</a:t>
            </a:r>
          </a:p>
        </p:txBody>
      </p:sp>
      <p:sp>
        <p:nvSpPr>
          <p:cNvPr id="25" name="TextBox 24"/>
          <p:cNvSpPr txBox="1"/>
          <p:nvPr/>
        </p:nvSpPr>
        <p:spPr>
          <a:xfrm>
            <a:off x="10515600" y="2340864"/>
            <a:ext cx="987552" cy="274320"/>
          </a:xfrm>
          <a:prstGeom prst="rect">
            <a:avLst/>
          </a:prstGeom>
          <a:noFill/>
        </p:spPr>
        <p:txBody>
          <a:bodyPr wrap="square" anchor="t" lIns="0" rIns="0" tIns="0" bIns="0">
            <a:spAutoFit/>
          </a:bodyPr>
          <a:lstStyle/>
          <a:p>
            <a:pPr algn="r"/>
            <a:r>
              <a:rPr sz="1000" b="1">
                <a:solidFill>
                  <a:srgbClr val="2E6047"/>
                </a:solidFill>
                <a:latin typeface="맑은 고딕"/>
              </a:rPr>
              <a:t>0~1.1만원</a:t>
            </a:r>
          </a:p>
        </p:txBody>
      </p:sp>
      <p:sp>
        <p:nvSpPr>
          <p:cNvPr id="26" name="TextBox 25"/>
          <p:cNvSpPr txBox="1"/>
          <p:nvPr/>
        </p:nvSpPr>
        <p:spPr>
          <a:xfrm>
            <a:off x="8321040" y="2542032"/>
            <a:ext cx="3200400" cy="237744"/>
          </a:xfrm>
          <a:prstGeom prst="rect">
            <a:avLst/>
          </a:prstGeom>
          <a:noFill/>
        </p:spPr>
        <p:txBody>
          <a:bodyPr wrap="square" anchor="t" lIns="0" rIns="0" tIns="0" bIns="0">
            <a:spAutoFit/>
          </a:bodyPr>
          <a:lstStyle/>
          <a:p>
            <a:pPr algn="l"/>
            <a:r>
              <a:rPr sz="850" b="0">
                <a:solidFill>
                  <a:srgbClr val="526858"/>
                </a:solidFill>
                <a:latin typeface="맑은 고딕"/>
              </a:rPr>
              <a:t>새 일정 첫 질문만 API · 이어지는 질문은 무료 서버</a:t>
            </a:r>
          </a:p>
        </p:txBody>
      </p:sp>
      <p:cxnSp>
        <p:nvCxnSpPr>
          <p:cNvPr id="27" name="Connector 26"/>
          <p:cNvCxnSpPr/>
          <p:nvPr/>
        </p:nvCxnSpPr>
        <p:spPr>
          <a:xfrm>
            <a:off x="6858000" y="2825496"/>
            <a:ext cx="46451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0" y="2852928"/>
            <a:ext cx="320040" cy="365760"/>
          </a:xfrm>
          <a:prstGeom prst="rect">
            <a:avLst/>
          </a:prstGeom>
          <a:noFill/>
        </p:spPr>
        <p:txBody>
          <a:bodyPr wrap="square" anchor="t" lIns="0" rIns="0" tIns="0" bIns="0">
            <a:spAutoFit/>
          </a:bodyPr>
          <a:lstStyle/>
          <a:p>
            <a:pPr algn="l"/>
            <a:r>
              <a:rPr sz="1300" b="1">
                <a:solidFill>
                  <a:srgbClr val="2E6047"/>
                </a:solidFill>
                <a:latin typeface="맑은 고딕"/>
              </a:rPr>
              <a:t>②</a:t>
            </a:r>
          </a:p>
        </p:txBody>
      </p:sp>
      <p:sp>
        <p:nvSpPr>
          <p:cNvPr id="29" name="TextBox 28"/>
          <p:cNvSpPr txBox="1"/>
          <p:nvPr/>
        </p:nvSpPr>
        <p:spPr>
          <a:xfrm>
            <a:off x="7205472" y="2852928"/>
            <a:ext cx="1143000" cy="274320"/>
          </a:xfrm>
          <a:prstGeom prst="rect">
            <a:avLst/>
          </a:prstGeom>
          <a:noFill/>
        </p:spPr>
        <p:txBody>
          <a:bodyPr wrap="square" anchor="t" lIns="0" rIns="0" tIns="0" bIns="0">
            <a:spAutoFit/>
          </a:bodyPr>
          <a:lstStyle/>
          <a:p>
            <a:pPr algn="l"/>
            <a:r>
              <a:rPr sz="1000" b="1">
                <a:solidFill>
                  <a:srgbClr val="6D7C73"/>
                </a:solidFill>
                <a:latin typeface="맑은 고딕"/>
              </a:rPr>
              <a:t>7천~3.8만</a:t>
            </a:r>
          </a:p>
        </p:txBody>
      </p:sp>
      <p:sp>
        <p:nvSpPr>
          <p:cNvPr id="30" name="TextBox 29"/>
          <p:cNvSpPr txBox="1"/>
          <p:nvPr/>
        </p:nvSpPr>
        <p:spPr>
          <a:xfrm>
            <a:off x="8321040" y="2852928"/>
            <a:ext cx="2194560" cy="274320"/>
          </a:xfrm>
          <a:prstGeom prst="rect">
            <a:avLst/>
          </a:prstGeom>
          <a:noFill/>
        </p:spPr>
        <p:txBody>
          <a:bodyPr wrap="square" anchor="t" lIns="0" rIns="0" tIns="0" bIns="0">
            <a:spAutoFit/>
          </a:bodyPr>
          <a:lstStyle/>
          <a:p>
            <a:pPr algn="l"/>
            <a:r>
              <a:rPr sz="1100" b="1">
                <a:solidFill>
                  <a:srgbClr val="24392F"/>
                </a:solidFill>
                <a:latin typeface="맑은 고딕"/>
              </a:rPr>
              <a:t>무료 서버 + API</a:t>
            </a:r>
          </a:p>
        </p:txBody>
      </p:sp>
      <p:sp>
        <p:nvSpPr>
          <p:cNvPr id="31" name="TextBox 30"/>
          <p:cNvSpPr txBox="1"/>
          <p:nvPr/>
        </p:nvSpPr>
        <p:spPr>
          <a:xfrm>
            <a:off x="10515600" y="2852928"/>
            <a:ext cx="987552" cy="274320"/>
          </a:xfrm>
          <a:prstGeom prst="rect">
            <a:avLst/>
          </a:prstGeom>
          <a:noFill/>
        </p:spPr>
        <p:txBody>
          <a:bodyPr wrap="square" anchor="t" lIns="0" rIns="0" tIns="0" bIns="0">
            <a:spAutoFit/>
          </a:bodyPr>
          <a:lstStyle/>
          <a:p>
            <a:pPr algn="r"/>
            <a:r>
              <a:rPr sz="1000" b="1">
                <a:solidFill>
                  <a:srgbClr val="2E6047"/>
                </a:solidFill>
                <a:latin typeface="맑은 고딕"/>
              </a:rPr>
              <a:t>1.1~24.5만원</a:t>
            </a:r>
          </a:p>
        </p:txBody>
      </p:sp>
      <p:sp>
        <p:nvSpPr>
          <p:cNvPr id="32" name="TextBox 31"/>
          <p:cNvSpPr txBox="1"/>
          <p:nvPr/>
        </p:nvSpPr>
        <p:spPr>
          <a:xfrm>
            <a:off x="8321040" y="3054096"/>
            <a:ext cx="3200400" cy="237744"/>
          </a:xfrm>
          <a:prstGeom prst="rect">
            <a:avLst/>
          </a:prstGeom>
          <a:noFill/>
        </p:spPr>
        <p:txBody>
          <a:bodyPr wrap="square" anchor="t" lIns="0" rIns="0" tIns="0" bIns="0">
            <a:spAutoFit/>
          </a:bodyPr>
          <a:lstStyle/>
          <a:p>
            <a:pPr algn="l"/>
            <a:r>
              <a:rPr sz="850" b="0">
                <a:solidFill>
                  <a:srgbClr val="526858"/>
                </a:solidFill>
                <a:latin typeface="맑은 고딕"/>
              </a:rPr>
              <a:t>무료 서버가 차면 이어지는 질문도 API</a:t>
            </a:r>
          </a:p>
        </p:txBody>
      </p:sp>
      <p:cxnSp>
        <p:nvCxnSpPr>
          <p:cNvPr id="33" name="Connector 32"/>
          <p:cNvCxnSpPr/>
          <p:nvPr/>
        </p:nvCxnSpPr>
        <p:spPr>
          <a:xfrm>
            <a:off x="6858000" y="3337560"/>
            <a:ext cx="46451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3364992"/>
            <a:ext cx="320040" cy="365760"/>
          </a:xfrm>
          <a:prstGeom prst="rect">
            <a:avLst/>
          </a:prstGeom>
          <a:noFill/>
        </p:spPr>
        <p:txBody>
          <a:bodyPr wrap="square" anchor="t" lIns="0" rIns="0" tIns="0" bIns="0">
            <a:spAutoFit/>
          </a:bodyPr>
          <a:lstStyle/>
          <a:p>
            <a:pPr algn="l"/>
            <a:r>
              <a:rPr sz="1300" b="1">
                <a:solidFill>
                  <a:srgbClr val="2E6047"/>
                </a:solidFill>
                <a:latin typeface="맑은 고딕"/>
              </a:rPr>
              <a:t>③</a:t>
            </a:r>
          </a:p>
        </p:txBody>
      </p:sp>
      <p:sp>
        <p:nvSpPr>
          <p:cNvPr id="35" name="TextBox 34"/>
          <p:cNvSpPr txBox="1"/>
          <p:nvPr/>
        </p:nvSpPr>
        <p:spPr>
          <a:xfrm>
            <a:off x="7205472" y="3364992"/>
            <a:ext cx="1143000" cy="274320"/>
          </a:xfrm>
          <a:prstGeom prst="rect">
            <a:avLst/>
          </a:prstGeom>
          <a:noFill/>
        </p:spPr>
        <p:txBody>
          <a:bodyPr wrap="square" anchor="t" lIns="0" rIns="0" tIns="0" bIns="0">
            <a:spAutoFit/>
          </a:bodyPr>
          <a:lstStyle/>
          <a:p>
            <a:pPr algn="l"/>
            <a:r>
              <a:rPr sz="1000" b="1">
                <a:solidFill>
                  <a:srgbClr val="6D7C73"/>
                </a:solidFill>
                <a:latin typeface="맑은 고딕"/>
              </a:rPr>
              <a:t>3.8만~5.8만</a:t>
            </a:r>
          </a:p>
        </p:txBody>
      </p:sp>
      <p:sp>
        <p:nvSpPr>
          <p:cNvPr id="36" name="TextBox 35"/>
          <p:cNvSpPr txBox="1"/>
          <p:nvPr/>
        </p:nvSpPr>
        <p:spPr>
          <a:xfrm>
            <a:off x="8321040" y="3364992"/>
            <a:ext cx="2194560" cy="274320"/>
          </a:xfrm>
          <a:prstGeom prst="rect">
            <a:avLst/>
          </a:prstGeom>
          <a:noFill/>
        </p:spPr>
        <p:txBody>
          <a:bodyPr wrap="square" anchor="t" lIns="0" rIns="0" tIns="0" bIns="0">
            <a:spAutoFit/>
          </a:bodyPr>
          <a:lstStyle/>
          <a:p>
            <a:pPr algn="l"/>
            <a:r>
              <a:rPr sz="1100" b="1">
                <a:solidFill>
                  <a:srgbClr val="24392F"/>
                </a:solidFill>
                <a:latin typeface="맑은 고딕"/>
              </a:rPr>
              <a:t>무료 서버 + GPU 1대</a:t>
            </a:r>
          </a:p>
        </p:txBody>
      </p:sp>
      <p:sp>
        <p:nvSpPr>
          <p:cNvPr id="37" name="TextBox 36"/>
          <p:cNvSpPr txBox="1"/>
          <p:nvPr/>
        </p:nvSpPr>
        <p:spPr>
          <a:xfrm>
            <a:off x="10515600" y="3364992"/>
            <a:ext cx="987552" cy="274320"/>
          </a:xfrm>
          <a:prstGeom prst="rect">
            <a:avLst/>
          </a:prstGeom>
          <a:noFill/>
        </p:spPr>
        <p:txBody>
          <a:bodyPr wrap="square" anchor="t" lIns="0" rIns="0" tIns="0" bIns="0">
            <a:spAutoFit/>
          </a:bodyPr>
          <a:lstStyle/>
          <a:p>
            <a:pPr algn="r"/>
            <a:r>
              <a:rPr sz="1000" b="1">
                <a:solidFill>
                  <a:srgbClr val="2E6047"/>
                </a:solidFill>
                <a:latin typeface="맑은 고딕"/>
              </a:rPr>
              <a:t>24.5만원</a:t>
            </a:r>
          </a:p>
        </p:txBody>
      </p:sp>
      <p:sp>
        <p:nvSpPr>
          <p:cNvPr id="38" name="TextBox 37"/>
          <p:cNvSpPr txBox="1"/>
          <p:nvPr/>
        </p:nvSpPr>
        <p:spPr>
          <a:xfrm>
            <a:off x="8321040" y="3566160"/>
            <a:ext cx="3200400" cy="237744"/>
          </a:xfrm>
          <a:prstGeom prst="rect">
            <a:avLst/>
          </a:prstGeom>
          <a:noFill/>
        </p:spPr>
        <p:txBody>
          <a:bodyPr wrap="square" anchor="t" lIns="0" rIns="0" tIns="0" bIns="0">
            <a:spAutoFit/>
          </a:bodyPr>
          <a:lstStyle/>
          <a:p>
            <a:pPr algn="l"/>
            <a:r>
              <a:rPr sz="850" b="0">
                <a:solidFill>
                  <a:srgbClr val="526858"/>
                </a:solidFill>
                <a:latin typeface="맑은 고딕"/>
              </a:rPr>
              <a:t>API 비용이 GPU 월세를 넘는 지점에서 GPU</a:t>
            </a:r>
          </a:p>
        </p:txBody>
      </p:sp>
      <p:cxnSp>
        <p:nvCxnSpPr>
          <p:cNvPr id="39" name="Connector 38"/>
          <p:cNvCxnSpPr/>
          <p:nvPr/>
        </p:nvCxnSpPr>
        <p:spPr>
          <a:xfrm>
            <a:off x="6858000" y="3849624"/>
            <a:ext cx="46451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0" y="3877056"/>
            <a:ext cx="320040" cy="365760"/>
          </a:xfrm>
          <a:prstGeom prst="rect">
            <a:avLst/>
          </a:prstGeom>
          <a:noFill/>
        </p:spPr>
        <p:txBody>
          <a:bodyPr wrap="square" anchor="t" lIns="0" rIns="0" tIns="0" bIns="0">
            <a:spAutoFit/>
          </a:bodyPr>
          <a:lstStyle/>
          <a:p>
            <a:pPr algn="l"/>
            <a:r>
              <a:rPr sz="1300" b="1">
                <a:solidFill>
                  <a:srgbClr val="2E6047"/>
                </a:solidFill>
                <a:latin typeface="맑은 고딕"/>
              </a:rPr>
              <a:t>④</a:t>
            </a:r>
          </a:p>
        </p:txBody>
      </p:sp>
      <p:sp>
        <p:nvSpPr>
          <p:cNvPr id="41" name="TextBox 40"/>
          <p:cNvSpPr txBox="1"/>
          <p:nvPr/>
        </p:nvSpPr>
        <p:spPr>
          <a:xfrm>
            <a:off x="7205472" y="3877056"/>
            <a:ext cx="1143000" cy="274320"/>
          </a:xfrm>
          <a:prstGeom prst="rect">
            <a:avLst/>
          </a:prstGeom>
          <a:noFill/>
        </p:spPr>
        <p:txBody>
          <a:bodyPr wrap="square" anchor="t" lIns="0" rIns="0" tIns="0" bIns="0">
            <a:spAutoFit/>
          </a:bodyPr>
          <a:lstStyle/>
          <a:p>
            <a:pPr algn="l"/>
            <a:r>
              <a:rPr sz="1000" b="1">
                <a:solidFill>
                  <a:srgbClr val="6D7C73"/>
                </a:solidFill>
                <a:latin typeface="맑은 고딕"/>
              </a:rPr>
              <a:t>5.8만~9.0만</a:t>
            </a:r>
          </a:p>
        </p:txBody>
      </p:sp>
      <p:sp>
        <p:nvSpPr>
          <p:cNvPr id="42" name="TextBox 41"/>
          <p:cNvSpPr txBox="1"/>
          <p:nvPr/>
        </p:nvSpPr>
        <p:spPr>
          <a:xfrm>
            <a:off x="8321040" y="3877056"/>
            <a:ext cx="2194560" cy="274320"/>
          </a:xfrm>
          <a:prstGeom prst="rect">
            <a:avLst/>
          </a:prstGeom>
          <a:noFill/>
        </p:spPr>
        <p:txBody>
          <a:bodyPr wrap="square" anchor="t" lIns="0" rIns="0" tIns="0" bIns="0">
            <a:spAutoFit/>
          </a:bodyPr>
          <a:lstStyle/>
          <a:p>
            <a:pPr algn="l"/>
            <a:r>
              <a:rPr sz="1100" b="1">
                <a:solidFill>
                  <a:srgbClr val="24392F"/>
                </a:solidFill>
                <a:latin typeface="맑은 고딕"/>
              </a:rPr>
              <a:t>GPU 1대 + API</a:t>
            </a:r>
          </a:p>
        </p:txBody>
      </p:sp>
      <p:sp>
        <p:nvSpPr>
          <p:cNvPr id="43" name="TextBox 42"/>
          <p:cNvSpPr txBox="1"/>
          <p:nvPr/>
        </p:nvSpPr>
        <p:spPr>
          <a:xfrm>
            <a:off x="10515600" y="3877056"/>
            <a:ext cx="987552" cy="274320"/>
          </a:xfrm>
          <a:prstGeom prst="rect">
            <a:avLst/>
          </a:prstGeom>
          <a:noFill/>
        </p:spPr>
        <p:txBody>
          <a:bodyPr wrap="square" anchor="t" lIns="0" rIns="0" tIns="0" bIns="0">
            <a:spAutoFit/>
          </a:bodyPr>
          <a:lstStyle/>
          <a:p>
            <a:pPr algn="r"/>
            <a:r>
              <a:rPr sz="1000" b="1">
                <a:solidFill>
                  <a:srgbClr val="2E6047"/>
                </a:solidFill>
                <a:latin typeface="맑은 고딕"/>
              </a:rPr>
              <a:t>24.5~49만원</a:t>
            </a:r>
          </a:p>
        </p:txBody>
      </p:sp>
      <p:sp>
        <p:nvSpPr>
          <p:cNvPr id="44" name="TextBox 43"/>
          <p:cNvSpPr txBox="1"/>
          <p:nvPr/>
        </p:nvSpPr>
        <p:spPr>
          <a:xfrm>
            <a:off x="8321040" y="4078224"/>
            <a:ext cx="3200400" cy="237744"/>
          </a:xfrm>
          <a:prstGeom prst="rect">
            <a:avLst/>
          </a:prstGeom>
          <a:noFill/>
        </p:spPr>
        <p:txBody>
          <a:bodyPr wrap="square" anchor="t" lIns="0" rIns="0" tIns="0" bIns="0">
            <a:spAutoFit/>
          </a:bodyPr>
          <a:lstStyle/>
          <a:p>
            <a:pPr algn="l"/>
            <a:r>
              <a:rPr sz="850" b="0">
                <a:solidFill>
                  <a:srgbClr val="526858"/>
                </a:solidFill>
                <a:latin typeface="맑은 고딕"/>
              </a:rPr>
              <a:t>GPU 안전선을 넘는 몫만 API</a:t>
            </a:r>
          </a:p>
        </p:txBody>
      </p:sp>
      <p:cxnSp>
        <p:nvCxnSpPr>
          <p:cNvPr id="45" name="Connector 44"/>
          <p:cNvCxnSpPr/>
          <p:nvPr/>
        </p:nvCxnSpPr>
        <p:spPr>
          <a:xfrm>
            <a:off x="6858000" y="4361688"/>
            <a:ext cx="46451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58000" y="4389120"/>
            <a:ext cx="320040" cy="365760"/>
          </a:xfrm>
          <a:prstGeom prst="rect">
            <a:avLst/>
          </a:prstGeom>
          <a:noFill/>
        </p:spPr>
        <p:txBody>
          <a:bodyPr wrap="square" anchor="t" lIns="0" rIns="0" tIns="0" bIns="0">
            <a:spAutoFit/>
          </a:bodyPr>
          <a:lstStyle/>
          <a:p>
            <a:pPr algn="l"/>
            <a:r>
              <a:rPr sz="1300" b="1">
                <a:solidFill>
                  <a:srgbClr val="2E6047"/>
                </a:solidFill>
                <a:latin typeface="맑은 고딕"/>
              </a:rPr>
              <a:t>⑤</a:t>
            </a:r>
          </a:p>
        </p:txBody>
      </p:sp>
      <p:sp>
        <p:nvSpPr>
          <p:cNvPr id="47" name="TextBox 46"/>
          <p:cNvSpPr txBox="1"/>
          <p:nvPr/>
        </p:nvSpPr>
        <p:spPr>
          <a:xfrm>
            <a:off x="7205472" y="4389120"/>
            <a:ext cx="1143000" cy="274320"/>
          </a:xfrm>
          <a:prstGeom prst="rect">
            <a:avLst/>
          </a:prstGeom>
          <a:noFill/>
        </p:spPr>
        <p:txBody>
          <a:bodyPr wrap="square" anchor="t" lIns="0" rIns="0" tIns="0" bIns="0">
            <a:spAutoFit/>
          </a:bodyPr>
          <a:lstStyle/>
          <a:p>
            <a:pPr algn="l"/>
            <a:r>
              <a:rPr sz="1000" b="1">
                <a:solidFill>
                  <a:srgbClr val="6D7C73"/>
                </a:solidFill>
                <a:latin typeface="맑은 고딕"/>
              </a:rPr>
              <a:t>9.0만~</a:t>
            </a:r>
          </a:p>
        </p:txBody>
      </p:sp>
      <p:sp>
        <p:nvSpPr>
          <p:cNvPr id="48" name="TextBox 47"/>
          <p:cNvSpPr txBox="1"/>
          <p:nvPr/>
        </p:nvSpPr>
        <p:spPr>
          <a:xfrm>
            <a:off x="8321040" y="4389120"/>
            <a:ext cx="2194560" cy="274320"/>
          </a:xfrm>
          <a:prstGeom prst="rect">
            <a:avLst/>
          </a:prstGeom>
          <a:noFill/>
        </p:spPr>
        <p:txBody>
          <a:bodyPr wrap="square" anchor="t" lIns="0" rIns="0" tIns="0" bIns="0">
            <a:spAutoFit/>
          </a:bodyPr>
          <a:lstStyle/>
          <a:p>
            <a:pPr algn="l"/>
            <a:r>
              <a:rPr sz="1100" b="1">
                <a:solidFill>
                  <a:srgbClr val="24392F"/>
                </a:solidFill>
                <a:latin typeface="맑은 고딕"/>
              </a:rPr>
              <a:t>GPU 2대 → 반복</a:t>
            </a:r>
          </a:p>
        </p:txBody>
      </p:sp>
      <p:sp>
        <p:nvSpPr>
          <p:cNvPr id="49" name="TextBox 48"/>
          <p:cNvSpPr txBox="1"/>
          <p:nvPr/>
        </p:nvSpPr>
        <p:spPr>
          <a:xfrm>
            <a:off x="10515600" y="4389120"/>
            <a:ext cx="987552" cy="274320"/>
          </a:xfrm>
          <a:prstGeom prst="rect">
            <a:avLst/>
          </a:prstGeom>
          <a:noFill/>
        </p:spPr>
        <p:txBody>
          <a:bodyPr wrap="square" anchor="t" lIns="0" rIns="0" tIns="0" bIns="0">
            <a:spAutoFit/>
          </a:bodyPr>
          <a:lstStyle/>
          <a:p>
            <a:pPr algn="r"/>
            <a:r>
              <a:rPr sz="1000" b="1">
                <a:solidFill>
                  <a:srgbClr val="2E6047"/>
                </a:solidFill>
                <a:latin typeface="맑은 고딕"/>
              </a:rPr>
              <a:t>49만원~</a:t>
            </a:r>
          </a:p>
        </p:txBody>
      </p:sp>
      <p:sp>
        <p:nvSpPr>
          <p:cNvPr id="50" name="TextBox 49"/>
          <p:cNvSpPr txBox="1"/>
          <p:nvPr/>
        </p:nvSpPr>
        <p:spPr>
          <a:xfrm>
            <a:off x="8321040" y="4590288"/>
            <a:ext cx="3200400" cy="237744"/>
          </a:xfrm>
          <a:prstGeom prst="rect">
            <a:avLst/>
          </a:prstGeom>
          <a:noFill/>
        </p:spPr>
        <p:txBody>
          <a:bodyPr wrap="square" anchor="t" lIns="0" rIns="0" tIns="0" bIns="0">
            <a:spAutoFit/>
          </a:bodyPr>
          <a:lstStyle/>
          <a:p>
            <a:pPr algn="l"/>
            <a:r>
              <a:rPr sz="850" b="0">
                <a:solidFill>
                  <a:srgbClr val="526858"/>
                </a:solidFill>
                <a:latin typeface="맑은 고딕"/>
              </a:rPr>
              <a:t>넘침이 3.3만 건 쌓일 때마다 GPU 1대 추가</a:t>
            </a:r>
          </a:p>
        </p:txBody>
      </p:sp>
      <p:sp>
        <p:nvSpPr>
          <p:cNvPr id="51" name="Rounded Rectangle 50"/>
          <p:cNvSpPr/>
          <p:nvPr/>
        </p:nvSpPr>
        <p:spPr>
          <a:xfrm>
            <a:off x="685800" y="5029200"/>
            <a:ext cx="1081735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0120" y="5120640"/>
            <a:ext cx="3291840" cy="274320"/>
          </a:xfrm>
          <a:prstGeom prst="rect">
            <a:avLst/>
          </a:prstGeom>
          <a:noFill/>
        </p:spPr>
        <p:txBody>
          <a:bodyPr wrap="square" anchor="t" lIns="0" rIns="0" tIns="0" bIns="0">
            <a:spAutoFit/>
          </a:bodyPr>
          <a:lstStyle/>
          <a:p>
            <a:pPr algn="l"/>
            <a:r>
              <a:rPr sz="1200" b="1">
                <a:solidFill>
                  <a:srgbClr val="24392F"/>
                </a:solidFill>
                <a:latin typeface="맑은 고딕"/>
              </a:rPr>
              <a:t>품질 우선 경로 (Sol API)</a:t>
            </a:r>
          </a:p>
        </p:txBody>
      </p:sp>
      <p:sp>
        <p:nvSpPr>
          <p:cNvPr id="53" name="TextBox 52"/>
          <p:cNvSpPr txBox="1"/>
          <p:nvPr/>
        </p:nvSpPr>
        <p:spPr>
          <a:xfrm>
            <a:off x="960120" y="5422392"/>
            <a:ext cx="3291840" cy="731520"/>
          </a:xfrm>
          <a:prstGeom prst="rect">
            <a:avLst/>
          </a:prstGeom>
          <a:noFill/>
        </p:spPr>
        <p:txBody>
          <a:bodyPr wrap="square" anchor="t" lIns="0" rIns="0" tIns="0" bIns="0">
            <a:spAutoFit/>
          </a:bodyPr>
          <a:lstStyle/>
          <a:p>
            <a:pPr algn="l">
              <a:lnSpc>
                <a:spcPct val="115000"/>
              </a:lnSpc>
            </a:pPr>
            <a:r>
              <a:rPr sz="1050" b="0">
                <a:solidFill>
                  <a:srgbClr val="6D7C73"/>
                </a:solidFill>
                <a:latin typeface="맑은 고딕"/>
              </a:rPr>
              <a:t>⓪ 하루 1.5천 건까지 무료 서버만(0원)
① 7.3천 건까지 무료 서버 + Sol · ② 그 위로 GPU 1대
③ 5.8만 건부터 GPU 증설</a:t>
            </a:r>
          </a:p>
        </p:txBody>
      </p:sp>
      <p:sp>
        <p:nvSpPr>
          <p:cNvPr id="54" name="TextBox 53"/>
          <p:cNvSpPr txBox="1"/>
          <p:nvPr/>
        </p:nvSpPr>
        <p:spPr>
          <a:xfrm>
            <a:off x="4526280" y="5120640"/>
            <a:ext cx="6766560" cy="274320"/>
          </a:xfrm>
          <a:prstGeom prst="rect">
            <a:avLst/>
          </a:prstGeom>
          <a:noFill/>
        </p:spPr>
        <p:txBody>
          <a:bodyPr wrap="square" anchor="t" lIns="0" rIns="0" tIns="0" bIns="0">
            <a:spAutoFit/>
          </a:bodyPr>
          <a:lstStyle/>
          <a:p>
            <a:pPr algn="l"/>
            <a:r>
              <a:rPr sz="1200" b="1">
                <a:solidFill>
                  <a:srgbClr val="24392F"/>
                </a:solidFill>
                <a:latin typeface="맑은 고딕"/>
              </a:rPr>
              <a:t>성능 · 응답 시간</a:t>
            </a:r>
          </a:p>
        </p:txBody>
      </p:sp>
      <p:sp>
        <p:nvSpPr>
          <p:cNvPr id="55" name="TextBox 54"/>
          <p:cNvSpPr txBox="1"/>
          <p:nvPr/>
        </p:nvSpPr>
        <p:spPr>
          <a:xfrm>
            <a:off x="4526280" y="5422392"/>
            <a:ext cx="6766560" cy="731520"/>
          </a:xfrm>
          <a:prstGeom prst="rect">
            <a:avLst/>
          </a:prstGeom>
          <a:noFill/>
        </p:spPr>
        <p:txBody>
          <a:bodyPr wrap="square" anchor="t" lIns="0" rIns="0" tIns="0" bIns="0">
            <a:spAutoFit/>
          </a:bodyPr>
          <a:lstStyle/>
          <a:p>
            <a:pPr algn="l">
              <a:lnSpc>
                <a:spcPct val="115000"/>
              </a:lnSpc>
            </a:pPr>
            <a:r>
              <a:rPr sz="1050" b="0">
                <a:solidFill>
                  <a:srgbClr val="6D7C73"/>
                </a:solidFill>
                <a:latin typeface="맑은 고딕"/>
              </a:rPr>
              <a:t>우리 모델(무료 서버 · GPU) 97.3~97.5% · Luna 96.4% · Sol 98.8% (769문제, 상용은 공정 비교 아님)
응답: 무료 서버 이어지는 질문 7.7초 · GPU 0.8~2.1초 · API 는 아직 안 잼
→ Luna 경로가 하루 7천~3.8만 건에서 월 최대 약 20만원 싸고, 대신 API 몫의 정확도가 약 1%p 낮습니다</a:t>
            </a:r>
          </a:p>
        </p:txBody>
      </p:sp>
      <p:sp>
        <p:nvSpPr>
          <p:cNvPr id="56" name="TextBox 55"/>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가정: 새 일정 첫 질문 20% · 실측 상한의 50% 안전선 · 30일. ⓪ 은 무료 서버가 일정을 미리 읽어 둘 메모리가 있어야 합니다(실측은 일정 3개까지 확인, 그 이상은 측정 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PIPELINE TEST</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앞단을 두니 점수는 같고 호출은 19% 줄었습니다</a:t>
            </a:r>
          </a:p>
        </p:txBody>
      </p:sp>
      <p:pic>
        <p:nvPicPr>
          <p:cNvPr id="14" name="Picture 13" descr="funnel.png"/>
          <p:cNvPicPr>
            <a:picLocks noChangeAspect="1"/>
          </p:cNvPicPr>
          <p:nvPr/>
        </p:nvPicPr>
        <p:blipFill>
          <a:blip r:embed="rId2"/>
          <a:stretch>
            <a:fillRect/>
          </a:stretch>
        </p:blipFill>
        <p:spPr>
          <a:xfrm>
            <a:off x="640080" y="1554480"/>
            <a:ext cx="5669280" cy="4163378"/>
          </a:xfrm>
          <a:prstGeom prst="rect">
            <a:avLst/>
          </a:prstGeom>
        </p:spPr>
      </p:pic>
      <p:sp>
        <p:nvSpPr>
          <p:cNvPr id="15" name="TextBox 14"/>
          <p:cNvSpPr txBox="1"/>
          <p:nvPr/>
        </p:nvSpPr>
        <p:spPr>
          <a:xfrm>
            <a:off x="6903720" y="1600200"/>
            <a:ext cx="4572000" cy="274320"/>
          </a:xfrm>
          <a:prstGeom prst="rect">
            <a:avLst/>
          </a:prstGeom>
          <a:noFill/>
        </p:spPr>
        <p:txBody>
          <a:bodyPr wrap="square" anchor="t" lIns="0" rIns="0" tIns="0" bIns="0">
            <a:spAutoFit/>
          </a:bodyPr>
          <a:lstStyle/>
          <a:p>
            <a:pPr algn="l"/>
            <a:r>
              <a:rPr sz="1200" b="1">
                <a:solidFill>
                  <a:srgbClr val="6D7C73"/>
                </a:solidFill>
                <a:latin typeface="맑은 고딕"/>
              </a:rPr>
              <a:t>맞힌 문제 / 769</a:t>
            </a:r>
          </a:p>
        </p:txBody>
      </p:sp>
      <p:sp>
        <p:nvSpPr>
          <p:cNvPr id="16" name="TextBox 15"/>
          <p:cNvSpPr txBox="1"/>
          <p:nvPr/>
        </p:nvSpPr>
        <p:spPr>
          <a:xfrm>
            <a:off x="6903720" y="1965960"/>
            <a:ext cx="1371600" cy="731520"/>
          </a:xfrm>
          <a:prstGeom prst="rect">
            <a:avLst/>
          </a:prstGeom>
          <a:noFill/>
        </p:spPr>
        <p:txBody>
          <a:bodyPr wrap="square" anchor="t" lIns="0" rIns="0" tIns="0" bIns="0">
            <a:spAutoFit/>
          </a:bodyPr>
          <a:lstStyle/>
          <a:p>
            <a:pPr algn="l"/>
            <a:r>
              <a:rPr sz="3800" b="1" spc="-100">
                <a:solidFill>
                  <a:srgbClr val="2E6047"/>
                </a:solidFill>
                <a:latin typeface="맑은 고딕"/>
              </a:rPr>
              <a:t>748</a:t>
            </a:r>
          </a:p>
        </p:txBody>
      </p:sp>
      <p:sp>
        <p:nvSpPr>
          <p:cNvPr id="17" name="TextBox 16"/>
          <p:cNvSpPr txBox="1"/>
          <p:nvPr/>
        </p:nvSpPr>
        <p:spPr>
          <a:xfrm>
            <a:off x="8366760" y="2057400"/>
            <a:ext cx="3154680" cy="365760"/>
          </a:xfrm>
          <a:prstGeom prst="rect">
            <a:avLst/>
          </a:prstGeom>
          <a:noFill/>
        </p:spPr>
        <p:txBody>
          <a:bodyPr wrap="square" anchor="t" lIns="0" rIns="0" tIns="0" bIns="0">
            <a:spAutoFit/>
          </a:bodyPr>
          <a:lstStyle/>
          <a:p>
            <a:pPr algn="l"/>
            <a:r>
              <a:rPr sz="1300" b="1">
                <a:solidFill>
                  <a:srgbClr val="24392F"/>
                </a:solidFill>
                <a:latin typeface="맑은 고딕"/>
              </a:rPr>
              <a:t>파인튜닝 Gemma 4 E4B 혼자</a:t>
            </a:r>
          </a:p>
        </p:txBody>
      </p:sp>
      <p:sp>
        <p:nvSpPr>
          <p:cNvPr id="18" name="TextBox 17"/>
          <p:cNvSpPr txBox="1"/>
          <p:nvPr/>
        </p:nvSpPr>
        <p:spPr>
          <a:xfrm>
            <a:off x="8366760" y="2404872"/>
            <a:ext cx="315468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기준</a:t>
            </a:r>
          </a:p>
        </p:txBody>
      </p:sp>
      <p:cxnSp>
        <p:nvCxnSpPr>
          <p:cNvPr id="19" name="Connector 18"/>
          <p:cNvCxnSpPr/>
          <p:nvPr/>
        </p:nvCxnSpPr>
        <p:spPr>
          <a:xfrm>
            <a:off x="6903720" y="3099815"/>
            <a:ext cx="45994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03720" y="3264408"/>
            <a:ext cx="1371600" cy="731520"/>
          </a:xfrm>
          <a:prstGeom prst="rect">
            <a:avLst/>
          </a:prstGeom>
          <a:noFill/>
        </p:spPr>
        <p:txBody>
          <a:bodyPr wrap="square" anchor="t" lIns="0" rIns="0" tIns="0" bIns="0">
            <a:spAutoFit/>
          </a:bodyPr>
          <a:lstStyle/>
          <a:p>
            <a:pPr algn="l"/>
            <a:r>
              <a:rPr sz="3800" b="1" spc="-100">
                <a:solidFill>
                  <a:srgbClr val="2E6047"/>
                </a:solidFill>
                <a:latin typeface="맑은 고딕"/>
              </a:rPr>
              <a:t>745</a:t>
            </a:r>
          </a:p>
        </p:txBody>
      </p:sp>
      <p:sp>
        <p:nvSpPr>
          <p:cNvPr id="21" name="TextBox 20"/>
          <p:cNvSpPr txBox="1"/>
          <p:nvPr/>
        </p:nvSpPr>
        <p:spPr>
          <a:xfrm>
            <a:off x="8366760" y="3355848"/>
            <a:ext cx="3154680" cy="365760"/>
          </a:xfrm>
          <a:prstGeom prst="rect">
            <a:avLst/>
          </a:prstGeom>
          <a:noFill/>
        </p:spPr>
        <p:txBody>
          <a:bodyPr wrap="square" anchor="t" lIns="0" rIns="0" tIns="0" bIns="0">
            <a:spAutoFit/>
          </a:bodyPr>
          <a:lstStyle/>
          <a:p>
            <a:pPr algn="l"/>
            <a:r>
              <a:rPr sz="1300" b="1">
                <a:solidFill>
                  <a:srgbClr val="24392F"/>
                </a:solidFill>
                <a:latin typeface="맑은 고딕"/>
              </a:rPr>
              <a:t>앞에 규칙 + ML 사전 필터 추가</a:t>
            </a:r>
          </a:p>
        </p:txBody>
      </p:sp>
      <p:sp>
        <p:nvSpPr>
          <p:cNvPr id="22" name="TextBox 21"/>
          <p:cNvSpPr txBox="1"/>
          <p:nvPr/>
        </p:nvSpPr>
        <p:spPr>
          <a:xfrm>
            <a:off x="8366760" y="3703320"/>
            <a:ext cx="315468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혼자와 구분 안 됨 (갈린 문제 3 : 6, p=0.51)</a:t>
            </a:r>
          </a:p>
        </p:txBody>
      </p:sp>
      <p:cxnSp>
        <p:nvCxnSpPr>
          <p:cNvPr id="23" name="Connector 22"/>
          <p:cNvCxnSpPr/>
          <p:nvPr/>
        </p:nvCxnSpPr>
        <p:spPr>
          <a:xfrm>
            <a:off x="6903720" y="4398264"/>
            <a:ext cx="45994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903720" y="4562856"/>
            <a:ext cx="1371600" cy="731520"/>
          </a:xfrm>
          <a:prstGeom prst="rect">
            <a:avLst/>
          </a:prstGeom>
          <a:noFill/>
        </p:spPr>
        <p:txBody>
          <a:bodyPr wrap="square" anchor="t" lIns="0" rIns="0" tIns="0" bIns="0">
            <a:spAutoFit/>
          </a:bodyPr>
          <a:lstStyle/>
          <a:p>
            <a:pPr algn="l"/>
            <a:r>
              <a:rPr sz="3800" b="1" spc="-100">
                <a:solidFill>
                  <a:srgbClr val="965640"/>
                </a:solidFill>
                <a:latin typeface="맑은 고딕"/>
              </a:rPr>
              <a:t>697</a:t>
            </a:r>
          </a:p>
        </p:txBody>
      </p:sp>
      <p:sp>
        <p:nvSpPr>
          <p:cNvPr id="25" name="TextBox 24"/>
          <p:cNvSpPr txBox="1"/>
          <p:nvPr/>
        </p:nvSpPr>
        <p:spPr>
          <a:xfrm>
            <a:off x="8366760" y="4654296"/>
            <a:ext cx="3154680" cy="365760"/>
          </a:xfrm>
          <a:prstGeom prst="rect">
            <a:avLst/>
          </a:prstGeom>
          <a:noFill/>
        </p:spPr>
        <p:txBody>
          <a:bodyPr wrap="square" anchor="t" lIns="0" rIns="0" tIns="0" bIns="0">
            <a:spAutoFit/>
          </a:bodyPr>
          <a:lstStyle/>
          <a:p>
            <a:pPr algn="l"/>
            <a:r>
              <a:rPr sz="1300" b="1">
                <a:solidFill>
                  <a:srgbClr val="24392F"/>
                </a:solidFill>
                <a:latin typeface="맑은 고딕"/>
              </a:rPr>
              <a:t>라우터에 Winnow-E4B 추가</a:t>
            </a:r>
          </a:p>
        </p:txBody>
      </p:sp>
      <p:sp>
        <p:nvSpPr>
          <p:cNvPr id="26" name="TextBox 25"/>
          <p:cNvSpPr txBox="1"/>
          <p:nvPr/>
        </p:nvSpPr>
        <p:spPr>
          <a:xfrm>
            <a:off x="8366760" y="5001768"/>
            <a:ext cx="315468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Jev 계열 · 파인튜닝 전이라 공정 비교 아님.
사후 수정 버전 (미리 고정한 버전 472)</a:t>
            </a:r>
          </a:p>
        </p:txBody>
      </p:sp>
      <p:sp>
        <p:nvSpPr>
          <p:cNvPr id="27" name="TextBox 26"/>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E2E 파이프라인 테스트: 단계를 실제로 이어 붙여 문제마다 처음부터 끝까지 호출(GPU 서버 C, 10-06). 같은 방법으로 파인튜닝한 두 모델을 섞은 구조는 747~752 로 혼자와 구분 안 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MIXED TRAFFIC</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생각 모드를 끄니 빈 답이 사라졌고, 앞단은 호출을 23% 줄였습니다</a:t>
            </a:r>
          </a:p>
        </p:txBody>
      </p:sp>
      <p:sp>
        <p:nvSpPr>
          <p:cNvPr id="14" name="TextBox 13"/>
          <p:cNvSpPr txBox="1"/>
          <p:nvPr/>
        </p:nvSpPr>
        <p:spPr>
          <a:xfrm>
            <a:off x="685800" y="1536192"/>
            <a:ext cx="10817352" cy="274320"/>
          </a:xfrm>
          <a:prstGeom prst="rect">
            <a:avLst/>
          </a:prstGeom>
          <a:noFill/>
        </p:spPr>
        <p:txBody>
          <a:bodyPr wrap="square" anchor="t" lIns="0" rIns="0" tIns="0" bIns="0">
            <a:spAutoFit/>
          </a:bodyPr>
          <a:lstStyle/>
          <a:p>
            <a:pPr algn="l"/>
            <a:r>
              <a:rPr sz="1200" b="1">
                <a:solidFill>
                  <a:srgbClr val="6D7C73"/>
                </a:solidFill>
                <a:latin typeface="맑은 고딕"/>
              </a:rPr>
              <a:t>실제 채팅처럼 섞은 2,735문제</a:t>
            </a:r>
          </a:p>
        </p:txBody>
      </p:sp>
      <p:pic>
        <p:nvPicPr>
          <p:cNvPr id="15" name="Picture 14" descr="mixbar.png"/>
          <p:cNvPicPr>
            <a:picLocks noChangeAspect="1"/>
          </p:cNvPicPr>
          <p:nvPr/>
        </p:nvPicPr>
        <p:blipFill>
          <a:blip r:embed="rId2"/>
          <a:stretch>
            <a:fillRect/>
          </a:stretch>
        </p:blipFill>
        <p:spPr>
          <a:xfrm>
            <a:off x="685800" y="1847088"/>
            <a:ext cx="10817352" cy="1100070"/>
          </a:xfrm>
          <a:prstGeom prst="rect">
            <a:avLst/>
          </a:prstGeom>
        </p:spPr>
      </p:pic>
      <p:sp>
        <p:nvSpPr>
          <p:cNvPr id="16" name="Rounded Rectangle 15"/>
          <p:cNvSpPr/>
          <p:nvPr/>
        </p:nvSpPr>
        <p:spPr>
          <a:xfrm>
            <a:off x="685800" y="3291840"/>
            <a:ext cx="5266944" cy="2697480"/>
          </a:xfrm>
          <a:prstGeom prst="roundRect">
            <a:avLst>
              <a:gd name="adj" fmla="val 745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474720"/>
            <a:ext cx="4754880" cy="274320"/>
          </a:xfrm>
          <a:prstGeom prst="rect">
            <a:avLst/>
          </a:prstGeom>
          <a:noFill/>
        </p:spPr>
        <p:txBody>
          <a:bodyPr wrap="square" anchor="t" lIns="0" rIns="0" tIns="0" bIns="0">
            <a:spAutoFit/>
          </a:bodyPr>
          <a:lstStyle/>
          <a:p>
            <a:pPr algn="l"/>
            <a:r>
              <a:rPr sz="1400" b="1">
                <a:solidFill>
                  <a:srgbClr val="24392F"/>
                </a:solidFill>
                <a:latin typeface="맑은 고딕"/>
              </a:rPr>
              <a:t>전체 정답률 · 생각 모드 켬 → 끔</a:t>
            </a:r>
          </a:p>
        </p:txBody>
      </p:sp>
      <p:sp>
        <p:nvSpPr>
          <p:cNvPr id="18" name="TextBox 17"/>
          <p:cNvSpPr txBox="1"/>
          <p:nvPr/>
        </p:nvSpPr>
        <p:spPr>
          <a:xfrm>
            <a:off x="960120" y="3767328"/>
            <a:ext cx="4754880" cy="45720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2,669문제 중 2,424 → 2,498 = 93.6% (92.6~94.5) · 갈린 문제 81 : 7, p=4.5e-17 · 빈 답 81 → 0</a:t>
            </a:r>
          </a:p>
        </p:txBody>
      </p:sp>
      <p:pic>
        <p:nvPicPr>
          <p:cNvPr id="19" name="Picture 18" descr="mixed_think.png"/>
          <p:cNvPicPr>
            <a:picLocks noChangeAspect="1"/>
          </p:cNvPicPr>
          <p:nvPr/>
        </p:nvPicPr>
        <p:blipFill>
          <a:blip r:embed="rId3"/>
          <a:stretch>
            <a:fillRect/>
          </a:stretch>
        </p:blipFill>
        <p:spPr>
          <a:xfrm>
            <a:off x="914400" y="4389120"/>
            <a:ext cx="4800600" cy="1232839"/>
          </a:xfrm>
          <a:prstGeom prst="rect">
            <a:avLst/>
          </a:prstGeom>
        </p:spPr>
      </p:pic>
      <p:sp>
        <p:nvSpPr>
          <p:cNvPr id="20" name="Rounded Rectangle 19"/>
          <p:cNvSpPr/>
          <p:nvPr/>
        </p:nvSpPr>
        <p:spPr>
          <a:xfrm>
            <a:off x="6236208" y="3291840"/>
            <a:ext cx="5266944" cy="2697480"/>
          </a:xfrm>
          <a:prstGeom prst="roundRect">
            <a:avLst>
              <a:gd name="adj" fmla="val 745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3474720"/>
            <a:ext cx="4754880" cy="274320"/>
          </a:xfrm>
          <a:prstGeom prst="rect">
            <a:avLst/>
          </a:prstGeom>
          <a:noFill/>
        </p:spPr>
        <p:txBody>
          <a:bodyPr wrap="square" anchor="t" lIns="0" rIns="0" tIns="0" bIns="0">
            <a:spAutoFit/>
          </a:bodyPr>
          <a:lstStyle/>
          <a:p>
            <a:pPr algn="l"/>
            <a:r>
              <a:rPr sz="1400" b="1">
                <a:solidFill>
                  <a:srgbClr val="24392F"/>
                </a:solidFill>
                <a:latin typeface="맑은 고딕"/>
              </a:rPr>
              <a:t>무관한 말에 항목을 잘못 고름 · 앞단 없음 → 있음</a:t>
            </a:r>
          </a:p>
        </p:txBody>
      </p:sp>
      <p:sp>
        <p:nvSpPr>
          <p:cNvPr id="22" name="TextBox 21"/>
          <p:cNvSpPr txBox="1"/>
          <p:nvPr/>
        </p:nvSpPr>
        <p:spPr>
          <a:xfrm>
            <a:off x="6510528" y="3767328"/>
            <a:ext cx="4754880" cy="45720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생각 끈 상태에서 4.4% → 3.7%, 구간이 겹쳐 정확도 이득은 구분 안 됨(16 : 8, p=0.15)</a:t>
            </a:r>
          </a:p>
        </p:txBody>
      </p:sp>
      <p:pic>
        <p:nvPicPr>
          <p:cNvPr id="23" name="Picture 22" descr="mixed_err2.png"/>
          <p:cNvPicPr>
            <a:picLocks noChangeAspect="1"/>
          </p:cNvPicPr>
          <p:nvPr/>
        </p:nvPicPr>
        <p:blipFill>
          <a:blip r:embed="rId4"/>
          <a:stretch>
            <a:fillRect/>
          </a:stretch>
        </p:blipFill>
        <p:spPr>
          <a:xfrm>
            <a:off x="6464808" y="4389120"/>
            <a:ext cx="4800600" cy="1232839"/>
          </a:xfrm>
          <a:prstGeom prst="rect">
            <a:avLst/>
          </a:prstGeom>
        </p:spPr>
      </p:pic>
      <p:sp>
        <p:nvSpPr>
          <p:cNvPr id="24" name="TextBox 23"/>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남는 앞단 이득은 큰 모델 호출 2,669 → 2,054번(−23%). 제품 호출(Ollama)은 이미 생각 모드를 끄고 있어 빈 답이 나지 않습니다(x600 서버 재현 확인). 합성 시험 · 1회.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CLASSIFICATION</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고객 말 꼬리표 중 긴급도가 학습으로 가장 많이 올랐습니다</a:t>
            </a:r>
          </a:p>
        </p:txBody>
      </p:sp>
      <p:sp>
        <p:nvSpPr>
          <p:cNvPr id="14" name="Rounded Rectangle 13"/>
          <p:cNvSpPr/>
          <p:nvPr/>
        </p:nvSpPr>
        <p:spPr>
          <a:xfrm>
            <a:off x="685800" y="2194560"/>
            <a:ext cx="4937760" cy="658368"/>
          </a:xfrm>
          <a:prstGeom prst="roundRect">
            <a:avLst>
              <a:gd name="adj" fmla="val 30555"/>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258568"/>
            <a:ext cx="4572000"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16" name="TextBox 15"/>
          <p:cNvSpPr txBox="1"/>
          <p:nvPr/>
        </p:nvSpPr>
        <p:spPr>
          <a:xfrm>
            <a:off x="868680" y="2441448"/>
            <a:ext cx="4572000" cy="384048"/>
          </a:xfrm>
          <a:prstGeom prst="rect">
            <a:avLst/>
          </a:prstGeom>
          <a:noFill/>
        </p:spPr>
        <p:txBody>
          <a:bodyPr wrap="square" anchor="t" lIns="0" rIns="0" tIns="0" bIns="0">
            <a:spAutoFit/>
          </a:bodyPr>
          <a:lstStyle/>
          <a:p>
            <a:pPr algn="l"/>
            <a:r>
              <a:rPr sz="1300" b="0">
                <a:solidFill>
                  <a:srgbClr val="24392F"/>
                </a:solidFill>
                <a:latin typeface="맑은 고딕"/>
              </a:rPr>
              <a:t>식당 왔는데 우리 네 명 자리 없대요. 어떡하죠?</a:t>
            </a:r>
          </a:p>
        </p:txBody>
      </p:sp>
      <p:sp>
        <p:nvSpPr>
          <p:cNvPr id="17" name="Rounded Rectangle 16"/>
          <p:cNvSpPr/>
          <p:nvPr/>
        </p:nvSpPr>
        <p:spPr>
          <a:xfrm>
            <a:off x="685800" y="3127248"/>
            <a:ext cx="1143000" cy="868680"/>
          </a:xfrm>
          <a:prstGeom prst="roundRect">
            <a:avLst>
              <a:gd name="adj" fmla="val 1894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18688"/>
            <a:ext cx="1143000" cy="274320"/>
          </a:xfrm>
          <a:prstGeom prst="rect">
            <a:avLst/>
          </a:prstGeom>
          <a:noFill/>
        </p:spPr>
        <p:txBody>
          <a:bodyPr wrap="square" anchor="t" lIns="0" rIns="0" tIns="0" bIns="0">
            <a:spAutoFit/>
          </a:bodyPr>
          <a:lstStyle/>
          <a:p>
            <a:pPr algn="ctr"/>
            <a:r>
              <a:rPr sz="1050" b="1">
                <a:solidFill>
                  <a:srgbClr val="6D7C73"/>
                </a:solidFill>
                <a:latin typeface="맑은 고딕"/>
              </a:rPr>
              <a:t>의도</a:t>
            </a:r>
          </a:p>
        </p:txBody>
      </p:sp>
      <p:sp>
        <p:nvSpPr>
          <p:cNvPr id="19" name="TextBox 18"/>
          <p:cNvSpPr txBox="1"/>
          <p:nvPr/>
        </p:nvSpPr>
        <p:spPr>
          <a:xfrm>
            <a:off x="685800" y="3474720"/>
            <a:ext cx="1143000" cy="411480"/>
          </a:xfrm>
          <a:prstGeom prst="rect">
            <a:avLst/>
          </a:prstGeom>
          <a:noFill/>
        </p:spPr>
        <p:txBody>
          <a:bodyPr wrap="square" anchor="t" lIns="0" rIns="0" tIns="0" bIns="0">
            <a:spAutoFit/>
          </a:bodyPr>
          <a:lstStyle/>
          <a:p>
            <a:pPr algn="ctr"/>
            <a:r>
              <a:rPr sz="1600" b="1">
                <a:solidFill>
                  <a:srgbClr val="24392F"/>
                </a:solidFill>
                <a:latin typeface="맑은 고딕"/>
              </a:rPr>
              <a:t>사건 신고</a:t>
            </a:r>
          </a:p>
        </p:txBody>
      </p:sp>
      <p:sp>
        <p:nvSpPr>
          <p:cNvPr id="20" name="Rounded Rectangle 19"/>
          <p:cNvSpPr/>
          <p:nvPr/>
        </p:nvSpPr>
        <p:spPr>
          <a:xfrm>
            <a:off x="1938528" y="3127248"/>
            <a:ext cx="1143000" cy="868680"/>
          </a:xfrm>
          <a:prstGeom prst="roundRect">
            <a:avLst>
              <a:gd name="adj" fmla="val 1894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38528" y="3218688"/>
            <a:ext cx="1143000" cy="274320"/>
          </a:xfrm>
          <a:prstGeom prst="rect">
            <a:avLst/>
          </a:prstGeom>
          <a:noFill/>
        </p:spPr>
        <p:txBody>
          <a:bodyPr wrap="square" anchor="t" lIns="0" rIns="0" tIns="0" bIns="0">
            <a:spAutoFit/>
          </a:bodyPr>
          <a:lstStyle/>
          <a:p>
            <a:pPr algn="ctr"/>
            <a:r>
              <a:rPr sz="1050" b="1">
                <a:solidFill>
                  <a:srgbClr val="6D7C73"/>
                </a:solidFill>
                <a:latin typeface="맑은 고딕"/>
              </a:rPr>
              <a:t>대상</a:t>
            </a:r>
          </a:p>
        </p:txBody>
      </p:sp>
      <p:sp>
        <p:nvSpPr>
          <p:cNvPr id="22" name="TextBox 21"/>
          <p:cNvSpPr txBox="1"/>
          <p:nvPr/>
        </p:nvSpPr>
        <p:spPr>
          <a:xfrm>
            <a:off x="1938528" y="3474720"/>
            <a:ext cx="1143000" cy="411480"/>
          </a:xfrm>
          <a:prstGeom prst="rect">
            <a:avLst/>
          </a:prstGeom>
          <a:noFill/>
        </p:spPr>
        <p:txBody>
          <a:bodyPr wrap="square" anchor="t" lIns="0" rIns="0" tIns="0" bIns="0">
            <a:spAutoFit/>
          </a:bodyPr>
          <a:lstStyle/>
          <a:p>
            <a:pPr algn="ctr"/>
            <a:r>
              <a:rPr sz="1600" b="1">
                <a:solidFill>
                  <a:srgbClr val="24392F"/>
                </a:solidFill>
                <a:latin typeface="맑은 고딕"/>
              </a:rPr>
              <a:t>식당</a:t>
            </a:r>
          </a:p>
        </p:txBody>
      </p:sp>
      <p:sp>
        <p:nvSpPr>
          <p:cNvPr id="23" name="Rounded Rectangle 22"/>
          <p:cNvSpPr/>
          <p:nvPr/>
        </p:nvSpPr>
        <p:spPr>
          <a:xfrm>
            <a:off x="3191256" y="3127248"/>
            <a:ext cx="1143000" cy="868680"/>
          </a:xfrm>
          <a:prstGeom prst="roundRect">
            <a:avLst>
              <a:gd name="adj" fmla="val 1894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91256" y="3218688"/>
            <a:ext cx="1143000" cy="274320"/>
          </a:xfrm>
          <a:prstGeom prst="rect">
            <a:avLst/>
          </a:prstGeom>
          <a:noFill/>
        </p:spPr>
        <p:txBody>
          <a:bodyPr wrap="square" anchor="t" lIns="0" rIns="0" tIns="0" bIns="0">
            <a:spAutoFit/>
          </a:bodyPr>
          <a:lstStyle/>
          <a:p>
            <a:pPr algn="ctr"/>
            <a:r>
              <a:rPr sz="1050" b="1">
                <a:solidFill>
                  <a:srgbClr val="6D7C73"/>
                </a:solidFill>
                <a:latin typeface="맑은 고딕"/>
              </a:rPr>
              <a:t>감정</a:t>
            </a:r>
          </a:p>
        </p:txBody>
      </p:sp>
      <p:sp>
        <p:nvSpPr>
          <p:cNvPr id="25" name="TextBox 24"/>
          <p:cNvSpPr txBox="1"/>
          <p:nvPr/>
        </p:nvSpPr>
        <p:spPr>
          <a:xfrm>
            <a:off x="3191256" y="3474720"/>
            <a:ext cx="1143000" cy="411480"/>
          </a:xfrm>
          <a:prstGeom prst="rect">
            <a:avLst/>
          </a:prstGeom>
          <a:noFill/>
        </p:spPr>
        <p:txBody>
          <a:bodyPr wrap="square" anchor="t" lIns="0" rIns="0" tIns="0" bIns="0">
            <a:spAutoFit/>
          </a:bodyPr>
          <a:lstStyle/>
          <a:p>
            <a:pPr algn="ctr"/>
            <a:r>
              <a:rPr sz="1600" b="1">
                <a:solidFill>
                  <a:srgbClr val="24392F"/>
                </a:solidFill>
                <a:latin typeface="맑은 고딕"/>
              </a:rPr>
              <a:t>부정</a:t>
            </a:r>
          </a:p>
        </p:txBody>
      </p:sp>
      <p:sp>
        <p:nvSpPr>
          <p:cNvPr id="26" name="Rounded Rectangle 25"/>
          <p:cNvSpPr/>
          <p:nvPr/>
        </p:nvSpPr>
        <p:spPr>
          <a:xfrm>
            <a:off x="4443984" y="3127248"/>
            <a:ext cx="1143000" cy="868680"/>
          </a:xfrm>
          <a:prstGeom prst="roundRect">
            <a:avLst>
              <a:gd name="adj" fmla="val 18947"/>
            </a:avLst>
          </a:prstGeom>
          <a:solidFill>
            <a:srgbClr val="E9F2EB"/>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43984" y="3218688"/>
            <a:ext cx="1143000" cy="274320"/>
          </a:xfrm>
          <a:prstGeom prst="rect">
            <a:avLst/>
          </a:prstGeom>
          <a:noFill/>
        </p:spPr>
        <p:txBody>
          <a:bodyPr wrap="square" anchor="t" lIns="0" rIns="0" tIns="0" bIns="0">
            <a:spAutoFit/>
          </a:bodyPr>
          <a:lstStyle/>
          <a:p>
            <a:pPr algn="ctr"/>
            <a:r>
              <a:rPr sz="1050" b="1">
                <a:solidFill>
                  <a:srgbClr val="2E6047"/>
                </a:solidFill>
                <a:latin typeface="맑은 고딕"/>
              </a:rPr>
              <a:t>긴급도</a:t>
            </a:r>
          </a:p>
        </p:txBody>
      </p:sp>
      <p:sp>
        <p:nvSpPr>
          <p:cNvPr id="28" name="TextBox 27"/>
          <p:cNvSpPr txBox="1"/>
          <p:nvPr/>
        </p:nvSpPr>
        <p:spPr>
          <a:xfrm>
            <a:off x="4443984" y="3474720"/>
            <a:ext cx="1143000" cy="411480"/>
          </a:xfrm>
          <a:prstGeom prst="rect">
            <a:avLst/>
          </a:prstGeom>
          <a:noFill/>
        </p:spPr>
        <p:txBody>
          <a:bodyPr wrap="square" anchor="t" lIns="0" rIns="0" tIns="0" bIns="0">
            <a:spAutoFit/>
          </a:bodyPr>
          <a:lstStyle/>
          <a:p>
            <a:pPr algn="ctr"/>
            <a:r>
              <a:rPr sz="1600" b="1">
                <a:solidFill>
                  <a:srgbClr val="2E6047"/>
                </a:solidFill>
                <a:latin typeface="맑은 고딕"/>
              </a:rPr>
              <a:t>높음</a:t>
            </a:r>
          </a:p>
        </p:txBody>
      </p:sp>
      <p:sp>
        <p:nvSpPr>
          <p:cNvPr id="29" name="TextBox 28"/>
          <p:cNvSpPr txBox="1"/>
          <p:nvPr/>
        </p:nvSpPr>
        <p:spPr>
          <a:xfrm>
            <a:off x="685800" y="4343400"/>
            <a:ext cx="4937760" cy="1280160"/>
          </a:xfrm>
          <a:prstGeom prst="rect">
            <a:avLst/>
          </a:prstGeom>
          <a:noFill/>
        </p:spPr>
        <p:txBody>
          <a:bodyPr wrap="square" anchor="t" lIns="0" rIns="0" tIns="0" bIns="0">
            <a:spAutoFit/>
          </a:bodyPr>
          <a:lstStyle/>
          <a:p>
            <a:pPr algn="l">
              <a:lnSpc>
                <a:spcPct val="120000"/>
              </a:lnSpc>
            </a:pPr>
            <a:r>
              <a:rPr sz="1250" b="0">
                <a:solidFill>
                  <a:srgbClr val="6D7C73"/>
                </a:solidFill>
                <a:latin typeface="맑은 고딕"/>
              </a:rPr>
              <a:t>꼬리표 네 개로 처리 순서와 담당을 정합니다.
「얼마나 급한가」는 문장에 잘 드러나지 않아
가장 어려웠습니다.</a:t>
            </a:r>
          </a:p>
        </p:txBody>
      </p:sp>
      <p:sp>
        <p:nvSpPr>
          <p:cNvPr id="30" name="Rounded Rectangle 29"/>
          <p:cNvSpPr/>
          <p:nvPr/>
        </p:nvSpPr>
        <p:spPr>
          <a:xfrm>
            <a:off x="6263640" y="1645920"/>
            <a:ext cx="5239512" cy="3886200"/>
          </a:xfrm>
          <a:prstGeom prst="roundRect">
            <a:avLst>
              <a:gd name="adj" fmla="val 5176"/>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79" y="1828800"/>
            <a:ext cx="4572000" cy="274320"/>
          </a:xfrm>
          <a:prstGeom prst="rect">
            <a:avLst/>
          </a:prstGeom>
          <a:noFill/>
        </p:spPr>
        <p:txBody>
          <a:bodyPr wrap="square" anchor="t" lIns="0" rIns="0" tIns="0" bIns="0">
            <a:spAutoFit/>
          </a:bodyPr>
          <a:lstStyle/>
          <a:p>
            <a:pPr algn="l"/>
            <a:r>
              <a:rPr sz="1400" b="1">
                <a:solidFill>
                  <a:srgbClr val="24392F"/>
                </a:solidFill>
                <a:latin typeface="맑은 고딕"/>
              </a:rPr>
              <a:t>긴급도 정확도 · 400문장</a:t>
            </a:r>
          </a:p>
        </p:txBody>
      </p:sp>
      <p:sp>
        <p:nvSpPr>
          <p:cNvPr id="32" name="TextBox 31"/>
          <p:cNvSpPr txBox="1"/>
          <p:nvPr/>
        </p:nvSpPr>
        <p:spPr>
          <a:xfrm>
            <a:off x="6583679" y="2121408"/>
            <a:ext cx="4572000" cy="274320"/>
          </a:xfrm>
          <a:prstGeom prst="rect">
            <a:avLst/>
          </a:prstGeom>
          <a:noFill/>
        </p:spPr>
        <p:txBody>
          <a:bodyPr wrap="square" anchor="t" lIns="0" rIns="0" tIns="0" bIns="0">
            <a:spAutoFit/>
          </a:bodyPr>
          <a:lstStyle/>
          <a:p>
            <a:pPr algn="l"/>
            <a:r>
              <a:rPr sz="1050" b="0">
                <a:solidFill>
                  <a:srgbClr val="526858"/>
                </a:solidFill>
                <a:latin typeface="맑은 고딕"/>
              </a:rPr>
              <a:t>학습 없이 지시문만 준 Gemma 4 E4B → 우리 문장 720개로 학습한 분류 모델</a:t>
            </a:r>
          </a:p>
        </p:txBody>
      </p:sp>
      <p:pic>
        <p:nvPicPr>
          <p:cNvPr id="33" name="Picture 32" descr="urgency.png"/>
          <p:cNvPicPr>
            <a:picLocks noChangeAspect="1"/>
          </p:cNvPicPr>
          <p:nvPr/>
        </p:nvPicPr>
        <p:blipFill>
          <a:blip r:embed="rId2"/>
          <a:stretch>
            <a:fillRect/>
          </a:stretch>
        </p:blipFill>
        <p:spPr>
          <a:xfrm>
            <a:off x="6537959" y="2560320"/>
            <a:ext cx="4663440" cy="1116789"/>
          </a:xfrm>
          <a:prstGeom prst="rect">
            <a:avLst/>
          </a:prstGeom>
        </p:spPr>
      </p:pic>
      <p:cxnSp>
        <p:nvCxnSpPr>
          <p:cNvPr id="34" name="Connector 33"/>
          <p:cNvCxnSpPr/>
          <p:nvPr/>
        </p:nvCxnSpPr>
        <p:spPr>
          <a:xfrm>
            <a:off x="6583679" y="4069080"/>
            <a:ext cx="4599433"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83679" y="4206240"/>
            <a:ext cx="4572000" cy="274320"/>
          </a:xfrm>
          <a:prstGeom prst="rect">
            <a:avLst/>
          </a:prstGeom>
          <a:noFill/>
        </p:spPr>
        <p:txBody>
          <a:bodyPr wrap="square" anchor="t" lIns="0" rIns="0" tIns="0" bIns="0">
            <a:spAutoFit/>
          </a:bodyPr>
          <a:lstStyle/>
          <a:p>
            <a:pPr algn="l"/>
            <a:r>
              <a:rPr sz="1100" b="1">
                <a:solidFill>
                  <a:srgbClr val="6D7C73"/>
                </a:solidFill>
                <a:latin typeface="맑은 고딕"/>
              </a:rPr>
              <a:t>학습한 분류 모델의 나머지 꼬리표</a:t>
            </a:r>
          </a:p>
        </p:txBody>
      </p:sp>
      <p:sp>
        <p:nvSpPr>
          <p:cNvPr id="36" name="TextBox 35"/>
          <p:cNvSpPr txBox="1"/>
          <p:nvPr/>
        </p:nvSpPr>
        <p:spPr>
          <a:xfrm>
            <a:off x="6583679" y="4526280"/>
            <a:ext cx="1463040" cy="548640"/>
          </a:xfrm>
          <a:prstGeom prst="rect">
            <a:avLst/>
          </a:prstGeom>
          <a:noFill/>
        </p:spPr>
        <p:txBody>
          <a:bodyPr wrap="square" anchor="t" lIns="0" rIns="0" tIns="0" bIns="0">
            <a:spAutoFit/>
          </a:bodyPr>
          <a:lstStyle/>
          <a:p>
            <a:pPr algn="l"/>
            <a:r>
              <a:rPr sz="2600" b="1">
                <a:solidFill>
                  <a:srgbClr val="2E6047"/>
                </a:solidFill>
                <a:latin typeface="맑은 고딕"/>
              </a:rPr>
              <a:t>97.5%</a:t>
            </a:r>
          </a:p>
        </p:txBody>
      </p:sp>
      <p:sp>
        <p:nvSpPr>
          <p:cNvPr id="37" name="TextBox 36"/>
          <p:cNvSpPr txBox="1"/>
          <p:nvPr/>
        </p:nvSpPr>
        <p:spPr>
          <a:xfrm>
            <a:off x="6583679" y="5074920"/>
            <a:ext cx="1463040" cy="274320"/>
          </a:xfrm>
          <a:prstGeom prst="rect">
            <a:avLst/>
          </a:prstGeom>
          <a:noFill/>
        </p:spPr>
        <p:txBody>
          <a:bodyPr wrap="square" anchor="t" lIns="0" rIns="0" tIns="0" bIns="0">
            <a:spAutoFit/>
          </a:bodyPr>
          <a:lstStyle/>
          <a:p>
            <a:pPr algn="l"/>
            <a:r>
              <a:rPr sz="1200" b="0">
                <a:solidFill>
                  <a:srgbClr val="6D7C73"/>
                </a:solidFill>
                <a:latin typeface="맑은 고딕"/>
              </a:rPr>
              <a:t>의도</a:t>
            </a:r>
          </a:p>
        </p:txBody>
      </p:sp>
      <p:sp>
        <p:nvSpPr>
          <p:cNvPr id="38" name="TextBox 37"/>
          <p:cNvSpPr txBox="1"/>
          <p:nvPr/>
        </p:nvSpPr>
        <p:spPr>
          <a:xfrm>
            <a:off x="8138159" y="4526280"/>
            <a:ext cx="1463040" cy="548640"/>
          </a:xfrm>
          <a:prstGeom prst="rect">
            <a:avLst/>
          </a:prstGeom>
          <a:noFill/>
        </p:spPr>
        <p:txBody>
          <a:bodyPr wrap="square" anchor="t" lIns="0" rIns="0" tIns="0" bIns="0">
            <a:spAutoFit/>
          </a:bodyPr>
          <a:lstStyle/>
          <a:p>
            <a:pPr algn="l"/>
            <a:r>
              <a:rPr sz="2600" b="1">
                <a:solidFill>
                  <a:srgbClr val="2E6047"/>
                </a:solidFill>
                <a:latin typeface="맑은 고딕"/>
              </a:rPr>
              <a:t>93.8%</a:t>
            </a:r>
          </a:p>
        </p:txBody>
      </p:sp>
      <p:sp>
        <p:nvSpPr>
          <p:cNvPr id="39" name="TextBox 38"/>
          <p:cNvSpPr txBox="1"/>
          <p:nvPr/>
        </p:nvSpPr>
        <p:spPr>
          <a:xfrm>
            <a:off x="8138159" y="5074920"/>
            <a:ext cx="1463040" cy="274320"/>
          </a:xfrm>
          <a:prstGeom prst="rect">
            <a:avLst/>
          </a:prstGeom>
          <a:noFill/>
        </p:spPr>
        <p:txBody>
          <a:bodyPr wrap="square" anchor="t" lIns="0" rIns="0" tIns="0" bIns="0">
            <a:spAutoFit/>
          </a:bodyPr>
          <a:lstStyle/>
          <a:p>
            <a:pPr algn="l"/>
            <a:r>
              <a:rPr sz="1200" b="0">
                <a:solidFill>
                  <a:srgbClr val="6D7C73"/>
                </a:solidFill>
                <a:latin typeface="맑은 고딕"/>
              </a:rPr>
              <a:t>감정</a:t>
            </a:r>
          </a:p>
        </p:txBody>
      </p:sp>
      <p:sp>
        <p:nvSpPr>
          <p:cNvPr id="40" name="TextBox 39"/>
          <p:cNvSpPr txBox="1"/>
          <p:nvPr/>
        </p:nvSpPr>
        <p:spPr>
          <a:xfrm>
            <a:off x="9692640" y="4526280"/>
            <a:ext cx="1463040" cy="548640"/>
          </a:xfrm>
          <a:prstGeom prst="rect">
            <a:avLst/>
          </a:prstGeom>
          <a:noFill/>
        </p:spPr>
        <p:txBody>
          <a:bodyPr wrap="square" anchor="t" lIns="0" rIns="0" tIns="0" bIns="0">
            <a:spAutoFit/>
          </a:bodyPr>
          <a:lstStyle/>
          <a:p>
            <a:pPr algn="l"/>
            <a:r>
              <a:rPr sz="2600" b="1">
                <a:solidFill>
                  <a:srgbClr val="2E6047"/>
                </a:solidFill>
                <a:latin typeface="맑은 고딕"/>
              </a:rPr>
              <a:t>93.2%</a:t>
            </a:r>
          </a:p>
        </p:txBody>
      </p:sp>
      <p:sp>
        <p:nvSpPr>
          <p:cNvPr id="41" name="TextBox 40"/>
          <p:cNvSpPr txBox="1"/>
          <p:nvPr/>
        </p:nvSpPr>
        <p:spPr>
          <a:xfrm>
            <a:off x="9692640" y="5074920"/>
            <a:ext cx="1463040" cy="274320"/>
          </a:xfrm>
          <a:prstGeom prst="rect">
            <a:avLst/>
          </a:prstGeom>
          <a:noFill/>
        </p:spPr>
        <p:txBody>
          <a:bodyPr wrap="square" anchor="t" lIns="0" rIns="0" tIns="0" bIns="0">
            <a:spAutoFit/>
          </a:bodyPr>
          <a:lstStyle/>
          <a:p>
            <a:pPr algn="l"/>
            <a:r>
              <a:rPr sz="1200" b="0">
                <a:solidFill>
                  <a:srgbClr val="6D7C73"/>
                </a:solidFill>
                <a:latin typeface="맑은 고딕"/>
              </a:rPr>
              <a:t>대상</a:t>
            </a:r>
          </a:p>
        </p:txBody>
      </p:sp>
      <p:sp>
        <p:nvSpPr>
          <p:cNvPr id="42" name="TextBox 41"/>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CX 400(합성): 긴급도 갈린 문장 112 : 15, p=1.6e-19 · 차이 +27.5%p (+21.8~+33.1). 단 별도 평가셋 G96(96문장)에서는 네 꼬리표 모두 구분 안 됨 → 다른 자료로는 아직 일반화하지 못했습니다.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POLICY SEARCH · RAG</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규정 검색은 지금 62.5%이고, 개선안 두 가지로 목표에 다가갔습니다</a:t>
            </a:r>
          </a:p>
        </p:txBody>
      </p:sp>
      <p:sp>
        <p:nvSpPr>
          <p:cNvPr id="14" name="Rounded Rectangle 13"/>
          <p:cNvSpPr/>
          <p:nvPr/>
        </p:nvSpPr>
        <p:spPr>
          <a:xfrm>
            <a:off x="685800" y="1554480"/>
            <a:ext cx="4846320" cy="603504"/>
          </a:xfrm>
          <a:prstGeom prst="roundRect">
            <a:avLst>
              <a:gd name="adj" fmla="val 3333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618488"/>
            <a:ext cx="4480559"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16" name="TextBox 15"/>
          <p:cNvSpPr txBox="1"/>
          <p:nvPr/>
        </p:nvSpPr>
        <p:spPr>
          <a:xfrm>
            <a:off x="868680" y="1801368"/>
            <a:ext cx="4480559" cy="329184"/>
          </a:xfrm>
          <a:prstGeom prst="rect">
            <a:avLst/>
          </a:prstGeom>
          <a:noFill/>
        </p:spPr>
        <p:txBody>
          <a:bodyPr wrap="square" anchor="t" lIns="0" rIns="0" tIns="0" bIns="0">
            <a:spAutoFit/>
          </a:bodyPr>
          <a:lstStyle/>
          <a:p>
            <a:pPr algn="l"/>
            <a:r>
              <a:rPr sz="1300" b="0">
                <a:solidFill>
                  <a:srgbClr val="24392F"/>
                </a:solidFill>
                <a:latin typeface="맑은 고딕"/>
              </a:rPr>
              <a:t>창덕궁 임시 휴관이면 일정 어쩌죠?</a:t>
            </a:r>
          </a:p>
        </p:txBody>
      </p:sp>
      <p:sp>
        <p:nvSpPr>
          <p:cNvPr id="17" name="Rounded Rectangle 16"/>
          <p:cNvSpPr/>
          <p:nvPr/>
        </p:nvSpPr>
        <p:spPr>
          <a:xfrm>
            <a:off x="685800" y="2267712"/>
            <a:ext cx="4846320" cy="658368"/>
          </a:xfrm>
          <a:prstGeom prst="roundRect">
            <a:avLst>
              <a:gd name="adj" fmla="val 25000"/>
            </a:avLst>
          </a:prstGeom>
          <a:solidFill>
            <a:srgbClr val="FFFFFF"/>
          </a:solidFill>
          <a:ln w="1587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286000"/>
            <a:ext cx="4480560" cy="640080"/>
          </a:xfrm>
          <a:prstGeom prst="rect">
            <a:avLst/>
          </a:prstGeom>
          <a:noFill/>
        </p:spPr>
        <p:txBody>
          <a:bodyPr wrap="square" anchor="ctr" lIns="0" rIns="0" tIns="0" bIns="0">
            <a:spAutoFit/>
          </a:bodyPr>
          <a:lstStyle/>
          <a:p>
            <a:pPr algn="l">
              <a:spcAft>
                <a:spcPts val="100"/>
              </a:spcAft>
            </a:pPr>
            <a:r>
              <a:rPr sz="950" b="1">
                <a:solidFill>
                  <a:srgbClr val="2E6047"/>
                </a:solidFill>
                <a:latin typeface="맑은 고딕"/>
              </a:rPr>
              <a:t>찾아야 하는 규정 조각  </a:t>
            </a:r>
          </a:p>
          <a:p>
            <a:pPr algn="l">
              <a:spcAft>
                <a:spcPts val="100"/>
              </a:spcAft>
            </a:pPr>
            <a:r>
              <a:rPr sz="1100" b="1">
                <a:solidFill>
                  <a:srgbClr val="24392F"/>
                </a:solidFill>
                <a:latin typeface="맑은 고딕"/>
              </a:rPr>
              <a:t>「운영 중단과 통제」 문서 · 「임시 휴관과 정기 휴관을 나눈다」 절</a:t>
            </a:r>
          </a:p>
        </p:txBody>
      </p:sp>
      <p:sp>
        <p:nvSpPr>
          <p:cNvPr id="19" name="TextBox 18"/>
          <p:cNvSpPr txBox="1"/>
          <p:nvPr/>
        </p:nvSpPr>
        <p:spPr>
          <a:xfrm>
            <a:off x="685800" y="3063240"/>
            <a:ext cx="4846320" cy="274320"/>
          </a:xfrm>
          <a:prstGeom prst="rect">
            <a:avLst/>
          </a:prstGeom>
          <a:noFill/>
        </p:spPr>
        <p:txBody>
          <a:bodyPr wrap="square" anchor="t" lIns="0" rIns="0" tIns="0" bIns="0">
            <a:spAutoFit/>
          </a:bodyPr>
          <a:lstStyle/>
          <a:p>
            <a:pPr algn="l"/>
            <a:r>
              <a:rPr sz="1050" b="1">
                <a:solidFill>
                  <a:srgbClr val="6D7C73"/>
                </a:solidFill>
                <a:latin typeface="맑은 고딕"/>
              </a:rPr>
              <a:t>지표 (블라인드 평가셋 B · 답 있는 48문제)</a:t>
            </a:r>
          </a:p>
        </p:txBody>
      </p:sp>
      <p:sp>
        <p:nvSpPr>
          <p:cNvPr id="20" name="TextBox 19"/>
          <p:cNvSpPr txBox="1"/>
          <p:nvPr/>
        </p:nvSpPr>
        <p:spPr>
          <a:xfrm>
            <a:off x="3703320" y="3063240"/>
            <a:ext cx="1828800" cy="274320"/>
          </a:xfrm>
          <a:prstGeom prst="rect">
            <a:avLst/>
          </a:prstGeom>
          <a:noFill/>
        </p:spPr>
        <p:txBody>
          <a:bodyPr wrap="square" anchor="t" lIns="0" rIns="0" tIns="0" bIns="0">
            <a:spAutoFit/>
          </a:bodyPr>
          <a:lstStyle/>
          <a:p>
            <a:pPr algn="r"/>
            <a:r>
              <a:rPr sz="1050" b="1">
                <a:solidFill>
                  <a:srgbClr val="6D7C73"/>
                </a:solidFill>
                <a:latin typeface="맑은 고딕"/>
              </a:rPr>
              <a:t>지금 → 개선 색인</a:t>
            </a:r>
          </a:p>
        </p:txBody>
      </p:sp>
      <p:sp>
        <p:nvSpPr>
          <p:cNvPr id="21" name="TextBox 20"/>
          <p:cNvSpPr txBox="1"/>
          <p:nvPr/>
        </p:nvSpPr>
        <p:spPr>
          <a:xfrm>
            <a:off x="685800" y="3383280"/>
            <a:ext cx="3017520" cy="256032"/>
          </a:xfrm>
          <a:prstGeom prst="rect">
            <a:avLst/>
          </a:prstGeom>
          <a:noFill/>
        </p:spPr>
        <p:txBody>
          <a:bodyPr wrap="square" anchor="t" lIns="0" rIns="0" tIns="0" bIns="0">
            <a:spAutoFit/>
          </a:bodyPr>
          <a:lstStyle/>
          <a:p>
            <a:pPr algn="l"/>
            <a:r>
              <a:rPr sz="1100" b="1">
                <a:solidFill>
                  <a:srgbClr val="24392F"/>
                </a:solidFill>
                <a:latin typeface="맑은 고딕"/>
              </a:rPr>
              <a:t>Recall@3</a:t>
            </a:r>
          </a:p>
        </p:txBody>
      </p:sp>
      <p:sp>
        <p:nvSpPr>
          <p:cNvPr id="22" name="TextBox 21"/>
          <p:cNvSpPr txBox="1"/>
          <p:nvPr/>
        </p:nvSpPr>
        <p:spPr>
          <a:xfrm>
            <a:off x="685800" y="3611880"/>
            <a:ext cx="3108960" cy="256032"/>
          </a:xfrm>
          <a:prstGeom prst="rect">
            <a:avLst/>
          </a:prstGeom>
          <a:noFill/>
        </p:spPr>
        <p:txBody>
          <a:bodyPr wrap="square" anchor="t" lIns="0" rIns="0" tIns="0" bIns="0">
            <a:spAutoFit/>
          </a:bodyPr>
          <a:lstStyle/>
          <a:p>
            <a:pPr algn="l"/>
            <a:r>
              <a:rPr sz="850" b="0">
                <a:solidFill>
                  <a:srgbClr val="526858"/>
                </a:solidFill>
                <a:latin typeface="맑은 고딕"/>
              </a:rPr>
              <a:t>정답 규정이 검색 상위 3개 안에 든 질문 비율</a:t>
            </a:r>
          </a:p>
        </p:txBody>
      </p:sp>
      <p:sp>
        <p:nvSpPr>
          <p:cNvPr id="23" name="TextBox 22"/>
          <p:cNvSpPr txBox="1"/>
          <p:nvPr/>
        </p:nvSpPr>
        <p:spPr>
          <a:xfrm>
            <a:off x="3749039" y="3419856"/>
            <a:ext cx="1783080" cy="320040"/>
          </a:xfrm>
          <a:prstGeom prst="rect">
            <a:avLst/>
          </a:prstGeom>
          <a:noFill/>
        </p:spPr>
        <p:txBody>
          <a:bodyPr wrap="square" anchor="t" lIns="0" rIns="0" tIns="0" bIns="0">
            <a:spAutoFit/>
          </a:bodyPr>
          <a:lstStyle/>
          <a:p>
            <a:pPr algn="r"/>
            <a:r>
              <a:rPr sz="1200" b="1">
                <a:solidFill>
                  <a:srgbClr val="2E6047"/>
                </a:solidFill>
                <a:latin typeface="맑은 고딕"/>
              </a:rPr>
              <a:t>62.5% → 72.9%</a:t>
            </a:r>
          </a:p>
        </p:txBody>
      </p:sp>
      <p:cxnSp>
        <p:nvCxnSpPr>
          <p:cNvPr id="24" name="Connector 23"/>
          <p:cNvCxnSpPr/>
          <p:nvPr/>
        </p:nvCxnSpPr>
        <p:spPr>
          <a:xfrm>
            <a:off x="685800" y="3840480"/>
            <a:ext cx="484632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3886200"/>
            <a:ext cx="3017520" cy="256032"/>
          </a:xfrm>
          <a:prstGeom prst="rect">
            <a:avLst/>
          </a:prstGeom>
          <a:noFill/>
        </p:spPr>
        <p:txBody>
          <a:bodyPr wrap="square" anchor="t" lIns="0" rIns="0" tIns="0" bIns="0">
            <a:spAutoFit/>
          </a:bodyPr>
          <a:lstStyle/>
          <a:p>
            <a:pPr algn="l"/>
            <a:r>
              <a:rPr sz="1100" b="1">
                <a:solidFill>
                  <a:srgbClr val="24392F"/>
                </a:solidFill>
                <a:latin typeface="맑은 고딕"/>
              </a:rPr>
              <a:t>Hit@2</a:t>
            </a:r>
          </a:p>
        </p:txBody>
      </p:sp>
      <p:sp>
        <p:nvSpPr>
          <p:cNvPr id="26" name="TextBox 25"/>
          <p:cNvSpPr txBox="1"/>
          <p:nvPr/>
        </p:nvSpPr>
        <p:spPr>
          <a:xfrm>
            <a:off x="685800" y="4114800"/>
            <a:ext cx="3108960" cy="256032"/>
          </a:xfrm>
          <a:prstGeom prst="rect">
            <a:avLst/>
          </a:prstGeom>
          <a:noFill/>
        </p:spPr>
        <p:txBody>
          <a:bodyPr wrap="square" anchor="t" lIns="0" rIns="0" tIns="0" bIns="0">
            <a:spAutoFit/>
          </a:bodyPr>
          <a:lstStyle/>
          <a:p>
            <a:pPr algn="l"/>
            <a:r>
              <a:rPr sz="850" b="0">
                <a:solidFill>
                  <a:srgbClr val="526858"/>
                </a:solidFill>
                <a:latin typeface="맑은 고딕"/>
              </a:rPr>
              <a:t>고객 화면에 보이는 2줄 안에 정답이 든 비율</a:t>
            </a:r>
          </a:p>
        </p:txBody>
      </p:sp>
      <p:sp>
        <p:nvSpPr>
          <p:cNvPr id="27" name="TextBox 26"/>
          <p:cNvSpPr txBox="1"/>
          <p:nvPr/>
        </p:nvSpPr>
        <p:spPr>
          <a:xfrm>
            <a:off x="3749039" y="3922776"/>
            <a:ext cx="1783080" cy="320040"/>
          </a:xfrm>
          <a:prstGeom prst="rect">
            <a:avLst/>
          </a:prstGeom>
          <a:noFill/>
        </p:spPr>
        <p:txBody>
          <a:bodyPr wrap="square" anchor="t" lIns="0" rIns="0" tIns="0" bIns="0">
            <a:spAutoFit/>
          </a:bodyPr>
          <a:lstStyle/>
          <a:p>
            <a:pPr algn="r"/>
            <a:r>
              <a:rPr sz="1200" b="1">
                <a:solidFill>
                  <a:srgbClr val="2E6047"/>
                </a:solidFill>
                <a:latin typeface="맑은 고딕"/>
              </a:rPr>
              <a:t>50.0% → 70.8%</a:t>
            </a:r>
          </a:p>
        </p:txBody>
      </p:sp>
      <p:cxnSp>
        <p:nvCxnSpPr>
          <p:cNvPr id="28" name="Connector 27"/>
          <p:cNvCxnSpPr/>
          <p:nvPr/>
        </p:nvCxnSpPr>
        <p:spPr>
          <a:xfrm>
            <a:off x="685800" y="4343400"/>
            <a:ext cx="484632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4389120"/>
            <a:ext cx="3017520" cy="256032"/>
          </a:xfrm>
          <a:prstGeom prst="rect">
            <a:avLst/>
          </a:prstGeom>
          <a:noFill/>
        </p:spPr>
        <p:txBody>
          <a:bodyPr wrap="square" anchor="t" lIns="0" rIns="0" tIns="0" bIns="0">
            <a:spAutoFit/>
          </a:bodyPr>
          <a:lstStyle/>
          <a:p>
            <a:pPr algn="l"/>
            <a:r>
              <a:rPr sz="1100" b="1">
                <a:solidFill>
                  <a:srgbClr val="24392F"/>
                </a:solidFill>
                <a:latin typeface="맑은 고딕"/>
              </a:rPr>
              <a:t>정답 줄을 보인 질문</a:t>
            </a:r>
          </a:p>
        </p:txBody>
      </p:sp>
      <p:sp>
        <p:nvSpPr>
          <p:cNvPr id="30" name="TextBox 29"/>
          <p:cNvSpPr txBox="1"/>
          <p:nvPr/>
        </p:nvSpPr>
        <p:spPr>
          <a:xfrm>
            <a:off x="685800" y="4617720"/>
            <a:ext cx="3108960" cy="256032"/>
          </a:xfrm>
          <a:prstGeom prst="rect">
            <a:avLst/>
          </a:prstGeom>
          <a:noFill/>
        </p:spPr>
        <p:txBody>
          <a:bodyPr wrap="square" anchor="t" lIns="0" rIns="0" tIns="0" bIns="0">
            <a:spAutoFit/>
          </a:bodyPr>
          <a:lstStyle/>
          <a:p>
            <a:pPr algn="l"/>
            <a:r>
              <a:rPr sz="850" b="0">
                <a:solidFill>
                  <a:srgbClr val="526858"/>
                </a:solidFill>
                <a:latin typeface="맑은 고딕"/>
              </a:rPr>
              <a:t>실제 답에 정답 규정 문장이 실린 질문 수</a:t>
            </a:r>
          </a:p>
        </p:txBody>
      </p:sp>
      <p:sp>
        <p:nvSpPr>
          <p:cNvPr id="31" name="TextBox 30"/>
          <p:cNvSpPr txBox="1"/>
          <p:nvPr/>
        </p:nvSpPr>
        <p:spPr>
          <a:xfrm>
            <a:off x="3749039" y="4425696"/>
            <a:ext cx="1783080" cy="320040"/>
          </a:xfrm>
          <a:prstGeom prst="rect">
            <a:avLst/>
          </a:prstGeom>
          <a:noFill/>
        </p:spPr>
        <p:txBody>
          <a:bodyPr wrap="square" anchor="t" lIns="0" rIns="0" tIns="0" bIns="0">
            <a:spAutoFit/>
          </a:bodyPr>
          <a:lstStyle/>
          <a:p>
            <a:pPr algn="r"/>
            <a:r>
              <a:rPr sz="1200" b="1">
                <a:solidFill>
                  <a:srgbClr val="2E6047"/>
                </a:solidFill>
                <a:latin typeface="맑은 고딕"/>
              </a:rPr>
              <a:t>21 → 31개</a:t>
            </a:r>
          </a:p>
        </p:txBody>
      </p:sp>
      <p:cxnSp>
        <p:nvCxnSpPr>
          <p:cNvPr id="32" name="Connector 31"/>
          <p:cNvCxnSpPr/>
          <p:nvPr/>
        </p:nvCxnSpPr>
        <p:spPr>
          <a:xfrm>
            <a:off x="685800" y="4846320"/>
            <a:ext cx="484632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4892040"/>
            <a:ext cx="3017520" cy="256032"/>
          </a:xfrm>
          <a:prstGeom prst="rect">
            <a:avLst/>
          </a:prstGeom>
          <a:noFill/>
        </p:spPr>
        <p:txBody>
          <a:bodyPr wrap="square" anchor="t" lIns="0" rIns="0" tIns="0" bIns="0">
            <a:spAutoFit/>
          </a:bodyPr>
          <a:lstStyle/>
          <a:p>
            <a:pPr algn="l"/>
            <a:r>
              <a:rPr sz="1100" b="1">
                <a:solidFill>
                  <a:srgbClr val="24392F"/>
                </a:solidFill>
                <a:latin typeface="맑은 고딕"/>
              </a:rPr>
              <a:t>선택적 위험</a:t>
            </a:r>
          </a:p>
        </p:txBody>
      </p:sp>
      <p:sp>
        <p:nvSpPr>
          <p:cNvPr id="34" name="TextBox 33"/>
          <p:cNvSpPr txBox="1"/>
          <p:nvPr/>
        </p:nvSpPr>
        <p:spPr>
          <a:xfrm>
            <a:off x="685800" y="5120640"/>
            <a:ext cx="3108960" cy="256032"/>
          </a:xfrm>
          <a:prstGeom prst="rect">
            <a:avLst/>
          </a:prstGeom>
          <a:noFill/>
        </p:spPr>
        <p:txBody>
          <a:bodyPr wrap="square" anchor="t" lIns="0" rIns="0" tIns="0" bIns="0">
            <a:spAutoFit/>
          </a:bodyPr>
          <a:lstStyle/>
          <a:p>
            <a:pPr algn="l"/>
            <a:r>
              <a:rPr sz="850" b="0">
                <a:solidFill>
                  <a:srgbClr val="526858"/>
                </a:solidFill>
                <a:latin typeface="맑은 고딕"/>
              </a:rPr>
              <a:t>답한 것 중 틀린 비율 · 낮을수록 좋음</a:t>
            </a:r>
          </a:p>
        </p:txBody>
      </p:sp>
      <p:sp>
        <p:nvSpPr>
          <p:cNvPr id="35" name="TextBox 34"/>
          <p:cNvSpPr txBox="1"/>
          <p:nvPr/>
        </p:nvSpPr>
        <p:spPr>
          <a:xfrm>
            <a:off x="3749039" y="4928616"/>
            <a:ext cx="1783080" cy="320040"/>
          </a:xfrm>
          <a:prstGeom prst="rect">
            <a:avLst/>
          </a:prstGeom>
          <a:noFill/>
        </p:spPr>
        <p:txBody>
          <a:bodyPr wrap="square" anchor="t" lIns="0" rIns="0" tIns="0" bIns="0">
            <a:spAutoFit/>
          </a:bodyPr>
          <a:lstStyle/>
          <a:p>
            <a:pPr algn="r"/>
            <a:r>
              <a:rPr sz="1200" b="1">
                <a:solidFill>
                  <a:srgbClr val="2E6047"/>
                </a:solidFill>
                <a:latin typeface="맑은 고딕"/>
              </a:rPr>
              <a:t>51.2% → 27.9%</a:t>
            </a:r>
          </a:p>
        </p:txBody>
      </p:sp>
      <p:sp>
        <p:nvSpPr>
          <p:cNvPr id="36" name="Rounded Rectangle 35"/>
          <p:cNvSpPr/>
          <p:nvPr/>
        </p:nvSpPr>
        <p:spPr>
          <a:xfrm>
            <a:off x="685800" y="5440680"/>
            <a:ext cx="4846320" cy="749808"/>
          </a:xfrm>
          <a:prstGeom prst="roundRect">
            <a:avLst>
              <a:gd name="adj" fmla="val 21951"/>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6968" y="5440680"/>
            <a:ext cx="4480560" cy="749808"/>
          </a:xfrm>
          <a:prstGeom prst="rect">
            <a:avLst/>
          </a:prstGeom>
          <a:noFill/>
        </p:spPr>
        <p:txBody>
          <a:bodyPr wrap="square" anchor="ctr" lIns="0" rIns="0" tIns="0" bIns="0">
            <a:spAutoFit/>
          </a:bodyPr>
          <a:lstStyle/>
          <a:p>
            <a:pPr algn="l">
              <a:spcAft>
                <a:spcPts val="200"/>
              </a:spcAft>
            </a:pPr>
            <a:r>
              <a:rPr sz="1100" b="1">
                <a:solidFill>
                  <a:srgbClr val="2E6047"/>
                </a:solidFill>
                <a:latin typeface="맑은 고딕"/>
              </a:rPr>
              <a:t>개선안 2 · 재순위(후보 20개를 다시 줄 세움)</a:t>
            </a:r>
          </a:p>
          <a:p>
            <a:pPr algn="l">
              <a:spcAft>
                <a:spcPts val="200"/>
              </a:spcAft>
            </a:pPr>
            <a:r>
              <a:rPr sz="1000" b="0">
                <a:solidFill>
                  <a:srgbClr val="24392F"/>
                </a:solidFill>
                <a:latin typeface="맑은 고딕"/>
              </a:rPr>
              <a:t>따로 둔 보류 세트 68문제에서 Recall@3 41 → 63개 = 92.6% (목표 90% 달성, 갈린 질문 23 : 1)</a:t>
            </a:r>
          </a:p>
        </p:txBody>
      </p:sp>
      <p:sp>
        <p:nvSpPr>
          <p:cNvPr id="38" name="TextBox 37"/>
          <p:cNvSpPr txBox="1"/>
          <p:nvPr/>
        </p:nvSpPr>
        <p:spPr>
          <a:xfrm>
            <a:off x="6035040" y="1554480"/>
            <a:ext cx="5486400" cy="274320"/>
          </a:xfrm>
          <a:prstGeom prst="rect">
            <a:avLst/>
          </a:prstGeom>
          <a:noFill/>
        </p:spPr>
        <p:txBody>
          <a:bodyPr wrap="square" anchor="t" lIns="0" rIns="0" tIns="0" bIns="0">
            <a:spAutoFit/>
          </a:bodyPr>
          <a:lstStyle/>
          <a:p>
            <a:pPr algn="l"/>
            <a:r>
              <a:rPr sz="1200" b="1">
                <a:solidFill>
                  <a:srgbClr val="24392F"/>
                </a:solidFill>
                <a:latin typeface="맑은 고딕"/>
              </a:rPr>
              <a:t>개선안 1 · 인덱싱 텍스트를 바꾸면 (직원용 본문 → 고객용 문장)</a:t>
            </a:r>
          </a:p>
        </p:txBody>
      </p:sp>
      <p:sp>
        <p:nvSpPr>
          <p:cNvPr id="39" name="TextBox 38"/>
          <p:cNvSpPr txBox="1"/>
          <p:nvPr/>
        </p:nvSpPr>
        <p:spPr>
          <a:xfrm>
            <a:off x="6035040" y="1828800"/>
            <a:ext cx="5486400" cy="274320"/>
          </a:xfrm>
          <a:prstGeom prst="rect">
            <a:avLst/>
          </a:prstGeom>
          <a:noFill/>
        </p:spPr>
        <p:txBody>
          <a:bodyPr wrap="square" anchor="t" lIns="0" rIns="0" tIns="0" bIns="0">
            <a:spAutoFit/>
          </a:bodyPr>
          <a:lstStyle/>
          <a:p>
            <a:pPr algn="l"/>
            <a:r>
              <a:rPr sz="1100" b="0">
                <a:solidFill>
                  <a:srgbClr val="6D7C73"/>
                </a:solidFill>
                <a:latin typeface="맑은 고딕"/>
              </a:rPr>
              <a:t>정답은 늘었지만 오응답도 늘었습니다</a:t>
            </a:r>
          </a:p>
        </p:txBody>
      </p:sp>
      <p:pic>
        <p:nvPicPr>
          <p:cNvPr id="40" name="Picture 39" descr="slope.png"/>
          <p:cNvPicPr>
            <a:picLocks noChangeAspect="1"/>
          </p:cNvPicPr>
          <p:nvPr/>
        </p:nvPicPr>
        <p:blipFill>
          <a:blip r:embed="rId2"/>
          <a:stretch>
            <a:fillRect/>
          </a:stretch>
        </p:blipFill>
        <p:spPr>
          <a:xfrm>
            <a:off x="6514495" y="2103120"/>
            <a:ext cx="3978849" cy="2926080"/>
          </a:xfrm>
          <a:prstGeom prst="rect">
            <a:avLst/>
          </a:prstGeom>
        </p:spPr>
      </p:pic>
      <p:sp>
        <p:nvSpPr>
          <p:cNvPr id="41" name="TextBox 40"/>
          <p:cNvSpPr txBox="1"/>
          <p:nvPr/>
        </p:nvSpPr>
        <p:spPr>
          <a:xfrm>
            <a:off x="6080759" y="5074920"/>
            <a:ext cx="5486400" cy="1097280"/>
          </a:xfrm>
          <a:prstGeom prst="rect">
            <a:avLst/>
          </a:prstGeom>
          <a:noFill/>
        </p:spPr>
        <p:txBody>
          <a:bodyPr wrap="square" anchor="t" lIns="0" rIns="0" tIns="0" bIns="0">
            <a:spAutoFit/>
          </a:bodyPr>
          <a:lstStyle/>
          <a:p>
            <a:pPr algn="l">
              <a:spcAft>
                <a:spcPts val="200"/>
              </a:spcAft>
            </a:pPr>
            <a:r>
              <a:rPr sz="1100" b="0">
                <a:solidFill>
                  <a:srgbClr val="2E6047"/>
                </a:solidFill>
                <a:latin typeface="맑은 고딕"/>
              </a:rPr>
              <a:t>●  </a:t>
            </a:r>
            <a:r>
              <a:rPr sz="1100" b="0">
                <a:solidFill>
                  <a:srgbClr val="6D7C73"/>
                </a:solidFill>
                <a:latin typeface="맑은 고딕"/>
              </a:rPr>
              <a:t>정답 규정을 보인 질문 (48문제 중)</a:t>
            </a:r>
          </a:p>
          <a:p>
            <a:pPr algn="l">
              <a:spcAft>
                <a:spcPts val="200"/>
              </a:spcAft>
            </a:pPr>
            <a:r>
              <a:rPr sz="1100" b="0">
                <a:solidFill>
                  <a:srgbClr val="965640"/>
                </a:solidFill>
                <a:latin typeface="맑은 고딕"/>
              </a:rPr>
              <a:t>●  </a:t>
            </a:r>
            <a:r>
              <a:rPr sz="1100" b="0">
                <a:solidFill>
                  <a:srgbClr val="6D7C73"/>
                </a:solidFill>
                <a:latin typeface="맑은 고딕"/>
              </a:rPr>
              <a:t>예약 요청 같은 여행 말에 규정을 붙인 비율</a:t>
            </a:r>
          </a:p>
          <a:p>
            <a:pPr algn="l">
              <a:spcAft>
                <a:spcPts val="200"/>
              </a:spcAft>
            </a:pPr>
            <a:r>
              <a:rPr sz="1200" b="1">
                <a:solidFill>
                  <a:srgbClr val="24392F"/>
                </a:solidFill>
                <a:latin typeface="맑은 고딕"/>
              </a:rPr>
              <a:t>그래서 분류 단계 뒤에서 다시 재고 제품 반영을 정합니다.</a:t>
            </a:r>
          </a:p>
        </p:txBody>
      </p:sp>
      <p:sp>
        <p:nvSpPr>
          <p:cNvPr id="42" name="TextBox 41"/>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같은 질문 짝 비교: Recall@3 개선은 5 : 0, p=0.0625 로 경계(우연일 확률 약 6%) · 정답 줄은 10 : 0, p=0.002 로 유의. 오응답은 라벨 없는 여행 대화 300건, 의도 분류기를 거치지 않은 값. 규정 문장은 저장된 문장을 그대로 실어 인용 334/334.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HUMAN REVIEW</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사람이 35행을 직접 검수해 기계 검사를 확인하고 결함을 고쳤습니다</a:t>
            </a:r>
          </a:p>
        </p:txBody>
      </p:sp>
      <p:sp>
        <p:nvSpPr>
          <p:cNvPr id="14" name="Rounded Rectangle 13"/>
          <p:cNvSpPr/>
          <p:nvPr/>
        </p:nvSpPr>
        <p:spPr>
          <a:xfrm>
            <a:off x="685800" y="1600200"/>
            <a:ext cx="3383280" cy="4434840"/>
          </a:xfrm>
          <a:prstGeom prst="roundRect">
            <a:avLst>
              <a:gd name="adj" fmla="val 5945"/>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1783080"/>
            <a:ext cx="2926080" cy="274320"/>
          </a:xfrm>
          <a:prstGeom prst="rect">
            <a:avLst/>
          </a:prstGeom>
          <a:noFill/>
        </p:spPr>
        <p:txBody>
          <a:bodyPr wrap="square" anchor="t" lIns="0" rIns="0" tIns="0" bIns="0">
            <a:spAutoFit/>
          </a:bodyPr>
          <a:lstStyle/>
          <a:p>
            <a:pPr algn="l"/>
            <a:r>
              <a:rPr sz="1200" b="1">
                <a:solidFill>
                  <a:srgbClr val="2E6047"/>
                </a:solidFill>
                <a:latin typeface="맑은 고딕"/>
              </a:rPr>
              <a:t>기계 검사와 사람 판정</a:t>
            </a:r>
          </a:p>
        </p:txBody>
      </p:sp>
      <p:sp>
        <p:nvSpPr>
          <p:cNvPr id="16" name="TextBox 15"/>
          <p:cNvSpPr txBox="1"/>
          <p:nvPr/>
        </p:nvSpPr>
        <p:spPr>
          <a:xfrm>
            <a:off x="960120" y="2103120"/>
            <a:ext cx="2926080" cy="1097280"/>
          </a:xfrm>
          <a:prstGeom prst="rect">
            <a:avLst/>
          </a:prstGeom>
          <a:noFill/>
        </p:spPr>
        <p:txBody>
          <a:bodyPr wrap="square" anchor="t" lIns="0" rIns="0" tIns="0" bIns="0">
            <a:spAutoFit/>
          </a:bodyPr>
          <a:lstStyle/>
          <a:p>
            <a:pPr algn="l"/>
            <a:r>
              <a:rPr sz="6000" b="1" spc="-200">
                <a:solidFill>
                  <a:srgbClr val="2E6047"/>
                </a:solidFill>
                <a:latin typeface="맑은 고딕"/>
              </a:rPr>
              <a:t>18/19</a:t>
            </a:r>
          </a:p>
        </p:txBody>
      </p:sp>
      <p:sp>
        <p:nvSpPr>
          <p:cNvPr id="17" name="TextBox 16"/>
          <p:cNvSpPr txBox="1"/>
          <p:nvPr/>
        </p:nvSpPr>
        <p:spPr>
          <a:xfrm>
            <a:off x="960120" y="3154680"/>
            <a:ext cx="2926080" cy="822960"/>
          </a:xfrm>
          <a:prstGeom prst="rect">
            <a:avLst/>
          </a:prstGeom>
          <a:noFill/>
        </p:spPr>
        <p:txBody>
          <a:bodyPr wrap="square" anchor="t" lIns="0" rIns="0" tIns="0" bIns="0">
            <a:spAutoFit/>
          </a:bodyPr>
          <a:lstStyle/>
          <a:p>
            <a:pPr algn="l">
              <a:lnSpc>
                <a:spcPct val="115000"/>
              </a:lnSpc>
            </a:pPr>
            <a:r>
              <a:rPr sz="1200" b="0">
                <a:solidFill>
                  <a:srgbClr val="24392F"/>
                </a:solidFill>
                <a:latin typeface="맑은 고딕"/>
              </a:rPr>
              <a:t>같은 쪽으로 판정 = 94.7%
(75.4~99.1) · Cohen κ = 0.90</a:t>
            </a:r>
          </a:p>
        </p:txBody>
      </p:sp>
      <p:cxnSp>
        <p:nvCxnSpPr>
          <p:cNvPr id="18" name="Connector 17"/>
          <p:cNvCxnSpPr/>
          <p:nvPr/>
        </p:nvCxnSpPr>
        <p:spPr>
          <a:xfrm>
            <a:off x="960120" y="4069080"/>
            <a:ext cx="2834640" cy="0"/>
          </a:xfrm>
          <a:prstGeom prst="line">
            <a:avLst/>
          </a:prstGeom>
          <a:ln w="12700">
            <a:solidFill>
              <a:srgbClr val="CFE0D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0120" y="4206240"/>
            <a:ext cx="2926080" cy="1645920"/>
          </a:xfrm>
          <a:prstGeom prst="rect">
            <a:avLst/>
          </a:prstGeom>
          <a:noFill/>
        </p:spPr>
        <p:txBody>
          <a:bodyPr wrap="square" anchor="t" lIns="0" rIns="0" tIns="0" bIns="0">
            <a:spAutoFit/>
          </a:bodyPr>
          <a:lstStyle/>
          <a:p>
            <a:pPr algn="l">
              <a:lnSpc>
                <a:spcPct val="120000"/>
              </a:lnSpc>
            </a:pPr>
            <a:r>
              <a:rPr sz="1100" b="0">
                <a:solidFill>
                  <a:srgbClr val="526858"/>
                </a:solidFill>
                <a:latin typeface="맑은 고딕"/>
              </a:rPr>
              <a:t>규정 답 24행 · 알림 번역 11행을
사람이 원문 · 답 · 근거를 직접 보고
맞다 / 중간 / 틀리다로 판정했습니다.
기계 의견은 판단 보조로만 썼습니다.</a:t>
            </a:r>
          </a:p>
        </p:txBody>
      </p:sp>
      <p:sp>
        <p:nvSpPr>
          <p:cNvPr id="20" name="TextBox 19"/>
          <p:cNvSpPr txBox="1"/>
          <p:nvPr/>
        </p:nvSpPr>
        <p:spPr>
          <a:xfrm>
            <a:off x="4297680" y="1645920"/>
            <a:ext cx="7223760" cy="274320"/>
          </a:xfrm>
          <a:prstGeom prst="rect">
            <a:avLst/>
          </a:prstGeom>
          <a:noFill/>
        </p:spPr>
        <p:txBody>
          <a:bodyPr wrap="square" anchor="t" lIns="0" rIns="0" tIns="0" bIns="0">
            <a:spAutoFit/>
          </a:bodyPr>
          <a:lstStyle/>
          <a:p>
            <a:pPr algn="l"/>
            <a:r>
              <a:rPr sz="1300" b="1">
                <a:solidFill>
                  <a:srgbClr val="24392F"/>
                </a:solidFill>
                <a:latin typeface="맑은 고딕"/>
              </a:rPr>
              <a:t>검수로 찾아 고친 것</a:t>
            </a:r>
          </a:p>
        </p:txBody>
      </p:sp>
      <p:sp>
        <p:nvSpPr>
          <p:cNvPr id="21" name="TextBox 20"/>
          <p:cNvSpPr txBox="1"/>
          <p:nvPr/>
        </p:nvSpPr>
        <p:spPr>
          <a:xfrm>
            <a:off x="4297680" y="1938528"/>
            <a:ext cx="7223760" cy="274320"/>
          </a:xfrm>
          <a:prstGeom prst="rect">
            <a:avLst/>
          </a:prstGeom>
          <a:noFill/>
        </p:spPr>
        <p:txBody>
          <a:bodyPr wrap="square" anchor="t" lIns="0" rIns="0" tIns="0" bIns="0">
            <a:spAutoFit/>
          </a:bodyPr>
          <a:lstStyle/>
          <a:p>
            <a:pPr algn="l"/>
            <a:r>
              <a:rPr sz="1150" b="1">
                <a:solidFill>
                  <a:srgbClr val="6D7C73"/>
                </a:solidFill>
                <a:latin typeface="맑은 고딕"/>
              </a:rPr>
              <a:t>고객 질문  </a:t>
            </a:r>
            <a:r>
              <a:rPr sz="1150" b="1">
                <a:solidFill>
                  <a:srgbClr val="24392F"/>
                </a:solidFill>
                <a:latin typeface="맑은 고딕"/>
              </a:rPr>
              <a:t>「한파 특보인데 해돋이 일정 늦추나요?」</a:t>
            </a:r>
          </a:p>
        </p:txBody>
      </p:sp>
      <p:sp>
        <p:nvSpPr>
          <p:cNvPr id="22" name="Rounded Rectangle 21"/>
          <p:cNvSpPr/>
          <p:nvPr/>
        </p:nvSpPr>
        <p:spPr>
          <a:xfrm>
            <a:off x="4297680" y="2286000"/>
            <a:ext cx="3474720" cy="1828800"/>
          </a:xfrm>
          <a:prstGeom prst="roundRect">
            <a:avLst>
              <a:gd name="adj" fmla="val 10000"/>
            </a:avLst>
          </a:prstGeom>
          <a:solidFill>
            <a:srgbClr val="FDF3ED"/>
          </a:solidFill>
          <a:ln w="12700">
            <a:solidFill>
              <a:srgbClr val="ECD2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2377440"/>
            <a:ext cx="3108960" cy="274320"/>
          </a:xfrm>
          <a:prstGeom prst="rect">
            <a:avLst/>
          </a:prstGeom>
          <a:noFill/>
        </p:spPr>
        <p:txBody>
          <a:bodyPr wrap="square" anchor="t" lIns="0" rIns="0" tIns="0" bIns="0">
            <a:spAutoFit/>
          </a:bodyPr>
          <a:lstStyle/>
          <a:p>
            <a:pPr algn="l"/>
            <a:r>
              <a:rPr sz="1050" b="1">
                <a:solidFill>
                  <a:srgbClr val="965640"/>
                </a:solidFill>
                <a:latin typeface="맑은 고딕"/>
              </a:rPr>
              <a:t>고치기 전 답 · 앞뒤가 모순</a:t>
            </a:r>
          </a:p>
        </p:txBody>
      </p:sp>
      <p:sp>
        <p:nvSpPr>
          <p:cNvPr id="24" name="TextBox 23"/>
          <p:cNvSpPr txBox="1"/>
          <p:nvPr/>
        </p:nvSpPr>
        <p:spPr>
          <a:xfrm>
            <a:off x="4498848" y="2670048"/>
            <a:ext cx="3108960" cy="1417320"/>
          </a:xfrm>
          <a:prstGeom prst="rect">
            <a:avLst/>
          </a:prstGeom>
          <a:noFill/>
        </p:spPr>
        <p:txBody>
          <a:bodyPr wrap="square" anchor="t" lIns="0" rIns="0" tIns="0" bIns="0">
            <a:spAutoFit/>
          </a:bodyPr>
          <a:lstStyle/>
          <a:p>
            <a:pPr algn="l">
              <a:lnSpc>
                <a:spcPct val="120000"/>
              </a:lnSpc>
            </a:pPr>
            <a:r>
              <a:rPr sz="1050" b="0">
                <a:solidFill>
                  <a:srgbClr val="24392F"/>
                </a:solidFill>
                <a:latin typeface="맑은 고딕"/>
              </a:rPr>
              <a:t>한파 규정을 실음: 「…몸을 녹일 실내 장소를
경로에 넣어 드려요. 해돋이는 옮기지 않고
준비물을 안내해 드려요」
끝줄: 「일정은 바꾸지 않았어요」</a:t>
            </a:r>
          </a:p>
        </p:txBody>
      </p:sp>
      <p:sp>
        <p:nvSpPr>
          <p:cNvPr id="25" name="TextBox 24"/>
          <p:cNvSpPr txBox="1"/>
          <p:nvPr/>
        </p:nvSpPr>
        <p:spPr>
          <a:xfrm>
            <a:off x="7772400" y="2286000"/>
            <a:ext cx="292608" cy="1828800"/>
          </a:xfrm>
          <a:prstGeom prst="rect">
            <a:avLst/>
          </a:prstGeom>
          <a:noFill/>
        </p:spPr>
        <p:txBody>
          <a:bodyPr wrap="square" anchor="ctr" lIns="0" rIns="0" tIns="0" bIns="0">
            <a:spAutoFit/>
          </a:bodyPr>
          <a:lstStyle/>
          <a:p>
            <a:pPr algn="ctr"/>
            <a:r>
              <a:rPr sz="2000" b="1">
                <a:solidFill>
                  <a:srgbClr val="2E6047"/>
                </a:solidFill>
                <a:latin typeface="맑은 고딕"/>
              </a:rPr>
              <a:t>→</a:t>
            </a:r>
          </a:p>
        </p:txBody>
      </p:sp>
      <p:sp>
        <p:nvSpPr>
          <p:cNvPr id="26" name="Rounded Rectangle 25"/>
          <p:cNvSpPr/>
          <p:nvPr/>
        </p:nvSpPr>
        <p:spPr>
          <a:xfrm>
            <a:off x="8065008" y="2286000"/>
            <a:ext cx="3474720" cy="1828800"/>
          </a:xfrm>
          <a:prstGeom prst="roundRect">
            <a:avLst>
              <a:gd name="adj" fmla="val 10000"/>
            </a:avLst>
          </a:prstGeom>
          <a:solidFill>
            <a:srgbClr val="FFFFFF"/>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5" y="2377440"/>
            <a:ext cx="3108960" cy="274320"/>
          </a:xfrm>
          <a:prstGeom prst="rect">
            <a:avLst/>
          </a:prstGeom>
          <a:noFill/>
        </p:spPr>
        <p:txBody>
          <a:bodyPr wrap="square" anchor="t" lIns="0" rIns="0" tIns="0" bIns="0">
            <a:spAutoFit/>
          </a:bodyPr>
          <a:lstStyle/>
          <a:p>
            <a:pPr algn="l"/>
            <a:r>
              <a:rPr sz="1050" b="1">
                <a:solidFill>
                  <a:srgbClr val="2E6047"/>
                </a:solidFill>
                <a:latin typeface="맑은 고딕"/>
              </a:rPr>
              <a:t>고친 뒤 · 제품 답 문구</a:t>
            </a:r>
          </a:p>
        </p:txBody>
      </p:sp>
      <p:sp>
        <p:nvSpPr>
          <p:cNvPr id="28" name="TextBox 27"/>
          <p:cNvSpPr txBox="1"/>
          <p:nvPr/>
        </p:nvSpPr>
        <p:spPr>
          <a:xfrm>
            <a:off x="8266175" y="2670048"/>
            <a:ext cx="3108960" cy="1417320"/>
          </a:xfrm>
          <a:prstGeom prst="rect">
            <a:avLst/>
          </a:prstGeom>
          <a:noFill/>
        </p:spPr>
        <p:txBody>
          <a:bodyPr wrap="square" anchor="t" lIns="0" rIns="0" tIns="0" bIns="0">
            <a:spAutoFit/>
          </a:bodyPr>
          <a:lstStyle/>
          <a:p>
            <a:pPr algn="l">
              <a:lnSpc>
                <a:spcPct val="120000"/>
              </a:lnSpc>
            </a:pPr>
            <a:r>
              <a:rPr sz="1050" b="0">
                <a:solidFill>
                  <a:srgbClr val="24392F"/>
                </a:solidFill>
                <a:latin typeface="맑은 고딕"/>
              </a:rPr>
              <a:t>머리말: 「해당하는 상황이 되면
이 기준으로 처리해요」
끝줄: 「지금 일정은 바꾸지 않았어요」
→ 규정은 「그런 상황이면」의 기준임이 드러남</a:t>
            </a:r>
          </a:p>
        </p:txBody>
      </p:sp>
      <p:sp>
        <p:nvSpPr>
          <p:cNvPr id="29" name="TextBox 28"/>
          <p:cNvSpPr txBox="1"/>
          <p:nvPr/>
        </p:nvSpPr>
        <p:spPr>
          <a:xfrm>
            <a:off x="4297680" y="4224528"/>
            <a:ext cx="7223760" cy="457200"/>
          </a:xfrm>
          <a:prstGeom prst="rect">
            <a:avLst/>
          </a:prstGeom>
          <a:noFill/>
        </p:spPr>
        <p:txBody>
          <a:bodyPr wrap="square" anchor="t" lIns="0" rIns="0" tIns="0" bIns="0">
            <a:spAutoFit/>
          </a:bodyPr>
          <a:lstStyle/>
          <a:p>
            <a:pPr algn="l">
              <a:lnSpc>
                <a:spcPct val="115000"/>
              </a:lnSpc>
            </a:pPr>
            <a:r>
              <a:rPr sz="1050" b="0">
                <a:solidFill>
                  <a:srgbClr val="6D7C73"/>
                </a:solidFill>
                <a:latin typeface="맑은 고딕"/>
              </a:rPr>
              <a:t>규정 문장은 「그런 상황이 되면 해 드린다」는 일반 기준인데, 이미 해 준 것처럼 읽혀 끝줄과 부딪혔습니다. 정답 줄 검사(기계)로는 못 잡는 결함입니다.</a:t>
            </a:r>
          </a:p>
        </p:txBody>
      </p:sp>
      <p:cxnSp>
        <p:nvCxnSpPr>
          <p:cNvPr id="30" name="Connector 29"/>
          <p:cNvCxnSpPr/>
          <p:nvPr/>
        </p:nvCxnSpPr>
        <p:spPr>
          <a:xfrm>
            <a:off x="4297680" y="4754880"/>
            <a:ext cx="72237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297680" y="4892040"/>
            <a:ext cx="1097280" cy="457200"/>
          </a:xfrm>
          <a:prstGeom prst="rect">
            <a:avLst/>
          </a:prstGeom>
          <a:noFill/>
        </p:spPr>
        <p:txBody>
          <a:bodyPr wrap="square" anchor="t" lIns="0" rIns="0" tIns="0" bIns="0">
            <a:spAutoFit/>
          </a:bodyPr>
          <a:lstStyle/>
          <a:p>
            <a:pPr algn="l"/>
            <a:r>
              <a:rPr sz="2200" b="1">
                <a:solidFill>
                  <a:srgbClr val="2E6047"/>
                </a:solidFill>
                <a:latin typeface="맑은 고딕"/>
              </a:rPr>
              <a:t>10/24</a:t>
            </a:r>
          </a:p>
        </p:txBody>
      </p:sp>
      <p:sp>
        <p:nvSpPr>
          <p:cNvPr id="32" name="TextBox 31"/>
          <p:cNvSpPr txBox="1"/>
          <p:nvPr/>
        </p:nvSpPr>
        <p:spPr>
          <a:xfrm>
            <a:off x="5440680" y="4910328"/>
            <a:ext cx="2468880" cy="274320"/>
          </a:xfrm>
          <a:prstGeom prst="rect">
            <a:avLst/>
          </a:prstGeom>
          <a:noFill/>
        </p:spPr>
        <p:txBody>
          <a:bodyPr wrap="square" anchor="t" lIns="0" rIns="0" tIns="0" bIns="0">
            <a:spAutoFit/>
          </a:bodyPr>
          <a:lstStyle/>
          <a:p>
            <a:pPr algn="l"/>
            <a:r>
              <a:rPr sz="1200" b="1">
                <a:solidFill>
                  <a:srgbClr val="24392F"/>
                </a:solidFill>
                <a:latin typeface="맑은 고딕"/>
              </a:rPr>
              <a:t>규정 질문 답 「맞다」</a:t>
            </a:r>
          </a:p>
        </p:txBody>
      </p:sp>
      <p:sp>
        <p:nvSpPr>
          <p:cNvPr id="33" name="TextBox 32"/>
          <p:cNvSpPr txBox="1"/>
          <p:nvPr/>
        </p:nvSpPr>
        <p:spPr>
          <a:xfrm>
            <a:off x="5440680" y="5184648"/>
            <a:ext cx="2468880" cy="640080"/>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틀린 줄만 보인 답 · 답 없는 질문에 답한 경우가 원인 → 규정 검색 개선 근거</a:t>
            </a:r>
          </a:p>
        </p:txBody>
      </p:sp>
      <p:sp>
        <p:nvSpPr>
          <p:cNvPr id="34" name="TextBox 33"/>
          <p:cNvSpPr txBox="1"/>
          <p:nvPr/>
        </p:nvSpPr>
        <p:spPr>
          <a:xfrm>
            <a:off x="7955279" y="4892040"/>
            <a:ext cx="1097280" cy="457200"/>
          </a:xfrm>
          <a:prstGeom prst="rect">
            <a:avLst/>
          </a:prstGeom>
          <a:noFill/>
        </p:spPr>
        <p:txBody>
          <a:bodyPr wrap="square" anchor="t" lIns="0" rIns="0" tIns="0" bIns="0">
            <a:spAutoFit/>
          </a:bodyPr>
          <a:lstStyle/>
          <a:p>
            <a:pPr algn="l"/>
            <a:r>
              <a:rPr sz="2200" b="1">
                <a:solidFill>
                  <a:srgbClr val="2E6047"/>
                </a:solidFill>
                <a:latin typeface="맑은 고딕"/>
              </a:rPr>
              <a:t>9/10</a:t>
            </a:r>
          </a:p>
        </p:txBody>
      </p:sp>
      <p:sp>
        <p:nvSpPr>
          <p:cNvPr id="35" name="TextBox 34"/>
          <p:cNvSpPr txBox="1"/>
          <p:nvPr/>
        </p:nvSpPr>
        <p:spPr>
          <a:xfrm>
            <a:off x="9098280" y="4910328"/>
            <a:ext cx="2468880" cy="274320"/>
          </a:xfrm>
          <a:prstGeom prst="rect">
            <a:avLst/>
          </a:prstGeom>
          <a:noFill/>
        </p:spPr>
        <p:txBody>
          <a:bodyPr wrap="square" anchor="t" lIns="0" rIns="0" tIns="0" bIns="0">
            <a:spAutoFit/>
          </a:bodyPr>
          <a:lstStyle/>
          <a:p>
            <a:pPr algn="l"/>
            <a:r>
              <a:rPr sz="1200" b="1">
                <a:solidFill>
                  <a:srgbClr val="24392F"/>
                </a:solidFill>
                <a:latin typeface="맑은 고딕"/>
              </a:rPr>
              <a:t>알림 번역 「맞다」</a:t>
            </a:r>
          </a:p>
        </p:txBody>
      </p:sp>
      <p:sp>
        <p:nvSpPr>
          <p:cNvPr id="36" name="TextBox 35"/>
          <p:cNvSpPr txBox="1"/>
          <p:nvPr/>
        </p:nvSpPr>
        <p:spPr>
          <a:xfrm>
            <a:off x="9098280" y="5184648"/>
            <a:ext cx="2468880" cy="640080"/>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보호 장치를 통과한 번역 8행은 모두 맞음</a:t>
            </a:r>
          </a:p>
        </p:txBody>
      </p:sp>
      <p:sp>
        <p:nvSpPr>
          <p:cNvPr id="37" name="TextBox 36"/>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2026-10-06, 35행(틀리기 쉬운 쪽을 많이 뽑은 표본이라 서비스 전체 평균이 아님). 고친 곳: 규정 답 머리말 · 끝줄(itinerary_team.question_answer).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HOW WE MEASURE</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지표와 통계 방법은 공개 벤치마크 · 논문 기준을 따랐습니다</a:t>
            </a:r>
          </a:p>
        </p:txBody>
      </p:sp>
      <p:sp>
        <p:nvSpPr>
          <p:cNvPr id="14" name="TextBox 13"/>
          <p:cNvSpPr txBox="1"/>
          <p:nvPr/>
        </p:nvSpPr>
        <p:spPr>
          <a:xfrm>
            <a:off x="685800" y="1572768"/>
            <a:ext cx="1645919" cy="274320"/>
          </a:xfrm>
          <a:prstGeom prst="rect">
            <a:avLst/>
          </a:prstGeom>
          <a:noFill/>
        </p:spPr>
        <p:txBody>
          <a:bodyPr wrap="square" anchor="t" lIns="0" rIns="0" tIns="0" bIns="0">
            <a:spAutoFit/>
          </a:bodyPr>
          <a:lstStyle/>
          <a:p>
            <a:pPr algn="l"/>
            <a:r>
              <a:rPr sz="1050" b="1" spc="50">
                <a:solidFill>
                  <a:srgbClr val="6D7C73"/>
                </a:solidFill>
                <a:latin typeface="맑은 고딕"/>
              </a:rPr>
              <a:t>무엇을</a:t>
            </a:r>
          </a:p>
        </p:txBody>
      </p:sp>
      <p:sp>
        <p:nvSpPr>
          <p:cNvPr id="15" name="TextBox 14"/>
          <p:cNvSpPr txBox="1"/>
          <p:nvPr/>
        </p:nvSpPr>
        <p:spPr>
          <a:xfrm>
            <a:off x="2423160" y="1572768"/>
            <a:ext cx="2834640" cy="274320"/>
          </a:xfrm>
          <a:prstGeom prst="rect">
            <a:avLst/>
          </a:prstGeom>
          <a:noFill/>
        </p:spPr>
        <p:txBody>
          <a:bodyPr wrap="square" anchor="t" lIns="0" rIns="0" tIns="0" bIns="0">
            <a:spAutoFit/>
          </a:bodyPr>
          <a:lstStyle/>
          <a:p>
            <a:pPr algn="l"/>
            <a:r>
              <a:rPr sz="1050" b="1" spc="50">
                <a:solidFill>
                  <a:srgbClr val="6D7C73"/>
                </a:solidFill>
                <a:latin typeface="맑은 고딕"/>
              </a:rPr>
              <a:t>지표</a:t>
            </a:r>
          </a:p>
        </p:txBody>
      </p:sp>
      <p:sp>
        <p:nvSpPr>
          <p:cNvPr id="16" name="TextBox 15"/>
          <p:cNvSpPr txBox="1"/>
          <p:nvPr/>
        </p:nvSpPr>
        <p:spPr>
          <a:xfrm>
            <a:off x="5349240" y="1572768"/>
            <a:ext cx="2286000" cy="274320"/>
          </a:xfrm>
          <a:prstGeom prst="rect">
            <a:avLst/>
          </a:prstGeom>
          <a:noFill/>
        </p:spPr>
        <p:txBody>
          <a:bodyPr wrap="square" anchor="t" lIns="0" rIns="0" tIns="0" bIns="0">
            <a:spAutoFit/>
          </a:bodyPr>
          <a:lstStyle/>
          <a:p>
            <a:pPr algn="l"/>
            <a:r>
              <a:rPr sz="1050" b="1" spc="50">
                <a:solidFill>
                  <a:srgbClr val="6D7C73"/>
                </a:solidFill>
                <a:latin typeface="맑은 고딕"/>
              </a:rPr>
              <a:t>근거 문헌</a:t>
            </a:r>
          </a:p>
        </p:txBody>
      </p:sp>
      <p:sp>
        <p:nvSpPr>
          <p:cNvPr id="17" name="TextBox 16"/>
          <p:cNvSpPr txBox="1"/>
          <p:nvPr/>
        </p:nvSpPr>
        <p:spPr>
          <a:xfrm>
            <a:off x="7726679" y="1572768"/>
            <a:ext cx="3685032" cy="274320"/>
          </a:xfrm>
          <a:prstGeom prst="rect">
            <a:avLst/>
          </a:prstGeom>
          <a:noFill/>
        </p:spPr>
        <p:txBody>
          <a:bodyPr wrap="square" anchor="t" lIns="0" rIns="0" tIns="0" bIns="0">
            <a:spAutoFit/>
          </a:bodyPr>
          <a:lstStyle/>
          <a:p>
            <a:pPr algn="l"/>
            <a:r>
              <a:rPr sz="1050" b="1" spc="50">
                <a:solidFill>
                  <a:srgbClr val="6D7C73"/>
                </a:solidFill>
                <a:latin typeface="맑은 고딕"/>
              </a:rPr>
              <a:t>지금 값 (95% 구간)</a:t>
            </a:r>
          </a:p>
        </p:txBody>
      </p:sp>
      <p:cxnSp>
        <p:nvCxnSpPr>
          <p:cNvPr id="18" name="Connector 17"/>
          <p:cNvCxnSpPr/>
          <p:nvPr/>
        </p:nvCxnSpPr>
        <p:spPr>
          <a:xfrm>
            <a:off x="685800" y="1847088"/>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1956816"/>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규정 검색</a:t>
            </a:r>
          </a:p>
        </p:txBody>
      </p:sp>
      <p:sp>
        <p:nvSpPr>
          <p:cNvPr id="20" name="TextBox 19"/>
          <p:cNvSpPr txBox="1"/>
          <p:nvPr/>
        </p:nvSpPr>
        <p:spPr>
          <a:xfrm>
            <a:off x="2423160" y="1956816"/>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Hit@2 · Recall@3 · MRR · nDCG@10</a:t>
            </a:r>
          </a:p>
        </p:txBody>
      </p:sp>
      <p:sp>
        <p:nvSpPr>
          <p:cNvPr id="21" name="TextBox 20"/>
          <p:cNvSpPr txBox="1"/>
          <p:nvPr/>
        </p:nvSpPr>
        <p:spPr>
          <a:xfrm>
            <a:off x="5349240" y="1956816"/>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BEIR · MTEB</a:t>
            </a:r>
          </a:p>
        </p:txBody>
      </p:sp>
      <p:sp>
        <p:nvSpPr>
          <p:cNvPr id="22" name="TextBox 21"/>
          <p:cNvSpPr txBox="1"/>
          <p:nvPr/>
        </p:nvSpPr>
        <p:spPr>
          <a:xfrm>
            <a:off x="7726679" y="1956816"/>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Recall@3 62.5% (48.4~74.8)</a:t>
            </a:r>
          </a:p>
        </p:txBody>
      </p:sp>
      <p:cxnSp>
        <p:nvCxnSpPr>
          <p:cNvPr id="23" name="Connector 22"/>
          <p:cNvCxnSpPr/>
          <p:nvPr/>
        </p:nvCxnSpPr>
        <p:spPr>
          <a:xfrm>
            <a:off x="685800" y="2414016"/>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5800" y="2523744"/>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답할지 거절할지</a:t>
            </a:r>
          </a:p>
        </p:txBody>
      </p:sp>
      <p:sp>
        <p:nvSpPr>
          <p:cNvPr id="25" name="TextBox 24"/>
          <p:cNvSpPr txBox="1"/>
          <p:nvPr/>
        </p:nvSpPr>
        <p:spPr>
          <a:xfrm>
            <a:off x="2423160" y="2523744"/>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거절 재현율 · 오거절 · 선택적 위험 · AURC</a:t>
            </a:r>
          </a:p>
        </p:txBody>
      </p:sp>
      <p:sp>
        <p:nvSpPr>
          <p:cNvPr id="26" name="TextBox 25"/>
          <p:cNvSpPr txBox="1"/>
          <p:nvPr/>
        </p:nvSpPr>
        <p:spPr>
          <a:xfrm>
            <a:off x="5349240" y="2523744"/>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SQuAD 2.0 · Geifman·El-Yaniv</a:t>
            </a:r>
          </a:p>
        </p:txBody>
      </p:sp>
      <p:sp>
        <p:nvSpPr>
          <p:cNvPr id="27" name="TextBox 26"/>
          <p:cNvSpPr txBox="1"/>
          <p:nvPr/>
        </p:nvSpPr>
        <p:spPr>
          <a:xfrm>
            <a:off x="7726679" y="2523744"/>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선택적 위험 51.2% → 27.9% (개선 색인)</a:t>
            </a:r>
          </a:p>
        </p:txBody>
      </p:sp>
      <p:cxnSp>
        <p:nvCxnSpPr>
          <p:cNvPr id="28" name="Connector 27"/>
          <p:cNvCxnSpPr/>
          <p:nvPr/>
        </p:nvCxnSpPr>
        <p:spPr>
          <a:xfrm>
            <a:off x="685800" y="2980944"/>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3090672"/>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근거 · 환각</a:t>
            </a:r>
          </a:p>
        </p:txBody>
      </p:sp>
      <p:sp>
        <p:nvSpPr>
          <p:cNvPr id="30" name="TextBox 29"/>
          <p:cNvSpPr txBox="1"/>
          <p:nvPr/>
        </p:nvSpPr>
        <p:spPr>
          <a:xfrm>
            <a:off x="2423160" y="3090672"/>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문장 일치 회귀 시험 · 숫자 / 금액 단위 보존</a:t>
            </a:r>
          </a:p>
        </p:txBody>
      </p:sp>
      <p:sp>
        <p:nvSpPr>
          <p:cNvPr id="31" name="TextBox 30"/>
          <p:cNvSpPr txBox="1"/>
          <p:nvPr/>
        </p:nvSpPr>
        <p:spPr>
          <a:xfrm>
            <a:off x="5349240" y="3090672"/>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Wang 2021 · Tang 2025</a:t>
            </a:r>
          </a:p>
        </p:txBody>
      </p:sp>
      <p:sp>
        <p:nvSpPr>
          <p:cNvPr id="32" name="TextBox 31"/>
          <p:cNvSpPr txBox="1"/>
          <p:nvPr/>
        </p:nvSpPr>
        <p:spPr>
          <a:xfrm>
            <a:off x="7726679" y="3090672"/>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인용 334/334 · 숫자 변조 0/115 (상한 3.2%)</a:t>
            </a:r>
          </a:p>
        </p:txBody>
      </p:sp>
      <p:cxnSp>
        <p:nvCxnSpPr>
          <p:cNvPr id="33" name="Connector 32"/>
          <p:cNvCxnSpPr/>
          <p:nvPr/>
        </p:nvCxnSpPr>
        <p:spPr>
          <a:xfrm>
            <a:off x="685800" y="3547872"/>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3657600"/>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고객 말 분류</a:t>
            </a:r>
          </a:p>
        </p:txBody>
      </p:sp>
      <p:sp>
        <p:nvSpPr>
          <p:cNvPr id="35" name="TextBox 34"/>
          <p:cNvSpPr txBox="1"/>
          <p:nvPr/>
        </p:nvSpPr>
        <p:spPr>
          <a:xfrm>
            <a:off x="2423160" y="3657600"/>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매크로 F1 · MCC · 네 축 동시 정답 · ECE</a:t>
            </a:r>
          </a:p>
        </p:txBody>
      </p:sp>
      <p:sp>
        <p:nvSpPr>
          <p:cNvPr id="36" name="TextBox 35"/>
          <p:cNvSpPr txBox="1"/>
          <p:nvPr/>
        </p:nvSpPr>
        <p:spPr>
          <a:xfrm>
            <a:off x="5349240" y="3657600"/>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Guo 2017</a:t>
            </a:r>
          </a:p>
        </p:txBody>
      </p:sp>
      <p:sp>
        <p:nvSpPr>
          <p:cNvPr id="37" name="TextBox 36"/>
          <p:cNvSpPr txBox="1"/>
          <p:nvPr/>
        </p:nvSpPr>
        <p:spPr>
          <a:xfrm>
            <a:off x="7726679" y="3657600"/>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네 축 동시 CX 77.1% (71.9~81.6)</a:t>
            </a:r>
          </a:p>
        </p:txBody>
      </p:sp>
      <p:cxnSp>
        <p:nvCxnSpPr>
          <p:cNvPr id="38" name="Connector 37"/>
          <p:cNvCxnSpPr/>
          <p:nvPr/>
        </p:nvCxnSpPr>
        <p:spPr>
          <a:xfrm>
            <a:off x="685800" y="4114800"/>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 y="4224528"/>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일정 · 에이전트</a:t>
            </a:r>
          </a:p>
        </p:txBody>
      </p:sp>
      <p:sp>
        <p:nvSpPr>
          <p:cNvPr id="40" name="TextBox 39"/>
          <p:cNvSpPr txBox="1"/>
          <p:nvPr/>
        </p:nvSpPr>
        <p:spPr>
          <a:xfrm>
            <a:off x="2423160" y="4224528"/>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오지목 · pass^k · 시드 변동</a:t>
            </a:r>
          </a:p>
        </p:txBody>
      </p:sp>
      <p:sp>
        <p:nvSpPr>
          <p:cNvPr id="41" name="TextBox 40"/>
          <p:cNvSpPr txBox="1"/>
          <p:nvPr/>
        </p:nvSpPr>
        <p:spPr>
          <a:xfrm>
            <a:off x="5349240" y="4224528"/>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CLINC150 · τ-bench · Bouthillier 2021</a:t>
            </a:r>
          </a:p>
        </p:txBody>
      </p:sp>
      <p:sp>
        <p:nvSpPr>
          <p:cNvPr id="42" name="TextBox 41"/>
          <p:cNvSpPr txBox="1"/>
          <p:nvPr/>
        </p:nvSpPr>
        <p:spPr>
          <a:xfrm>
            <a:off x="7726679" y="4224528"/>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결정 단위 pass^3 91.3% (86.6~95.3)</a:t>
            </a:r>
          </a:p>
        </p:txBody>
      </p:sp>
      <p:cxnSp>
        <p:nvCxnSpPr>
          <p:cNvPr id="43" name="Connector 42"/>
          <p:cNvCxnSpPr/>
          <p:nvPr/>
        </p:nvCxnSpPr>
        <p:spPr>
          <a:xfrm>
            <a:off x="685800" y="4681728"/>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85800" y="4791455"/>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지연 · 오류</a:t>
            </a:r>
          </a:p>
        </p:txBody>
      </p:sp>
      <p:sp>
        <p:nvSpPr>
          <p:cNvPr id="45" name="TextBox 44"/>
          <p:cNvSpPr txBox="1"/>
          <p:nvPr/>
        </p:nvSpPr>
        <p:spPr>
          <a:xfrm>
            <a:off x="2423160" y="4791455"/>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p50 · p95 · p99 · 오류 3분류</a:t>
            </a:r>
          </a:p>
        </p:txBody>
      </p:sp>
      <p:sp>
        <p:nvSpPr>
          <p:cNvPr id="46" name="TextBox 45"/>
          <p:cNvSpPr txBox="1"/>
          <p:nvPr/>
        </p:nvSpPr>
        <p:spPr>
          <a:xfrm>
            <a:off x="5349240" y="4791455"/>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Dean·Barroso 2013 · Google SRE</a:t>
            </a:r>
          </a:p>
        </p:txBody>
      </p:sp>
      <p:sp>
        <p:nvSpPr>
          <p:cNvPr id="47" name="TextBox 46"/>
          <p:cNvSpPr txBox="1"/>
          <p:nvPr/>
        </p:nvSpPr>
        <p:spPr>
          <a:xfrm>
            <a:off x="7726679" y="4791455"/>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규정 답 p95 596ms · 오류 0/680</a:t>
            </a:r>
          </a:p>
        </p:txBody>
      </p:sp>
      <p:cxnSp>
        <p:nvCxnSpPr>
          <p:cNvPr id="48" name="Connector 47"/>
          <p:cNvCxnSpPr/>
          <p:nvPr/>
        </p:nvCxnSpPr>
        <p:spPr>
          <a:xfrm>
            <a:off x="685800" y="5248656"/>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685800" y="5486400"/>
            <a:ext cx="10817352" cy="685800"/>
          </a:xfrm>
          <a:prstGeom prst="roundRect">
            <a:avLst>
              <a:gd name="adj" fmla="val 2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 y="5486400"/>
            <a:ext cx="10268712" cy="685800"/>
          </a:xfrm>
          <a:prstGeom prst="rect">
            <a:avLst/>
          </a:prstGeom>
          <a:noFill/>
        </p:spPr>
        <p:txBody>
          <a:bodyPr wrap="square" anchor="ctr" lIns="0" rIns="0" tIns="0" bIns="0">
            <a:spAutoFit/>
          </a:bodyPr>
          <a:lstStyle/>
          <a:p>
            <a:pPr algn="l"/>
            <a:r>
              <a:rPr sz="1150" b="1">
                <a:solidFill>
                  <a:srgbClr val="2E6047"/>
                </a:solidFill>
                <a:latin typeface="맑은 고딕"/>
              </a:rPr>
              <a:t>통계  </a:t>
            </a:r>
            <a:r>
              <a:rPr sz="1150" b="0">
                <a:solidFill>
                  <a:srgbClr val="24392F"/>
                </a:solidFill>
                <a:latin typeface="맑은 고딕"/>
              </a:rPr>
              <a:t>비율은 Wilson 구간 · 평균과 F1 은 부트스트랩 구간 · 두 방법 비교는 같은 질문 짝 McNemar 정확검정 · 0건은 0% 가 아니라 상한으로 적음</a:t>
            </a:r>
          </a:p>
        </p:txBody>
      </p:sp>
      <p:sp>
        <p:nvSpPr>
          <p:cNvPr id="51" name="TextBox 50"/>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평가 설계서(2026-10-06): 논문 · 표준 약 70건 조사(본문까지 읽은 것 약 40건). 합성 질문 점수는 순위 비교에만 믿고 절댓값은 낙관으로 읽습니다(Rahmani 2024). LLM 판정기는 보조로만 씁니다(Zheng 2023).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1">
                <a:solidFill>
                  <a:srgbClr val="FFFFFF"/>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COMMERCIAL READINESS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상용화 기준 11개 중 4개 통과, 1개 반영 대기, 6개 미달입니다</a:t>
            </a:r>
          </a:p>
        </p:txBody>
      </p:sp>
      <p:sp>
        <p:nvSpPr>
          <p:cNvPr id="14" name="TextBox 13"/>
          <p:cNvSpPr txBox="1"/>
          <p:nvPr/>
        </p:nvSpPr>
        <p:spPr>
          <a:xfrm>
            <a:off x="685800" y="1481328"/>
            <a:ext cx="2697479" cy="274320"/>
          </a:xfrm>
          <a:prstGeom prst="rect">
            <a:avLst/>
          </a:prstGeom>
          <a:noFill/>
        </p:spPr>
        <p:txBody>
          <a:bodyPr wrap="square" anchor="t" lIns="0" rIns="0" tIns="0" bIns="0">
            <a:spAutoFit/>
          </a:bodyPr>
          <a:lstStyle/>
          <a:p>
            <a:pPr algn="l"/>
            <a:r>
              <a:rPr sz="1050" b="1">
                <a:solidFill>
                  <a:srgbClr val="6D7C73"/>
                </a:solidFill>
                <a:latin typeface="맑은 고딕"/>
              </a:rPr>
              <a:t>지표</a:t>
            </a:r>
          </a:p>
        </p:txBody>
      </p:sp>
      <p:sp>
        <p:nvSpPr>
          <p:cNvPr id="15" name="TextBox 14"/>
          <p:cNvSpPr txBox="1"/>
          <p:nvPr/>
        </p:nvSpPr>
        <p:spPr>
          <a:xfrm>
            <a:off x="3474720" y="1481328"/>
            <a:ext cx="2788920" cy="274320"/>
          </a:xfrm>
          <a:prstGeom prst="rect">
            <a:avLst/>
          </a:prstGeom>
          <a:noFill/>
        </p:spPr>
        <p:txBody>
          <a:bodyPr wrap="square" anchor="t" lIns="0" rIns="0" tIns="0" bIns="0">
            <a:spAutoFit/>
          </a:bodyPr>
          <a:lstStyle/>
          <a:p>
            <a:pPr algn="l"/>
            <a:r>
              <a:rPr sz="1050" b="1">
                <a:solidFill>
                  <a:srgbClr val="6D7C73"/>
                </a:solidFill>
                <a:latin typeface="맑은 고딕"/>
              </a:rPr>
              <a:t>지금</a:t>
            </a:r>
          </a:p>
        </p:txBody>
      </p:sp>
      <p:sp>
        <p:nvSpPr>
          <p:cNvPr id="16" name="TextBox 15"/>
          <p:cNvSpPr txBox="1"/>
          <p:nvPr/>
        </p:nvSpPr>
        <p:spPr>
          <a:xfrm>
            <a:off x="6355079" y="1481328"/>
            <a:ext cx="2423160" cy="274320"/>
          </a:xfrm>
          <a:prstGeom prst="rect">
            <a:avLst/>
          </a:prstGeom>
          <a:noFill/>
        </p:spPr>
        <p:txBody>
          <a:bodyPr wrap="square" anchor="t" lIns="0" rIns="0" tIns="0" bIns="0">
            <a:spAutoFit/>
          </a:bodyPr>
          <a:lstStyle/>
          <a:p>
            <a:pPr algn="l"/>
            <a:r>
              <a:rPr sz="1050" b="1">
                <a:solidFill>
                  <a:srgbClr val="6D7C73"/>
                </a:solidFill>
                <a:latin typeface="맑은 고딕"/>
              </a:rPr>
              <a:t>상용화 기준</a:t>
            </a:r>
          </a:p>
        </p:txBody>
      </p:sp>
      <p:sp>
        <p:nvSpPr>
          <p:cNvPr id="17" name="TextBox 16"/>
          <p:cNvSpPr txBox="1"/>
          <p:nvPr/>
        </p:nvSpPr>
        <p:spPr>
          <a:xfrm>
            <a:off x="8869680" y="1481328"/>
            <a:ext cx="1325880" cy="274320"/>
          </a:xfrm>
          <a:prstGeom prst="rect">
            <a:avLst/>
          </a:prstGeom>
          <a:noFill/>
        </p:spPr>
        <p:txBody>
          <a:bodyPr wrap="square" anchor="t" lIns="0" rIns="0" tIns="0" bIns="0">
            <a:spAutoFit/>
          </a:bodyPr>
          <a:lstStyle/>
          <a:p>
            <a:pPr algn="l"/>
            <a:r>
              <a:rPr sz="1050" b="1">
                <a:solidFill>
                  <a:srgbClr val="6D7C73"/>
                </a:solidFill>
                <a:latin typeface="맑은 고딕"/>
              </a:rPr>
              <a:t>기준 출처</a:t>
            </a:r>
          </a:p>
        </p:txBody>
      </p:sp>
      <p:sp>
        <p:nvSpPr>
          <p:cNvPr id="18" name="TextBox 17"/>
          <p:cNvSpPr txBox="1"/>
          <p:nvPr/>
        </p:nvSpPr>
        <p:spPr>
          <a:xfrm>
            <a:off x="10287000" y="1481328"/>
            <a:ext cx="1124712" cy="274320"/>
          </a:xfrm>
          <a:prstGeom prst="rect">
            <a:avLst/>
          </a:prstGeom>
          <a:noFill/>
        </p:spPr>
        <p:txBody>
          <a:bodyPr wrap="square" anchor="t" lIns="0" rIns="0" tIns="0" bIns="0">
            <a:spAutoFit/>
          </a:bodyPr>
          <a:lstStyle/>
          <a:p>
            <a:pPr algn="l"/>
            <a:r>
              <a:rPr sz="1050" b="1">
                <a:solidFill>
                  <a:srgbClr val="6D7C73"/>
                </a:solidFill>
                <a:latin typeface="맑은 고딕"/>
              </a:rPr>
              <a:t>상태</a:t>
            </a:r>
          </a:p>
        </p:txBody>
      </p:sp>
      <p:cxnSp>
        <p:nvCxnSpPr>
          <p:cNvPr id="19" name="Connector 18"/>
          <p:cNvCxnSpPr/>
          <p:nvPr/>
        </p:nvCxnSpPr>
        <p:spPr>
          <a:xfrm>
            <a:off x="685800" y="1746504"/>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1819656"/>
            <a:ext cx="2679191" cy="292608"/>
          </a:xfrm>
          <a:prstGeom prst="rect">
            <a:avLst/>
          </a:prstGeom>
          <a:noFill/>
        </p:spPr>
        <p:txBody>
          <a:bodyPr wrap="square" anchor="t" lIns="0" rIns="0" tIns="0" bIns="0">
            <a:spAutoFit/>
          </a:bodyPr>
          <a:lstStyle/>
          <a:p>
            <a:pPr algn="l"/>
            <a:r>
              <a:rPr sz="1050" b="1">
                <a:solidFill>
                  <a:srgbClr val="24392F"/>
                </a:solidFill>
                <a:latin typeface="맑은 고딕"/>
              </a:rPr>
              <a:t>응답 시간 p95</a:t>
            </a:r>
          </a:p>
        </p:txBody>
      </p:sp>
      <p:sp>
        <p:nvSpPr>
          <p:cNvPr id="21" name="TextBox 20"/>
          <p:cNvSpPr txBox="1"/>
          <p:nvPr/>
        </p:nvSpPr>
        <p:spPr>
          <a:xfrm>
            <a:off x="3474720" y="1819656"/>
            <a:ext cx="2770632" cy="292608"/>
          </a:xfrm>
          <a:prstGeom prst="rect">
            <a:avLst/>
          </a:prstGeom>
          <a:noFill/>
        </p:spPr>
        <p:txBody>
          <a:bodyPr wrap="square" anchor="t" lIns="0" rIns="0" tIns="0" bIns="0">
            <a:spAutoFit/>
          </a:bodyPr>
          <a:lstStyle/>
          <a:p>
            <a:pPr algn="l"/>
            <a:r>
              <a:rPr sz="1050" b="0">
                <a:solidFill>
                  <a:srgbClr val="24392F"/>
                </a:solidFill>
                <a:latin typeface="맑은 고딕"/>
              </a:rPr>
              <a:t>0.6~11.7초</a:t>
            </a:r>
          </a:p>
        </p:txBody>
      </p:sp>
      <p:sp>
        <p:nvSpPr>
          <p:cNvPr id="22" name="TextBox 21"/>
          <p:cNvSpPr txBox="1"/>
          <p:nvPr/>
        </p:nvSpPr>
        <p:spPr>
          <a:xfrm>
            <a:off x="6355079" y="1819656"/>
            <a:ext cx="2404872" cy="292608"/>
          </a:xfrm>
          <a:prstGeom prst="rect">
            <a:avLst/>
          </a:prstGeom>
          <a:noFill/>
        </p:spPr>
        <p:txBody>
          <a:bodyPr wrap="square" anchor="t" lIns="0" rIns="0" tIns="0" bIns="0">
            <a:spAutoFit/>
          </a:bodyPr>
          <a:lstStyle/>
          <a:p>
            <a:pPr algn="l"/>
            <a:r>
              <a:rPr sz="1050" b="1">
                <a:solidFill>
                  <a:srgbClr val="24392F"/>
                </a:solidFill>
                <a:latin typeface="맑은 고딕"/>
              </a:rPr>
              <a:t>15초 이내</a:t>
            </a:r>
          </a:p>
        </p:txBody>
      </p:sp>
      <p:sp>
        <p:nvSpPr>
          <p:cNvPr id="23" name="TextBox 22"/>
          <p:cNvSpPr txBox="1"/>
          <p:nvPr/>
        </p:nvSpPr>
        <p:spPr>
          <a:xfrm>
            <a:off x="8869680" y="1819656"/>
            <a:ext cx="1307592" cy="292608"/>
          </a:xfrm>
          <a:prstGeom prst="rect">
            <a:avLst/>
          </a:prstGeom>
          <a:noFill/>
        </p:spPr>
        <p:txBody>
          <a:bodyPr wrap="square" anchor="t" lIns="0" rIns="0" tIns="0" bIns="0">
            <a:spAutoFit/>
          </a:bodyPr>
          <a:lstStyle/>
          <a:p>
            <a:pPr algn="l"/>
            <a:r>
              <a:rPr sz="1050" b="0">
                <a:solidFill>
                  <a:srgbClr val="526858"/>
                </a:solidFill>
                <a:latin typeface="맑은 고딕"/>
              </a:rPr>
              <a:t>양식 SLA</a:t>
            </a:r>
          </a:p>
        </p:txBody>
      </p:sp>
      <p:sp>
        <p:nvSpPr>
          <p:cNvPr id="24" name="Rounded Rectangle 23"/>
          <p:cNvSpPr/>
          <p:nvPr/>
        </p:nvSpPr>
        <p:spPr>
          <a:xfrm>
            <a:off x="10287000" y="1801368"/>
            <a:ext cx="1143000" cy="274320"/>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87000" y="1801368"/>
            <a:ext cx="1143000" cy="274320"/>
          </a:xfrm>
          <a:prstGeom prst="rect">
            <a:avLst/>
          </a:prstGeom>
          <a:noFill/>
        </p:spPr>
        <p:txBody>
          <a:bodyPr wrap="square" anchor="ctr" lIns="0" rIns="0" tIns="0" bIns="0">
            <a:spAutoFit/>
          </a:bodyPr>
          <a:lstStyle/>
          <a:p>
            <a:pPr algn="ctr"/>
            <a:r>
              <a:rPr sz="1000" b="1">
                <a:solidFill>
                  <a:srgbClr val="2E6047"/>
                </a:solidFill>
                <a:latin typeface="맑은 고딕"/>
              </a:rPr>
              <a:t>넘음</a:t>
            </a:r>
          </a:p>
        </p:txBody>
      </p:sp>
      <p:cxnSp>
        <p:nvCxnSpPr>
          <p:cNvPr id="26" name="Connector 25"/>
          <p:cNvCxnSpPr/>
          <p:nvPr/>
        </p:nvCxnSpPr>
        <p:spPr>
          <a:xfrm>
            <a:off x="685800" y="2121408"/>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2194560"/>
            <a:ext cx="2679191" cy="292608"/>
          </a:xfrm>
          <a:prstGeom prst="rect">
            <a:avLst/>
          </a:prstGeom>
          <a:noFill/>
        </p:spPr>
        <p:txBody>
          <a:bodyPr wrap="square" anchor="t" lIns="0" rIns="0" tIns="0" bIns="0">
            <a:spAutoFit/>
          </a:bodyPr>
          <a:lstStyle/>
          <a:p>
            <a:pPr algn="l"/>
            <a:r>
              <a:rPr sz="1050" b="1">
                <a:solidFill>
                  <a:srgbClr val="24392F"/>
                </a:solidFill>
                <a:latin typeface="맑은 고딕"/>
              </a:rPr>
              <a:t>일정 항목 매칭 (769)</a:t>
            </a:r>
          </a:p>
        </p:txBody>
      </p:sp>
      <p:sp>
        <p:nvSpPr>
          <p:cNvPr id="28" name="TextBox 27"/>
          <p:cNvSpPr txBox="1"/>
          <p:nvPr/>
        </p:nvSpPr>
        <p:spPr>
          <a:xfrm>
            <a:off x="3474720" y="2194560"/>
            <a:ext cx="2770632" cy="292608"/>
          </a:xfrm>
          <a:prstGeom prst="rect">
            <a:avLst/>
          </a:prstGeom>
          <a:noFill/>
        </p:spPr>
        <p:txBody>
          <a:bodyPr wrap="square" anchor="t" lIns="0" rIns="0" tIns="0" bIns="0">
            <a:spAutoFit/>
          </a:bodyPr>
          <a:lstStyle/>
          <a:p>
            <a:pPr algn="l"/>
            <a:r>
              <a:rPr sz="1050" b="0">
                <a:solidFill>
                  <a:srgbClr val="24392F"/>
                </a:solidFill>
                <a:latin typeface="맑은 고딕"/>
              </a:rPr>
              <a:t>97.3% (95.9~98.2)</a:t>
            </a:r>
          </a:p>
        </p:txBody>
      </p:sp>
      <p:sp>
        <p:nvSpPr>
          <p:cNvPr id="29" name="TextBox 28"/>
          <p:cNvSpPr txBox="1"/>
          <p:nvPr/>
        </p:nvSpPr>
        <p:spPr>
          <a:xfrm>
            <a:off x="6355079" y="2194560"/>
            <a:ext cx="2404872" cy="292608"/>
          </a:xfrm>
          <a:prstGeom prst="rect">
            <a:avLst/>
          </a:prstGeom>
          <a:noFill/>
        </p:spPr>
        <p:txBody>
          <a:bodyPr wrap="square" anchor="t" lIns="0" rIns="0" tIns="0" bIns="0">
            <a:spAutoFit/>
          </a:bodyPr>
          <a:lstStyle/>
          <a:p>
            <a:pPr algn="l"/>
            <a:r>
              <a:rPr sz="1050" b="1">
                <a:solidFill>
                  <a:srgbClr val="24392F"/>
                </a:solidFill>
                <a:latin typeface="맑은 고딕"/>
              </a:rPr>
              <a:t>95% · 구간 하한 기준</a:t>
            </a:r>
          </a:p>
        </p:txBody>
      </p:sp>
      <p:sp>
        <p:nvSpPr>
          <p:cNvPr id="30" name="TextBox 29"/>
          <p:cNvSpPr txBox="1"/>
          <p:nvPr/>
        </p:nvSpPr>
        <p:spPr>
          <a:xfrm>
            <a:off x="8869680" y="2194560"/>
            <a:ext cx="1307592" cy="292608"/>
          </a:xfrm>
          <a:prstGeom prst="rect">
            <a:avLst/>
          </a:prstGeom>
          <a:noFill/>
        </p:spPr>
        <p:txBody>
          <a:bodyPr wrap="square" anchor="t" lIns="0" rIns="0" tIns="0" bIns="0">
            <a:spAutoFit/>
          </a:bodyPr>
          <a:lstStyle/>
          <a:p>
            <a:pPr algn="l"/>
            <a:r>
              <a:rPr sz="1050" b="0">
                <a:solidFill>
                  <a:srgbClr val="526858"/>
                </a:solidFill>
                <a:latin typeface="맑은 고딕"/>
              </a:rPr>
              <a:t>제안</a:t>
            </a:r>
          </a:p>
        </p:txBody>
      </p:sp>
      <p:sp>
        <p:nvSpPr>
          <p:cNvPr id="31" name="Rounded Rectangle 30"/>
          <p:cNvSpPr/>
          <p:nvPr/>
        </p:nvSpPr>
        <p:spPr>
          <a:xfrm>
            <a:off x="10287000" y="2176272"/>
            <a:ext cx="1143000" cy="274320"/>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87000" y="2176272"/>
            <a:ext cx="1143000" cy="274320"/>
          </a:xfrm>
          <a:prstGeom prst="rect">
            <a:avLst/>
          </a:prstGeom>
          <a:noFill/>
        </p:spPr>
        <p:txBody>
          <a:bodyPr wrap="square" anchor="ctr" lIns="0" rIns="0" tIns="0" bIns="0">
            <a:spAutoFit/>
          </a:bodyPr>
          <a:lstStyle/>
          <a:p>
            <a:pPr algn="ctr"/>
            <a:r>
              <a:rPr sz="1000" b="1">
                <a:solidFill>
                  <a:srgbClr val="2E6047"/>
                </a:solidFill>
                <a:latin typeface="맑은 고딕"/>
              </a:rPr>
              <a:t>넘음</a:t>
            </a:r>
          </a:p>
        </p:txBody>
      </p:sp>
      <p:cxnSp>
        <p:nvCxnSpPr>
          <p:cNvPr id="33" name="Connector 32"/>
          <p:cNvCxnSpPr/>
          <p:nvPr/>
        </p:nvCxnSpPr>
        <p:spPr>
          <a:xfrm>
            <a:off x="685800" y="2496312"/>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2569464"/>
            <a:ext cx="2679191" cy="292608"/>
          </a:xfrm>
          <a:prstGeom prst="rect">
            <a:avLst/>
          </a:prstGeom>
          <a:noFill/>
        </p:spPr>
        <p:txBody>
          <a:bodyPr wrap="square" anchor="t" lIns="0" rIns="0" tIns="0" bIns="0">
            <a:spAutoFit/>
          </a:bodyPr>
          <a:lstStyle/>
          <a:p>
            <a:pPr algn="l"/>
            <a:r>
              <a:rPr sz="1050" b="1">
                <a:solidFill>
                  <a:srgbClr val="24392F"/>
                </a:solidFill>
                <a:latin typeface="맑은 고딕"/>
              </a:rPr>
              <a:t>규정 인용 정확도</a:t>
            </a:r>
          </a:p>
        </p:txBody>
      </p:sp>
      <p:sp>
        <p:nvSpPr>
          <p:cNvPr id="35" name="TextBox 34"/>
          <p:cNvSpPr txBox="1"/>
          <p:nvPr/>
        </p:nvSpPr>
        <p:spPr>
          <a:xfrm>
            <a:off x="3474720" y="2569464"/>
            <a:ext cx="2770632" cy="292608"/>
          </a:xfrm>
          <a:prstGeom prst="rect">
            <a:avLst/>
          </a:prstGeom>
          <a:noFill/>
        </p:spPr>
        <p:txBody>
          <a:bodyPr wrap="square" anchor="t" lIns="0" rIns="0" tIns="0" bIns="0">
            <a:spAutoFit/>
          </a:bodyPr>
          <a:lstStyle/>
          <a:p>
            <a:pPr algn="l"/>
            <a:r>
              <a:rPr sz="1050" b="0">
                <a:solidFill>
                  <a:srgbClr val="24392F"/>
                </a:solidFill>
                <a:latin typeface="맑은 고딕"/>
              </a:rPr>
              <a:t>334/334</a:t>
            </a:r>
          </a:p>
        </p:txBody>
      </p:sp>
      <p:sp>
        <p:nvSpPr>
          <p:cNvPr id="36" name="TextBox 35"/>
          <p:cNvSpPr txBox="1"/>
          <p:nvPr/>
        </p:nvSpPr>
        <p:spPr>
          <a:xfrm>
            <a:off x="6355079" y="2569464"/>
            <a:ext cx="2404872" cy="292608"/>
          </a:xfrm>
          <a:prstGeom prst="rect">
            <a:avLst/>
          </a:prstGeom>
          <a:noFill/>
        </p:spPr>
        <p:txBody>
          <a:bodyPr wrap="square" anchor="t" lIns="0" rIns="0" tIns="0" bIns="0">
            <a:spAutoFit/>
          </a:bodyPr>
          <a:lstStyle/>
          <a:p>
            <a:pPr algn="l"/>
            <a:r>
              <a:rPr sz="1050" b="1">
                <a:solidFill>
                  <a:srgbClr val="24392F"/>
                </a:solidFill>
                <a:latin typeface="맑은 고딕"/>
              </a:rPr>
              <a:t>100%</a:t>
            </a:r>
          </a:p>
        </p:txBody>
      </p:sp>
      <p:sp>
        <p:nvSpPr>
          <p:cNvPr id="37" name="TextBox 36"/>
          <p:cNvSpPr txBox="1"/>
          <p:nvPr/>
        </p:nvSpPr>
        <p:spPr>
          <a:xfrm>
            <a:off x="8869680" y="2569464"/>
            <a:ext cx="1307592" cy="292608"/>
          </a:xfrm>
          <a:prstGeom prst="rect">
            <a:avLst/>
          </a:prstGeom>
          <a:noFill/>
        </p:spPr>
        <p:txBody>
          <a:bodyPr wrap="square" anchor="t" lIns="0" rIns="0" tIns="0" bIns="0">
            <a:spAutoFit/>
          </a:bodyPr>
          <a:lstStyle/>
          <a:p>
            <a:pPr algn="l"/>
            <a:r>
              <a:rPr sz="1050" b="0">
                <a:solidFill>
                  <a:srgbClr val="526858"/>
                </a:solidFill>
                <a:latin typeface="맑은 고딕"/>
              </a:rPr>
              <a:t>팀 목표</a:t>
            </a:r>
          </a:p>
        </p:txBody>
      </p:sp>
      <p:sp>
        <p:nvSpPr>
          <p:cNvPr id="38" name="Rounded Rectangle 37"/>
          <p:cNvSpPr/>
          <p:nvPr/>
        </p:nvSpPr>
        <p:spPr>
          <a:xfrm>
            <a:off x="10287000" y="2551176"/>
            <a:ext cx="1143000" cy="274320"/>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87000" y="2551176"/>
            <a:ext cx="1143000" cy="274320"/>
          </a:xfrm>
          <a:prstGeom prst="rect">
            <a:avLst/>
          </a:prstGeom>
          <a:noFill/>
        </p:spPr>
        <p:txBody>
          <a:bodyPr wrap="square" anchor="ctr" lIns="0" rIns="0" tIns="0" bIns="0">
            <a:spAutoFit/>
          </a:bodyPr>
          <a:lstStyle/>
          <a:p>
            <a:pPr algn="ctr"/>
            <a:r>
              <a:rPr sz="1000" b="1">
                <a:solidFill>
                  <a:srgbClr val="2E6047"/>
                </a:solidFill>
                <a:latin typeface="맑은 고딕"/>
              </a:rPr>
              <a:t>넘음</a:t>
            </a:r>
          </a:p>
        </p:txBody>
      </p:sp>
      <p:cxnSp>
        <p:nvCxnSpPr>
          <p:cNvPr id="40" name="Connector 39"/>
          <p:cNvCxnSpPr/>
          <p:nvPr/>
        </p:nvCxnSpPr>
        <p:spPr>
          <a:xfrm>
            <a:off x="685800" y="2871215"/>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85800" y="2944368"/>
            <a:ext cx="2679191" cy="292608"/>
          </a:xfrm>
          <a:prstGeom prst="rect">
            <a:avLst/>
          </a:prstGeom>
          <a:noFill/>
        </p:spPr>
        <p:txBody>
          <a:bodyPr wrap="square" anchor="t" lIns="0" rIns="0" tIns="0" bIns="0">
            <a:spAutoFit/>
          </a:bodyPr>
          <a:lstStyle/>
          <a:p>
            <a:pPr algn="l"/>
            <a:r>
              <a:rPr sz="1050" b="1">
                <a:solidFill>
                  <a:srgbClr val="24392F"/>
                </a:solidFill>
                <a:latin typeface="맑은 고딕"/>
              </a:rPr>
              <a:t>번역 숫자 · 금액 단위 변조</a:t>
            </a:r>
          </a:p>
        </p:txBody>
      </p:sp>
      <p:sp>
        <p:nvSpPr>
          <p:cNvPr id="42" name="TextBox 41"/>
          <p:cNvSpPr txBox="1"/>
          <p:nvPr/>
        </p:nvSpPr>
        <p:spPr>
          <a:xfrm>
            <a:off x="3474720" y="2944368"/>
            <a:ext cx="2770632" cy="292608"/>
          </a:xfrm>
          <a:prstGeom prst="rect">
            <a:avLst/>
          </a:prstGeom>
          <a:noFill/>
        </p:spPr>
        <p:txBody>
          <a:bodyPr wrap="square" anchor="t" lIns="0" rIns="0" tIns="0" bIns="0">
            <a:spAutoFit/>
          </a:bodyPr>
          <a:lstStyle/>
          <a:p>
            <a:pPr algn="l"/>
            <a:r>
              <a:rPr sz="1050" b="0">
                <a:solidFill>
                  <a:srgbClr val="24392F"/>
                </a:solidFill>
                <a:latin typeface="맑은 고딕"/>
              </a:rPr>
              <a:t>0/115 · 단위 대조 추가</a:t>
            </a:r>
          </a:p>
        </p:txBody>
      </p:sp>
      <p:sp>
        <p:nvSpPr>
          <p:cNvPr id="43" name="TextBox 42"/>
          <p:cNvSpPr txBox="1"/>
          <p:nvPr/>
        </p:nvSpPr>
        <p:spPr>
          <a:xfrm>
            <a:off x="6355079" y="2944368"/>
            <a:ext cx="2404872" cy="292608"/>
          </a:xfrm>
          <a:prstGeom prst="rect">
            <a:avLst/>
          </a:prstGeom>
          <a:noFill/>
        </p:spPr>
        <p:txBody>
          <a:bodyPr wrap="square" anchor="t" lIns="0" rIns="0" tIns="0" bIns="0">
            <a:spAutoFit/>
          </a:bodyPr>
          <a:lstStyle/>
          <a:p>
            <a:pPr algn="l"/>
            <a:r>
              <a:rPr sz="1050" b="1">
                <a:solidFill>
                  <a:srgbClr val="24392F"/>
                </a:solidFill>
                <a:latin typeface="맑은 고딕"/>
              </a:rPr>
              <a:t>0건</a:t>
            </a:r>
          </a:p>
        </p:txBody>
      </p:sp>
      <p:sp>
        <p:nvSpPr>
          <p:cNvPr id="44" name="TextBox 43"/>
          <p:cNvSpPr txBox="1"/>
          <p:nvPr/>
        </p:nvSpPr>
        <p:spPr>
          <a:xfrm>
            <a:off x="8869680" y="2944368"/>
            <a:ext cx="1307592" cy="292608"/>
          </a:xfrm>
          <a:prstGeom prst="rect">
            <a:avLst/>
          </a:prstGeom>
          <a:noFill/>
        </p:spPr>
        <p:txBody>
          <a:bodyPr wrap="square" anchor="t" lIns="0" rIns="0" tIns="0" bIns="0">
            <a:spAutoFit/>
          </a:bodyPr>
          <a:lstStyle/>
          <a:p>
            <a:pPr algn="l"/>
            <a:r>
              <a:rPr sz="1050" b="0">
                <a:solidFill>
                  <a:srgbClr val="526858"/>
                </a:solidFill>
                <a:latin typeface="맑은 고딕"/>
              </a:rPr>
              <a:t>팀 목표</a:t>
            </a:r>
          </a:p>
        </p:txBody>
      </p:sp>
      <p:sp>
        <p:nvSpPr>
          <p:cNvPr id="45" name="Rounded Rectangle 44"/>
          <p:cNvSpPr/>
          <p:nvPr/>
        </p:nvSpPr>
        <p:spPr>
          <a:xfrm>
            <a:off x="10287000" y="2926079"/>
            <a:ext cx="1143000" cy="274320"/>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87000" y="2926079"/>
            <a:ext cx="1143000" cy="274320"/>
          </a:xfrm>
          <a:prstGeom prst="rect">
            <a:avLst/>
          </a:prstGeom>
          <a:noFill/>
        </p:spPr>
        <p:txBody>
          <a:bodyPr wrap="square" anchor="ctr" lIns="0" rIns="0" tIns="0" bIns="0">
            <a:spAutoFit/>
          </a:bodyPr>
          <a:lstStyle/>
          <a:p>
            <a:pPr algn="ctr"/>
            <a:r>
              <a:rPr sz="1000" b="1">
                <a:solidFill>
                  <a:srgbClr val="2E6047"/>
                </a:solidFill>
                <a:latin typeface="맑은 고딕"/>
              </a:rPr>
              <a:t>넘음</a:t>
            </a:r>
          </a:p>
        </p:txBody>
      </p:sp>
      <p:cxnSp>
        <p:nvCxnSpPr>
          <p:cNvPr id="47" name="Connector 46"/>
          <p:cNvCxnSpPr/>
          <p:nvPr/>
        </p:nvCxnSpPr>
        <p:spPr>
          <a:xfrm>
            <a:off x="685800" y="3246120"/>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85800" y="3319272"/>
            <a:ext cx="2679191" cy="292608"/>
          </a:xfrm>
          <a:prstGeom prst="rect">
            <a:avLst/>
          </a:prstGeom>
          <a:noFill/>
        </p:spPr>
        <p:txBody>
          <a:bodyPr wrap="square" anchor="t" lIns="0" rIns="0" tIns="0" bIns="0">
            <a:spAutoFit/>
          </a:bodyPr>
          <a:lstStyle/>
          <a:p>
            <a:pPr algn="l"/>
            <a:r>
              <a:rPr sz="1050" b="1">
                <a:solidFill>
                  <a:srgbClr val="24392F"/>
                </a:solidFill>
                <a:latin typeface="맑은 고딕"/>
              </a:rPr>
              <a:t>규정 검색 Recall@3</a:t>
            </a:r>
          </a:p>
        </p:txBody>
      </p:sp>
      <p:sp>
        <p:nvSpPr>
          <p:cNvPr id="49" name="TextBox 48"/>
          <p:cNvSpPr txBox="1"/>
          <p:nvPr/>
        </p:nvSpPr>
        <p:spPr>
          <a:xfrm>
            <a:off x="3474720" y="3319272"/>
            <a:ext cx="2770632" cy="292608"/>
          </a:xfrm>
          <a:prstGeom prst="rect">
            <a:avLst/>
          </a:prstGeom>
          <a:noFill/>
        </p:spPr>
        <p:txBody>
          <a:bodyPr wrap="square" anchor="t" lIns="0" rIns="0" tIns="0" bIns="0">
            <a:spAutoFit/>
          </a:bodyPr>
          <a:lstStyle/>
          <a:p>
            <a:pPr algn="l"/>
            <a:r>
              <a:rPr sz="1050" b="0">
                <a:solidFill>
                  <a:srgbClr val="24392F"/>
                </a:solidFill>
                <a:latin typeface="맑은 고딕"/>
              </a:rPr>
              <a:t>제품 62.5% · 재순위 92.6%</a:t>
            </a:r>
          </a:p>
        </p:txBody>
      </p:sp>
      <p:sp>
        <p:nvSpPr>
          <p:cNvPr id="50" name="TextBox 49"/>
          <p:cNvSpPr txBox="1"/>
          <p:nvPr/>
        </p:nvSpPr>
        <p:spPr>
          <a:xfrm>
            <a:off x="6355079" y="3319272"/>
            <a:ext cx="2404872" cy="292608"/>
          </a:xfrm>
          <a:prstGeom prst="rect">
            <a:avLst/>
          </a:prstGeom>
          <a:noFill/>
        </p:spPr>
        <p:txBody>
          <a:bodyPr wrap="square" anchor="t" lIns="0" rIns="0" tIns="0" bIns="0">
            <a:spAutoFit/>
          </a:bodyPr>
          <a:lstStyle/>
          <a:p>
            <a:pPr algn="l"/>
            <a:r>
              <a:rPr sz="1050" b="1">
                <a:solidFill>
                  <a:srgbClr val="24392F"/>
                </a:solidFill>
                <a:latin typeface="맑은 고딕"/>
              </a:rPr>
              <a:t>90% 이상</a:t>
            </a:r>
          </a:p>
        </p:txBody>
      </p:sp>
      <p:sp>
        <p:nvSpPr>
          <p:cNvPr id="51" name="TextBox 50"/>
          <p:cNvSpPr txBox="1"/>
          <p:nvPr/>
        </p:nvSpPr>
        <p:spPr>
          <a:xfrm>
            <a:off x="8869680" y="3319272"/>
            <a:ext cx="1307592" cy="292608"/>
          </a:xfrm>
          <a:prstGeom prst="rect">
            <a:avLst/>
          </a:prstGeom>
          <a:noFill/>
        </p:spPr>
        <p:txBody>
          <a:bodyPr wrap="square" anchor="t" lIns="0" rIns="0" tIns="0" bIns="0">
            <a:spAutoFit/>
          </a:bodyPr>
          <a:lstStyle/>
          <a:p>
            <a:pPr algn="l"/>
            <a:r>
              <a:rPr sz="1050" b="0">
                <a:solidFill>
                  <a:srgbClr val="526858"/>
                </a:solidFill>
                <a:latin typeface="맑은 고딕"/>
              </a:rPr>
              <a:t>양식</a:t>
            </a:r>
          </a:p>
        </p:txBody>
      </p:sp>
      <p:sp>
        <p:nvSpPr>
          <p:cNvPr id="52" name="Rounded Rectangle 51"/>
          <p:cNvSpPr/>
          <p:nvPr/>
        </p:nvSpPr>
        <p:spPr>
          <a:xfrm>
            <a:off x="10287000" y="3300984"/>
            <a:ext cx="1143000" cy="274320"/>
          </a:xfrm>
          <a:prstGeom prst="roundRect">
            <a:avLst>
              <a:gd name="adj" fmla="val 50000"/>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287000" y="3300984"/>
            <a:ext cx="1143000" cy="274320"/>
          </a:xfrm>
          <a:prstGeom prst="rect">
            <a:avLst/>
          </a:prstGeom>
          <a:noFill/>
        </p:spPr>
        <p:txBody>
          <a:bodyPr wrap="square" anchor="ctr" lIns="0" rIns="0" tIns="0" bIns="0">
            <a:spAutoFit/>
          </a:bodyPr>
          <a:lstStyle/>
          <a:p>
            <a:pPr algn="ctr"/>
            <a:r>
              <a:rPr sz="1000" b="1">
                <a:solidFill>
                  <a:srgbClr val="82693E"/>
                </a:solidFill>
                <a:latin typeface="맑은 고딕"/>
              </a:rPr>
              <a:t>반영 남음</a:t>
            </a:r>
          </a:p>
        </p:txBody>
      </p:sp>
      <p:cxnSp>
        <p:nvCxnSpPr>
          <p:cNvPr id="54" name="Connector 53"/>
          <p:cNvCxnSpPr/>
          <p:nvPr/>
        </p:nvCxnSpPr>
        <p:spPr>
          <a:xfrm>
            <a:off x="685800" y="3621024"/>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85800" y="3694176"/>
            <a:ext cx="2679191" cy="292608"/>
          </a:xfrm>
          <a:prstGeom prst="rect">
            <a:avLst/>
          </a:prstGeom>
          <a:noFill/>
        </p:spPr>
        <p:txBody>
          <a:bodyPr wrap="square" anchor="t" lIns="0" rIns="0" tIns="0" bIns="0">
            <a:spAutoFit/>
          </a:bodyPr>
          <a:lstStyle/>
          <a:p>
            <a:pPr algn="l"/>
            <a:r>
              <a:rPr sz="1050" b="1">
                <a:solidFill>
                  <a:srgbClr val="24392F"/>
                </a:solidFill>
                <a:latin typeface="맑은 고딕"/>
              </a:rPr>
              <a:t>결정 단위 pass^3</a:t>
            </a:r>
          </a:p>
        </p:txBody>
      </p:sp>
      <p:sp>
        <p:nvSpPr>
          <p:cNvPr id="56" name="TextBox 55"/>
          <p:cNvSpPr txBox="1"/>
          <p:nvPr/>
        </p:nvSpPr>
        <p:spPr>
          <a:xfrm>
            <a:off x="3474720" y="3694176"/>
            <a:ext cx="2770632" cy="292608"/>
          </a:xfrm>
          <a:prstGeom prst="rect">
            <a:avLst/>
          </a:prstGeom>
          <a:noFill/>
        </p:spPr>
        <p:txBody>
          <a:bodyPr wrap="square" anchor="t" lIns="0" rIns="0" tIns="0" bIns="0">
            <a:spAutoFit/>
          </a:bodyPr>
          <a:lstStyle/>
          <a:p>
            <a:pPr algn="l"/>
            <a:r>
              <a:rPr sz="1050" b="0">
                <a:solidFill>
                  <a:srgbClr val="24392F"/>
                </a:solidFill>
                <a:latin typeface="맑은 고딕"/>
              </a:rPr>
              <a:t>91.3% (86.6~95.3)</a:t>
            </a:r>
          </a:p>
        </p:txBody>
      </p:sp>
      <p:sp>
        <p:nvSpPr>
          <p:cNvPr id="57" name="TextBox 56"/>
          <p:cNvSpPr txBox="1"/>
          <p:nvPr/>
        </p:nvSpPr>
        <p:spPr>
          <a:xfrm>
            <a:off x="6355079" y="3694176"/>
            <a:ext cx="2404872" cy="292608"/>
          </a:xfrm>
          <a:prstGeom prst="rect">
            <a:avLst/>
          </a:prstGeom>
          <a:noFill/>
        </p:spPr>
        <p:txBody>
          <a:bodyPr wrap="square" anchor="t" lIns="0" rIns="0" tIns="0" bIns="0">
            <a:spAutoFit/>
          </a:bodyPr>
          <a:lstStyle/>
          <a:p>
            <a:pPr algn="l"/>
            <a:r>
              <a:rPr sz="1050" b="1">
                <a:solidFill>
                  <a:srgbClr val="24392F"/>
                </a:solidFill>
                <a:latin typeface="맑은 고딕"/>
              </a:rPr>
              <a:t>95% 이상</a:t>
            </a:r>
          </a:p>
        </p:txBody>
      </p:sp>
      <p:sp>
        <p:nvSpPr>
          <p:cNvPr id="58" name="TextBox 57"/>
          <p:cNvSpPr txBox="1"/>
          <p:nvPr/>
        </p:nvSpPr>
        <p:spPr>
          <a:xfrm>
            <a:off x="8869680" y="3694176"/>
            <a:ext cx="1307592" cy="292608"/>
          </a:xfrm>
          <a:prstGeom prst="rect">
            <a:avLst/>
          </a:prstGeom>
          <a:noFill/>
        </p:spPr>
        <p:txBody>
          <a:bodyPr wrap="square" anchor="t" lIns="0" rIns="0" tIns="0" bIns="0">
            <a:spAutoFit/>
          </a:bodyPr>
          <a:lstStyle/>
          <a:p>
            <a:pPr algn="l"/>
            <a:r>
              <a:rPr sz="1050" b="0">
                <a:solidFill>
                  <a:srgbClr val="526858"/>
                </a:solidFill>
                <a:latin typeface="맑은 고딕"/>
              </a:rPr>
              <a:t>계획서</a:t>
            </a:r>
          </a:p>
        </p:txBody>
      </p:sp>
      <p:sp>
        <p:nvSpPr>
          <p:cNvPr id="59" name="Rounded Rectangle 58"/>
          <p:cNvSpPr/>
          <p:nvPr/>
        </p:nvSpPr>
        <p:spPr>
          <a:xfrm>
            <a:off x="10287000" y="3675887"/>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287000" y="3675887"/>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61" name="Connector 60"/>
          <p:cNvCxnSpPr/>
          <p:nvPr/>
        </p:nvCxnSpPr>
        <p:spPr>
          <a:xfrm>
            <a:off x="685800" y="3995928"/>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85800" y="4069080"/>
            <a:ext cx="2679191" cy="292608"/>
          </a:xfrm>
          <a:prstGeom prst="rect">
            <a:avLst/>
          </a:prstGeom>
          <a:noFill/>
        </p:spPr>
        <p:txBody>
          <a:bodyPr wrap="square" anchor="t" lIns="0" rIns="0" tIns="0" bIns="0">
            <a:spAutoFit/>
          </a:bodyPr>
          <a:lstStyle/>
          <a:p>
            <a:pPr algn="l"/>
            <a:r>
              <a:rPr sz="1050" b="1">
                <a:solidFill>
                  <a:srgbClr val="24392F"/>
                </a:solidFill>
                <a:latin typeface="맑은 고딕"/>
              </a:rPr>
              <a:t>엉뚱한 대상 변경</a:t>
            </a:r>
          </a:p>
        </p:txBody>
      </p:sp>
      <p:sp>
        <p:nvSpPr>
          <p:cNvPr id="63" name="TextBox 62"/>
          <p:cNvSpPr txBox="1"/>
          <p:nvPr/>
        </p:nvSpPr>
        <p:spPr>
          <a:xfrm>
            <a:off x="3474720" y="4069080"/>
            <a:ext cx="2770632" cy="292608"/>
          </a:xfrm>
          <a:prstGeom prst="rect">
            <a:avLst/>
          </a:prstGeom>
          <a:noFill/>
        </p:spPr>
        <p:txBody>
          <a:bodyPr wrap="square" anchor="t" lIns="0" rIns="0" tIns="0" bIns="0">
            <a:spAutoFit/>
          </a:bodyPr>
          <a:lstStyle/>
          <a:p>
            <a:pPr algn="l"/>
            <a:r>
              <a:rPr sz="1050" b="0">
                <a:solidFill>
                  <a:srgbClr val="24392F"/>
                </a:solidFill>
                <a:latin typeface="맑은 고딕"/>
              </a:rPr>
              <a:t>1/172</a:t>
            </a:r>
          </a:p>
        </p:txBody>
      </p:sp>
      <p:sp>
        <p:nvSpPr>
          <p:cNvPr id="64" name="TextBox 63"/>
          <p:cNvSpPr txBox="1"/>
          <p:nvPr/>
        </p:nvSpPr>
        <p:spPr>
          <a:xfrm>
            <a:off x="6355079" y="4069080"/>
            <a:ext cx="2404872" cy="292608"/>
          </a:xfrm>
          <a:prstGeom prst="rect">
            <a:avLst/>
          </a:prstGeom>
          <a:noFill/>
        </p:spPr>
        <p:txBody>
          <a:bodyPr wrap="square" anchor="t" lIns="0" rIns="0" tIns="0" bIns="0">
            <a:spAutoFit/>
          </a:bodyPr>
          <a:lstStyle/>
          <a:p>
            <a:pPr algn="l"/>
            <a:r>
              <a:rPr sz="1050" b="1">
                <a:solidFill>
                  <a:srgbClr val="24392F"/>
                </a:solidFill>
                <a:latin typeface="맑은 고딕"/>
              </a:rPr>
              <a:t>0건</a:t>
            </a:r>
          </a:p>
        </p:txBody>
      </p:sp>
      <p:sp>
        <p:nvSpPr>
          <p:cNvPr id="65" name="TextBox 64"/>
          <p:cNvSpPr txBox="1"/>
          <p:nvPr/>
        </p:nvSpPr>
        <p:spPr>
          <a:xfrm>
            <a:off x="8869680" y="4069080"/>
            <a:ext cx="1307592" cy="292608"/>
          </a:xfrm>
          <a:prstGeom prst="rect">
            <a:avLst/>
          </a:prstGeom>
          <a:noFill/>
        </p:spPr>
        <p:txBody>
          <a:bodyPr wrap="square" anchor="t" lIns="0" rIns="0" tIns="0" bIns="0">
            <a:spAutoFit/>
          </a:bodyPr>
          <a:lstStyle/>
          <a:p>
            <a:pPr algn="l"/>
            <a:r>
              <a:rPr sz="1050" b="0">
                <a:solidFill>
                  <a:srgbClr val="526858"/>
                </a:solidFill>
                <a:latin typeface="맑은 고딕"/>
              </a:rPr>
              <a:t>계획서</a:t>
            </a:r>
          </a:p>
        </p:txBody>
      </p:sp>
      <p:sp>
        <p:nvSpPr>
          <p:cNvPr id="66" name="Rounded Rectangle 65"/>
          <p:cNvSpPr/>
          <p:nvPr/>
        </p:nvSpPr>
        <p:spPr>
          <a:xfrm>
            <a:off x="10287000" y="4050791"/>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87000" y="4050791"/>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68" name="Connector 67"/>
          <p:cNvCxnSpPr/>
          <p:nvPr/>
        </p:nvCxnSpPr>
        <p:spPr>
          <a:xfrm>
            <a:off x="685800" y="4370831"/>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685800" y="4443983"/>
            <a:ext cx="2679191" cy="292608"/>
          </a:xfrm>
          <a:prstGeom prst="rect">
            <a:avLst/>
          </a:prstGeom>
          <a:noFill/>
        </p:spPr>
        <p:txBody>
          <a:bodyPr wrap="square" anchor="t" lIns="0" rIns="0" tIns="0" bIns="0">
            <a:spAutoFit/>
          </a:bodyPr>
          <a:lstStyle/>
          <a:p>
            <a:pPr algn="l"/>
            <a:r>
              <a:rPr sz="1050" b="1">
                <a:solidFill>
                  <a:srgbClr val="24392F"/>
                </a:solidFill>
                <a:latin typeface="맑은 고딕"/>
              </a:rPr>
              <a:t>계획 읽기 글자 오독</a:t>
            </a:r>
          </a:p>
        </p:txBody>
      </p:sp>
      <p:sp>
        <p:nvSpPr>
          <p:cNvPr id="70" name="TextBox 69"/>
          <p:cNvSpPr txBox="1"/>
          <p:nvPr/>
        </p:nvSpPr>
        <p:spPr>
          <a:xfrm>
            <a:off x="3474720" y="4443983"/>
            <a:ext cx="2770632" cy="292608"/>
          </a:xfrm>
          <a:prstGeom prst="rect">
            <a:avLst/>
          </a:prstGeom>
          <a:noFill/>
        </p:spPr>
        <p:txBody>
          <a:bodyPr wrap="square" anchor="t" lIns="0" rIns="0" tIns="0" bIns="0">
            <a:spAutoFit/>
          </a:bodyPr>
          <a:lstStyle/>
          <a:p>
            <a:pPr algn="l"/>
            <a:r>
              <a:rPr sz="1050" b="0">
                <a:solidFill>
                  <a:srgbClr val="24392F"/>
                </a:solidFill>
                <a:latin typeface="맑은 고딕"/>
              </a:rPr>
              <a:t>12/350 = 3.4%</a:t>
            </a:r>
          </a:p>
        </p:txBody>
      </p:sp>
      <p:sp>
        <p:nvSpPr>
          <p:cNvPr id="71" name="TextBox 70"/>
          <p:cNvSpPr txBox="1"/>
          <p:nvPr/>
        </p:nvSpPr>
        <p:spPr>
          <a:xfrm>
            <a:off x="6355079" y="4443983"/>
            <a:ext cx="2404872" cy="292608"/>
          </a:xfrm>
          <a:prstGeom prst="rect">
            <a:avLst/>
          </a:prstGeom>
          <a:noFill/>
        </p:spPr>
        <p:txBody>
          <a:bodyPr wrap="square" anchor="t" lIns="0" rIns="0" tIns="0" bIns="0">
            <a:spAutoFit/>
          </a:bodyPr>
          <a:lstStyle/>
          <a:p>
            <a:pPr algn="l"/>
            <a:r>
              <a:rPr sz="1050" b="1">
                <a:solidFill>
                  <a:srgbClr val="24392F"/>
                </a:solidFill>
                <a:latin typeface="맑은 고딕"/>
              </a:rPr>
              <a:t>0건</a:t>
            </a:r>
          </a:p>
        </p:txBody>
      </p:sp>
      <p:sp>
        <p:nvSpPr>
          <p:cNvPr id="72" name="TextBox 71"/>
          <p:cNvSpPr txBox="1"/>
          <p:nvPr/>
        </p:nvSpPr>
        <p:spPr>
          <a:xfrm>
            <a:off x="8869680" y="4443983"/>
            <a:ext cx="1307592" cy="292608"/>
          </a:xfrm>
          <a:prstGeom prst="rect">
            <a:avLst/>
          </a:prstGeom>
          <a:noFill/>
        </p:spPr>
        <p:txBody>
          <a:bodyPr wrap="square" anchor="t" lIns="0" rIns="0" tIns="0" bIns="0">
            <a:spAutoFit/>
          </a:bodyPr>
          <a:lstStyle/>
          <a:p>
            <a:pPr algn="l"/>
            <a:r>
              <a:rPr sz="1050" b="0">
                <a:solidFill>
                  <a:srgbClr val="526858"/>
                </a:solidFill>
                <a:latin typeface="맑은 고딕"/>
              </a:rPr>
              <a:t>팀 목표</a:t>
            </a:r>
          </a:p>
        </p:txBody>
      </p:sp>
      <p:sp>
        <p:nvSpPr>
          <p:cNvPr id="73" name="Rounded Rectangle 72"/>
          <p:cNvSpPr/>
          <p:nvPr/>
        </p:nvSpPr>
        <p:spPr>
          <a:xfrm>
            <a:off x="10287000" y="4425695"/>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287000" y="4425695"/>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75" name="Connector 74"/>
          <p:cNvCxnSpPr/>
          <p:nvPr/>
        </p:nvCxnSpPr>
        <p:spPr>
          <a:xfrm>
            <a:off x="685800" y="4745736"/>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85800" y="4818888"/>
            <a:ext cx="2679191" cy="292608"/>
          </a:xfrm>
          <a:prstGeom prst="rect">
            <a:avLst/>
          </a:prstGeom>
          <a:noFill/>
        </p:spPr>
        <p:txBody>
          <a:bodyPr wrap="square" anchor="t" lIns="0" rIns="0" tIns="0" bIns="0">
            <a:spAutoFit/>
          </a:bodyPr>
          <a:lstStyle/>
          <a:p>
            <a:pPr algn="l"/>
            <a:r>
              <a:rPr sz="1050" b="1">
                <a:solidFill>
                  <a:srgbClr val="24392F"/>
                </a:solidFill>
                <a:latin typeface="맑은 고딕"/>
              </a:rPr>
              <a:t>무관한 말에 항목 오지목</a:t>
            </a:r>
          </a:p>
        </p:txBody>
      </p:sp>
      <p:sp>
        <p:nvSpPr>
          <p:cNvPr id="77" name="TextBox 76"/>
          <p:cNvSpPr txBox="1"/>
          <p:nvPr/>
        </p:nvSpPr>
        <p:spPr>
          <a:xfrm>
            <a:off x="3474720" y="4818888"/>
            <a:ext cx="2770632" cy="292608"/>
          </a:xfrm>
          <a:prstGeom prst="rect">
            <a:avLst/>
          </a:prstGeom>
          <a:noFill/>
        </p:spPr>
        <p:txBody>
          <a:bodyPr wrap="square" anchor="t" lIns="0" rIns="0" tIns="0" bIns="0">
            <a:spAutoFit/>
          </a:bodyPr>
          <a:lstStyle/>
          <a:p>
            <a:pPr algn="l"/>
            <a:r>
              <a:rPr sz="1050" b="0">
                <a:solidFill>
                  <a:srgbClr val="24392F"/>
                </a:solidFill>
                <a:latin typeface="맑은 고딕"/>
              </a:rPr>
              <a:t>3.7~4.5%</a:t>
            </a:r>
          </a:p>
        </p:txBody>
      </p:sp>
      <p:sp>
        <p:nvSpPr>
          <p:cNvPr id="78" name="TextBox 77"/>
          <p:cNvSpPr txBox="1"/>
          <p:nvPr/>
        </p:nvSpPr>
        <p:spPr>
          <a:xfrm>
            <a:off x="6355079" y="4818888"/>
            <a:ext cx="2404872" cy="292608"/>
          </a:xfrm>
          <a:prstGeom prst="rect">
            <a:avLst/>
          </a:prstGeom>
          <a:noFill/>
        </p:spPr>
        <p:txBody>
          <a:bodyPr wrap="square" anchor="t" lIns="0" rIns="0" tIns="0" bIns="0">
            <a:spAutoFit/>
          </a:bodyPr>
          <a:lstStyle/>
          <a:p>
            <a:pPr algn="l"/>
            <a:r>
              <a:rPr sz="1050" b="1">
                <a:solidFill>
                  <a:srgbClr val="24392F"/>
                </a:solidFill>
                <a:latin typeface="맑은 고딕"/>
              </a:rPr>
              <a:t>1% 이하</a:t>
            </a:r>
          </a:p>
        </p:txBody>
      </p:sp>
      <p:sp>
        <p:nvSpPr>
          <p:cNvPr id="79" name="TextBox 78"/>
          <p:cNvSpPr txBox="1"/>
          <p:nvPr/>
        </p:nvSpPr>
        <p:spPr>
          <a:xfrm>
            <a:off x="8869680" y="4818888"/>
            <a:ext cx="1307592" cy="292608"/>
          </a:xfrm>
          <a:prstGeom prst="rect">
            <a:avLst/>
          </a:prstGeom>
          <a:noFill/>
        </p:spPr>
        <p:txBody>
          <a:bodyPr wrap="square" anchor="t" lIns="0" rIns="0" tIns="0" bIns="0">
            <a:spAutoFit/>
          </a:bodyPr>
          <a:lstStyle/>
          <a:p>
            <a:pPr algn="l"/>
            <a:r>
              <a:rPr sz="1050" b="0">
                <a:solidFill>
                  <a:srgbClr val="526858"/>
                </a:solidFill>
                <a:latin typeface="맑은 고딕"/>
              </a:rPr>
              <a:t>제안</a:t>
            </a:r>
          </a:p>
        </p:txBody>
      </p:sp>
      <p:sp>
        <p:nvSpPr>
          <p:cNvPr id="80" name="Rounded Rectangle 79"/>
          <p:cNvSpPr/>
          <p:nvPr/>
        </p:nvSpPr>
        <p:spPr>
          <a:xfrm>
            <a:off x="10287000" y="4800599"/>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287000" y="4800599"/>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82" name="Connector 81"/>
          <p:cNvCxnSpPr/>
          <p:nvPr/>
        </p:nvCxnSpPr>
        <p:spPr>
          <a:xfrm>
            <a:off x="685800" y="5120640"/>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685800" y="5193792"/>
            <a:ext cx="2679191" cy="292608"/>
          </a:xfrm>
          <a:prstGeom prst="rect">
            <a:avLst/>
          </a:prstGeom>
          <a:noFill/>
        </p:spPr>
        <p:txBody>
          <a:bodyPr wrap="square" anchor="t" lIns="0" rIns="0" tIns="0" bIns="0">
            <a:spAutoFit/>
          </a:bodyPr>
          <a:lstStyle/>
          <a:p>
            <a:pPr algn="l"/>
            <a:r>
              <a:rPr sz="1050" b="1">
                <a:solidFill>
                  <a:srgbClr val="24392F"/>
                </a:solidFill>
                <a:latin typeface="맑은 고딕"/>
              </a:rPr>
              <a:t>긴급도 분류</a:t>
            </a:r>
          </a:p>
        </p:txBody>
      </p:sp>
      <p:sp>
        <p:nvSpPr>
          <p:cNvPr id="84" name="TextBox 83"/>
          <p:cNvSpPr txBox="1"/>
          <p:nvPr/>
        </p:nvSpPr>
        <p:spPr>
          <a:xfrm>
            <a:off x="3474720" y="5193792"/>
            <a:ext cx="2770632" cy="292608"/>
          </a:xfrm>
          <a:prstGeom prst="rect">
            <a:avLst/>
          </a:prstGeom>
          <a:noFill/>
        </p:spPr>
        <p:txBody>
          <a:bodyPr wrap="square" anchor="t" lIns="0" rIns="0" tIns="0" bIns="0">
            <a:spAutoFit/>
          </a:bodyPr>
          <a:lstStyle/>
          <a:p>
            <a:pPr algn="l"/>
            <a:r>
              <a:rPr sz="1050" b="0">
                <a:solidFill>
                  <a:srgbClr val="24392F"/>
                </a:solidFill>
                <a:latin typeface="맑은 고딕"/>
              </a:rPr>
              <a:t>CX 88.4% · 별도 셋 62.5%</a:t>
            </a:r>
          </a:p>
        </p:txBody>
      </p:sp>
      <p:sp>
        <p:nvSpPr>
          <p:cNvPr id="85" name="TextBox 84"/>
          <p:cNvSpPr txBox="1"/>
          <p:nvPr/>
        </p:nvSpPr>
        <p:spPr>
          <a:xfrm>
            <a:off x="6355079" y="5193792"/>
            <a:ext cx="2404872" cy="292608"/>
          </a:xfrm>
          <a:prstGeom prst="rect">
            <a:avLst/>
          </a:prstGeom>
          <a:noFill/>
        </p:spPr>
        <p:txBody>
          <a:bodyPr wrap="square" anchor="t" lIns="0" rIns="0" tIns="0" bIns="0">
            <a:spAutoFit/>
          </a:bodyPr>
          <a:lstStyle/>
          <a:p>
            <a:pPr algn="l"/>
            <a:r>
              <a:rPr sz="1050" b="1">
                <a:solidFill>
                  <a:srgbClr val="24392F"/>
                </a:solidFill>
                <a:latin typeface="맑은 고딕"/>
              </a:rPr>
              <a:t>90% · 「높음」 재현율 95%</a:t>
            </a:r>
          </a:p>
        </p:txBody>
      </p:sp>
      <p:sp>
        <p:nvSpPr>
          <p:cNvPr id="86" name="TextBox 85"/>
          <p:cNvSpPr txBox="1"/>
          <p:nvPr/>
        </p:nvSpPr>
        <p:spPr>
          <a:xfrm>
            <a:off x="8869680" y="5193792"/>
            <a:ext cx="1307592" cy="292608"/>
          </a:xfrm>
          <a:prstGeom prst="rect">
            <a:avLst/>
          </a:prstGeom>
          <a:noFill/>
        </p:spPr>
        <p:txBody>
          <a:bodyPr wrap="square" anchor="t" lIns="0" rIns="0" tIns="0" bIns="0">
            <a:spAutoFit/>
          </a:bodyPr>
          <a:lstStyle/>
          <a:p>
            <a:pPr algn="l"/>
            <a:r>
              <a:rPr sz="1050" b="0">
                <a:solidFill>
                  <a:srgbClr val="526858"/>
                </a:solidFill>
                <a:latin typeface="맑은 고딕"/>
              </a:rPr>
              <a:t>제안</a:t>
            </a:r>
          </a:p>
        </p:txBody>
      </p:sp>
      <p:sp>
        <p:nvSpPr>
          <p:cNvPr id="87" name="Rounded Rectangle 86"/>
          <p:cNvSpPr/>
          <p:nvPr/>
        </p:nvSpPr>
        <p:spPr>
          <a:xfrm>
            <a:off x="10287000" y="5175503"/>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287000" y="5175503"/>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89" name="Connector 88"/>
          <p:cNvCxnSpPr/>
          <p:nvPr/>
        </p:nvCxnSpPr>
        <p:spPr>
          <a:xfrm>
            <a:off x="685800" y="5495544"/>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685800" y="5568696"/>
            <a:ext cx="2679191" cy="292608"/>
          </a:xfrm>
          <a:prstGeom prst="rect">
            <a:avLst/>
          </a:prstGeom>
          <a:noFill/>
        </p:spPr>
        <p:txBody>
          <a:bodyPr wrap="square" anchor="t" lIns="0" rIns="0" tIns="0" bIns="0">
            <a:spAutoFit/>
          </a:bodyPr>
          <a:lstStyle/>
          <a:p>
            <a:pPr algn="l"/>
            <a:r>
              <a:rPr sz="1050" b="1">
                <a:solidFill>
                  <a:srgbClr val="24392F"/>
                </a:solidFill>
                <a:latin typeface="맑은 고딕"/>
              </a:rPr>
              <a:t>사람 판정 규정 답 「맞다」</a:t>
            </a:r>
          </a:p>
        </p:txBody>
      </p:sp>
      <p:sp>
        <p:nvSpPr>
          <p:cNvPr id="91" name="TextBox 90"/>
          <p:cNvSpPr txBox="1"/>
          <p:nvPr/>
        </p:nvSpPr>
        <p:spPr>
          <a:xfrm>
            <a:off x="3474720" y="5568696"/>
            <a:ext cx="2770632" cy="292608"/>
          </a:xfrm>
          <a:prstGeom prst="rect">
            <a:avLst/>
          </a:prstGeom>
          <a:noFill/>
        </p:spPr>
        <p:txBody>
          <a:bodyPr wrap="square" anchor="t" lIns="0" rIns="0" tIns="0" bIns="0">
            <a:spAutoFit/>
          </a:bodyPr>
          <a:lstStyle/>
          <a:p>
            <a:pPr algn="l"/>
            <a:r>
              <a:rPr sz="1050" b="0">
                <a:solidFill>
                  <a:srgbClr val="24392F"/>
                </a:solidFill>
                <a:latin typeface="맑은 고딕"/>
              </a:rPr>
              <a:t>41.7% (어려운 표본 24행)</a:t>
            </a:r>
          </a:p>
        </p:txBody>
      </p:sp>
      <p:sp>
        <p:nvSpPr>
          <p:cNvPr id="92" name="TextBox 91"/>
          <p:cNvSpPr txBox="1"/>
          <p:nvPr/>
        </p:nvSpPr>
        <p:spPr>
          <a:xfrm>
            <a:off x="6355079" y="5568696"/>
            <a:ext cx="2404872" cy="292608"/>
          </a:xfrm>
          <a:prstGeom prst="rect">
            <a:avLst/>
          </a:prstGeom>
          <a:noFill/>
        </p:spPr>
        <p:txBody>
          <a:bodyPr wrap="square" anchor="t" lIns="0" rIns="0" tIns="0" bIns="0">
            <a:spAutoFit/>
          </a:bodyPr>
          <a:lstStyle/>
          <a:p>
            <a:pPr algn="l"/>
            <a:r>
              <a:rPr sz="1050" b="1">
                <a:solidFill>
                  <a:srgbClr val="24392F"/>
                </a:solidFill>
                <a:latin typeface="맑은 고딕"/>
              </a:rPr>
              <a:t>90% · 사람이 쓴 질문</a:t>
            </a:r>
          </a:p>
        </p:txBody>
      </p:sp>
      <p:sp>
        <p:nvSpPr>
          <p:cNvPr id="93" name="TextBox 92"/>
          <p:cNvSpPr txBox="1"/>
          <p:nvPr/>
        </p:nvSpPr>
        <p:spPr>
          <a:xfrm>
            <a:off x="8869680" y="5568696"/>
            <a:ext cx="1307592" cy="292608"/>
          </a:xfrm>
          <a:prstGeom prst="rect">
            <a:avLst/>
          </a:prstGeom>
          <a:noFill/>
        </p:spPr>
        <p:txBody>
          <a:bodyPr wrap="square" anchor="t" lIns="0" rIns="0" tIns="0" bIns="0">
            <a:spAutoFit/>
          </a:bodyPr>
          <a:lstStyle/>
          <a:p>
            <a:pPr algn="l"/>
            <a:r>
              <a:rPr sz="1050" b="0">
                <a:solidFill>
                  <a:srgbClr val="526858"/>
                </a:solidFill>
                <a:latin typeface="맑은 고딕"/>
              </a:rPr>
              <a:t>제안</a:t>
            </a:r>
          </a:p>
        </p:txBody>
      </p:sp>
      <p:sp>
        <p:nvSpPr>
          <p:cNvPr id="94" name="Rounded Rectangle 93"/>
          <p:cNvSpPr/>
          <p:nvPr/>
        </p:nvSpPr>
        <p:spPr>
          <a:xfrm>
            <a:off x="10287000" y="5550407"/>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287000" y="5550407"/>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sp>
        <p:nvSpPr>
          <p:cNvPr id="96" name="Rounded Rectangle 95"/>
          <p:cNvSpPr/>
          <p:nvPr/>
        </p:nvSpPr>
        <p:spPr>
          <a:xfrm>
            <a:off x="685800" y="5943600"/>
            <a:ext cx="10817352" cy="384048"/>
          </a:xfrm>
          <a:prstGeom prst="roundRect">
            <a:avLst>
              <a:gd name="adj" fmla="val 42857"/>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5943600"/>
            <a:ext cx="10360152" cy="384048"/>
          </a:xfrm>
          <a:prstGeom prst="rect">
            <a:avLst/>
          </a:prstGeom>
          <a:noFill/>
        </p:spPr>
        <p:txBody>
          <a:bodyPr wrap="square" anchor="ctr" lIns="0" rIns="0" tIns="0" bIns="0">
            <a:spAutoFit/>
          </a:bodyPr>
          <a:lstStyle/>
          <a:p>
            <a:pPr algn="l"/>
            <a:r>
              <a:rPr sz="1100" b="1">
                <a:solidFill>
                  <a:srgbClr val="2E6047"/>
                </a:solidFill>
                <a:latin typeface="맑은 고딕"/>
              </a:rPr>
              <a:t>공통 조건  </a:t>
            </a:r>
            <a:r>
              <a:rPr sz="1100" b="0">
                <a:solidFill>
                  <a:srgbClr val="24392F"/>
                </a:solidFill>
                <a:latin typeface="맑은 고딕"/>
              </a:rPr>
              <a:t>합성 문제가 아니라 사람이 쓴 실제 질문에서, 95% 구간의 아래 끝이 기준을 넘어야 상용화로 봅니다.</a:t>
            </a:r>
          </a:p>
        </p:txBody>
      </p:sp>
      <p:sp>
        <p:nvSpPr>
          <p:cNvPr id="98" name="TextBox 97"/>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「제안」 기준은 틀렸을 때 고객이 입는 손해로 정한 Claude 제안이며 팀 결정이 필요합니다: 되돌리기 어려운 일(일정 변경 · 금액 · 지어낸 값)은 0건, 답의 정확도는 90~95%, 사람 판정은 90%.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1">
                <a:solidFill>
                  <a:srgbClr val="FFFFFF"/>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OPEN ISSUES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이번 주에 넷을 고쳤고, 남은 다섯은 담당을 정해 진행 중입니다</a:t>
            </a:r>
          </a:p>
        </p:txBody>
      </p:sp>
      <p:sp>
        <p:nvSpPr>
          <p:cNvPr id="14" name="TextBox 13"/>
          <p:cNvSpPr txBox="1"/>
          <p:nvPr/>
        </p:nvSpPr>
        <p:spPr>
          <a:xfrm>
            <a:off x="685800" y="1508760"/>
            <a:ext cx="3657600" cy="274320"/>
          </a:xfrm>
          <a:prstGeom prst="rect">
            <a:avLst/>
          </a:prstGeom>
          <a:noFill/>
        </p:spPr>
        <p:txBody>
          <a:bodyPr wrap="square" anchor="t" lIns="0" rIns="0" tIns="0" bIns="0">
            <a:spAutoFit/>
          </a:bodyPr>
          <a:lstStyle/>
          <a:p>
            <a:pPr algn="l"/>
            <a:r>
              <a:rPr sz="1200" b="1" spc="50">
                <a:solidFill>
                  <a:srgbClr val="2E6047"/>
                </a:solidFill>
                <a:latin typeface="맑은 고딕"/>
              </a:rPr>
              <a:t>이번에 해결</a:t>
            </a:r>
          </a:p>
        </p:txBody>
      </p:sp>
      <p:sp>
        <p:nvSpPr>
          <p:cNvPr id="15" name="Rounded Rectangle 14"/>
          <p:cNvSpPr/>
          <p:nvPr/>
        </p:nvSpPr>
        <p:spPr>
          <a:xfrm>
            <a:off x="685800" y="1828800"/>
            <a:ext cx="2606040" cy="1097280"/>
          </a:xfrm>
          <a:prstGeom prst="roundRect">
            <a:avLst>
              <a:gd name="adj" fmla="val 1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1901952"/>
            <a:ext cx="2286000" cy="320040"/>
          </a:xfrm>
          <a:prstGeom prst="rect">
            <a:avLst/>
          </a:prstGeom>
          <a:noFill/>
        </p:spPr>
        <p:txBody>
          <a:bodyPr wrap="square" anchor="t" lIns="0" rIns="0" tIns="0" bIns="0">
            <a:spAutoFit/>
          </a:bodyPr>
          <a:lstStyle/>
          <a:p>
            <a:pPr algn="l"/>
            <a:r>
              <a:rPr sz="1150" b="1">
                <a:solidFill>
                  <a:srgbClr val="2E6047"/>
                </a:solidFill>
                <a:latin typeface="맑은 고딕"/>
              </a:rPr>
              <a:t>✓  번역 금액 단위 대조</a:t>
            </a:r>
          </a:p>
        </p:txBody>
      </p:sp>
      <p:sp>
        <p:nvSpPr>
          <p:cNvPr id="17" name="TextBox 16"/>
          <p:cNvSpPr txBox="1"/>
          <p:nvPr/>
        </p:nvSpPr>
        <p:spPr>
          <a:xfrm>
            <a:off x="868680" y="2240280"/>
            <a:ext cx="2286000" cy="658368"/>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「35,000원」 → 「35,000円」 같은 단위 바뀜을 거름 · x600 서버 반영</a:t>
            </a:r>
          </a:p>
        </p:txBody>
      </p:sp>
      <p:sp>
        <p:nvSpPr>
          <p:cNvPr id="18" name="Rounded Rectangle 17"/>
          <p:cNvSpPr/>
          <p:nvPr/>
        </p:nvSpPr>
        <p:spPr>
          <a:xfrm>
            <a:off x="3410712" y="1828800"/>
            <a:ext cx="2606040" cy="1097280"/>
          </a:xfrm>
          <a:prstGeom prst="roundRect">
            <a:avLst>
              <a:gd name="adj" fmla="val 1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93592" y="1901952"/>
            <a:ext cx="2286000" cy="320040"/>
          </a:xfrm>
          <a:prstGeom prst="rect">
            <a:avLst/>
          </a:prstGeom>
          <a:noFill/>
        </p:spPr>
        <p:txBody>
          <a:bodyPr wrap="square" anchor="t" lIns="0" rIns="0" tIns="0" bIns="0">
            <a:spAutoFit/>
          </a:bodyPr>
          <a:lstStyle/>
          <a:p>
            <a:pPr algn="l"/>
            <a:r>
              <a:rPr sz="1150" b="1">
                <a:solidFill>
                  <a:srgbClr val="2E6047"/>
                </a:solidFill>
                <a:latin typeface="맑은 고딕"/>
              </a:rPr>
              <a:t>✓  규정 답 앞뒤 모순 문구</a:t>
            </a:r>
          </a:p>
        </p:txBody>
      </p:sp>
      <p:sp>
        <p:nvSpPr>
          <p:cNvPr id="20" name="TextBox 19"/>
          <p:cNvSpPr txBox="1"/>
          <p:nvPr/>
        </p:nvSpPr>
        <p:spPr>
          <a:xfrm>
            <a:off x="3593592" y="2240280"/>
            <a:ext cx="2286000" cy="658368"/>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사람 검수로 찾아 머리말 · 끝줄 문구를 고침</a:t>
            </a:r>
          </a:p>
        </p:txBody>
      </p:sp>
      <p:sp>
        <p:nvSpPr>
          <p:cNvPr id="21" name="Rounded Rectangle 20"/>
          <p:cNvSpPr/>
          <p:nvPr/>
        </p:nvSpPr>
        <p:spPr>
          <a:xfrm>
            <a:off x="6135624" y="1828800"/>
            <a:ext cx="2606040" cy="1097280"/>
          </a:xfrm>
          <a:prstGeom prst="roundRect">
            <a:avLst>
              <a:gd name="adj" fmla="val 1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8504" y="1901952"/>
            <a:ext cx="2286000" cy="320040"/>
          </a:xfrm>
          <a:prstGeom prst="rect">
            <a:avLst/>
          </a:prstGeom>
          <a:noFill/>
        </p:spPr>
        <p:txBody>
          <a:bodyPr wrap="square" anchor="t" lIns="0" rIns="0" tIns="0" bIns="0">
            <a:spAutoFit/>
          </a:bodyPr>
          <a:lstStyle/>
          <a:p>
            <a:pPr algn="l"/>
            <a:r>
              <a:rPr sz="1150" b="1">
                <a:solidFill>
                  <a:srgbClr val="2E6047"/>
                </a:solidFill>
                <a:latin typeface="맑은 고딕"/>
              </a:rPr>
              <a:t>✓  무료 서버 처리량 실측</a:t>
            </a:r>
          </a:p>
        </p:txBody>
      </p:sp>
      <p:sp>
        <p:nvSpPr>
          <p:cNvPr id="23" name="TextBox 22"/>
          <p:cNvSpPr txBox="1"/>
          <p:nvPr/>
        </p:nvSpPr>
        <p:spPr>
          <a:xfrm>
            <a:off x="6318504" y="2240280"/>
            <a:ext cx="2286000" cy="658368"/>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오라클 2코어 · 12GB 하루 약 3,000건 · 비용 계획에 반영</a:t>
            </a:r>
          </a:p>
        </p:txBody>
      </p:sp>
      <p:sp>
        <p:nvSpPr>
          <p:cNvPr id="24" name="Rounded Rectangle 23"/>
          <p:cNvSpPr/>
          <p:nvPr/>
        </p:nvSpPr>
        <p:spPr>
          <a:xfrm>
            <a:off x="8860536" y="1828800"/>
            <a:ext cx="2606040" cy="1097280"/>
          </a:xfrm>
          <a:prstGeom prst="roundRect">
            <a:avLst>
              <a:gd name="adj" fmla="val 1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3415" y="1901952"/>
            <a:ext cx="2286000" cy="320040"/>
          </a:xfrm>
          <a:prstGeom prst="rect">
            <a:avLst/>
          </a:prstGeom>
          <a:noFill/>
        </p:spPr>
        <p:txBody>
          <a:bodyPr wrap="square" anchor="t" lIns="0" rIns="0" tIns="0" bIns="0">
            <a:spAutoFit/>
          </a:bodyPr>
          <a:lstStyle/>
          <a:p>
            <a:pPr algn="l"/>
            <a:r>
              <a:rPr sz="1150" b="1">
                <a:solidFill>
                  <a:srgbClr val="2E6047"/>
                </a:solidFill>
                <a:latin typeface="맑은 고딕"/>
              </a:rPr>
              <a:t>✓  빈 답: 제품은 이미 막혀 있음</a:t>
            </a:r>
          </a:p>
        </p:txBody>
      </p:sp>
      <p:sp>
        <p:nvSpPr>
          <p:cNvPr id="26" name="TextBox 25"/>
          <p:cNvSpPr txBox="1"/>
          <p:nvPr/>
        </p:nvSpPr>
        <p:spPr>
          <a:xfrm>
            <a:off x="9043415" y="2240280"/>
            <a:ext cx="2286000" cy="658368"/>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제품 호출은 생각 모드를 끄고 있음 · x600 서버에서 재현 확인 0/20 대 20/20</a:t>
            </a:r>
          </a:p>
        </p:txBody>
      </p:sp>
      <p:sp>
        <p:nvSpPr>
          <p:cNvPr id="27" name="TextBox 26"/>
          <p:cNvSpPr txBox="1"/>
          <p:nvPr/>
        </p:nvSpPr>
        <p:spPr>
          <a:xfrm>
            <a:off x="685800" y="3108960"/>
            <a:ext cx="3657600" cy="274320"/>
          </a:xfrm>
          <a:prstGeom prst="rect">
            <a:avLst/>
          </a:prstGeom>
          <a:noFill/>
        </p:spPr>
        <p:txBody>
          <a:bodyPr wrap="square" anchor="t" lIns="0" rIns="0" tIns="0" bIns="0">
            <a:spAutoFit/>
          </a:bodyPr>
          <a:lstStyle/>
          <a:p>
            <a:pPr algn="l"/>
            <a:r>
              <a:rPr sz="1200" b="1" spc="50">
                <a:solidFill>
                  <a:srgbClr val="965640"/>
                </a:solidFill>
                <a:latin typeface="맑은 고딕"/>
              </a:rPr>
              <a:t>남은 것</a:t>
            </a:r>
          </a:p>
        </p:txBody>
      </p:sp>
      <p:sp>
        <p:nvSpPr>
          <p:cNvPr id="28" name="TextBox 27"/>
          <p:cNvSpPr txBox="1"/>
          <p:nvPr/>
        </p:nvSpPr>
        <p:spPr>
          <a:xfrm>
            <a:off x="685800" y="3429000"/>
            <a:ext cx="1554480" cy="457200"/>
          </a:xfrm>
          <a:prstGeom prst="rect">
            <a:avLst/>
          </a:prstGeom>
          <a:noFill/>
        </p:spPr>
        <p:txBody>
          <a:bodyPr wrap="square" anchor="t" lIns="0" rIns="0" tIns="0" bIns="0">
            <a:spAutoFit/>
          </a:bodyPr>
          <a:lstStyle/>
          <a:p>
            <a:pPr algn="l"/>
            <a:r>
              <a:rPr sz="2000" b="1" spc="-30">
                <a:solidFill>
                  <a:srgbClr val="965640"/>
                </a:solidFill>
                <a:latin typeface="맑은 고딕"/>
              </a:rPr>
              <a:t>측정 중</a:t>
            </a:r>
          </a:p>
        </p:txBody>
      </p:sp>
      <p:sp>
        <p:nvSpPr>
          <p:cNvPr id="29" name="TextBox 28"/>
          <p:cNvSpPr txBox="1"/>
          <p:nvPr/>
        </p:nvSpPr>
        <p:spPr>
          <a:xfrm>
            <a:off x="2331720" y="3447288"/>
            <a:ext cx="7132320" cy="274320"/>
          </a:xfrm>
          <a:prstGeom prst="rect">
            <a:avLst/>
          </a:prstGeom>
          <a:noFill/>
        </p:spPr>
        <p:txBody>
          <a:bodyPr wrap="square" anchor="t" lIns="0" rIns="0" tIns="0" bIns="0">
            <a:spAutoFit/>
          </a:bodyPr>
          <a:lstStyle/>
          <a:p>
            <a:pPr algn="l"/>
            <a:r>
              <a:rPr sz="1250" b="1">
                <a:solidFill>
                  <a:srgbClr val="24392F"/>
                </a:solidFill>
                <a:latin typeface="맑은 고딕"/>
              </a:rPr>
              <a:t>오응답: 실제 제품 경로로 재기</a:t>
            </a:r>
          </a:p>
        </p:txBody>
      </p:sp>
      <p:sp>
        <p:nvSpPr>
          <p:cNvPr id="30" name="TextBox 29"/>
          <p:cNvSpPr txBox="1"/>
          <p:nvPr/>
        </p:nvSpPr>
        <p:spPr>
          <a:xfrm>
            <a:off x="2331720" y="3703320"/>
            <a:ext cx="7223760" cy="274320"/>
          </a:xfrm>
          <a:prstGeom prst="rect">
            <a:avLst/>
          </a:prstGeom>
          <a:noFill/>
        </p:spPr>
        <p:txBody>
          <a:bodyPr wrap="square" anchor="t" lIns="0" rIns="0" tIns="0" bIns="0">
            <a:spAutoFit/>
          </a:bodyPr>
          <a:lstStyle/>
          <a:p>
            <a:pPr algn="l"/>
            <a:r>
              <a:rPr sz="950" b="0">
                <a:solidFill>
                  <a:srgbClr val="526858"/>
                </a:solidFill>
                <a:latin typeface="맑은 고딕"/>
              </a:rPr>
              <a:t>의도 분류기를 거친 경로로는 아직 안 잼 · 규정 답 전용 검증 단계 없음</a:t>
            </a:r>
          </a:p>
        </p:txBody>
      </p:sp>
      <p:sp>
        <p:nvSpPr>
          <p:cNvPr id="31" name="Rounded Rectangle 30"/>
          <p:cNvSpPr/>
          <p:nvPr/>
        </p:nvSpPr>
        <p:spPr>
          <a:xfrm>
            <a:off x="10131552" y="3502152"/>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31552" y="3502152"/>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RAG</a:t>
            </a:r>
          </a:p>
        </p:txBody>
      </p:sp>
      <p:cxnSp>
        <p:nvCxnSpPr>
          <p:cNvPr id="33" name="Connector 32"/>
          <p:cNvCxnSpPr/>
          <p:nvPr/>
        </p:nvCxnSpPr>
        <p:spPr>
          <a:xfrm>
            <a:off x="685800" y="3941064"/>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3995928"/>
            <a:ext cx="1554480" cy="457200"/>
          </a:xfrm>
          <a:prstGeom prst="rect">
            <a:avLst/>
          </a:prstGeom>
          <a:noFill/>
        </p:spPr>
        <p:txBody>
          <a:bodyPr wrap="square" anchor="t" lIns="0" rIns="0" tIns="0" bIns="0">
            <a:spAutoFit/>
          </a:bodyPr>
          <a:lstStyle/>
          <a:p>
            <a:pPr algn="l"/>
            <a:r>
              <a:rPr sz="2000" b="1" spc="-30">
                <a:solidFill>
                  <a:srgbClr val="82693E"/>
                </a:solidFill>
                <a:latin typeface="맑은 고딕"/>
              </a:rPr>
              <a:t>92.6%</a:t>
            </a:r>
          </a:p>
        </p:txBody>
      </p:sp>
      <p:sp>
        <p:nvSpPr>
          <p:cNvPr id="35" name="TextBox 34"/>
          <p:cNvSpPr txBox="1"/>
          <p:nvPr/>
        </p:nvSpPr>
        <p:spPr>
          <a:xfrm>
            <a:off x="2331720" y="4014215"/>
            <a:ext cx="7132320" cy="274320"/>
          </a:xfrm>
          <a:prstGeom prst="rect">
            <a:avLst/>
          </a:prstGeom>
          <a:noFill/>
        </p:spPr>
        <p:txBody>
          <a:bodyPr wrap="square" anchor="t" lIns="0" rIns="0" tIns="0" bIns="0">
            <a:spAutoFit/>
          </a:bodyPr>
          <a:lstStyle/>
          <a:p>
            <a:pPr algn="l"/>
            <a:r>
              <a:rPr sz="1250" b="1">
                <a:solidFill>
                  <a:srgbClr val="24392F"/>
                </a:solidFill>
                <a:latin typeface="맑은 고딕"/>
              </a:rPr>
              <a:t>규정 검색 재순위 개선 제품 반영</a:t>
            </a:r>
          </a:p>
        </p:txBody>
      </p:sp>
      <p:sp>
        <p:nvSpPr>
          <p:cNvPr id="36" name="TextBox 35"/>
          <p:cNvSpPr txBox="1"/>
          <p:nvPr/>
        </p:nvSpPr>
        <p:spPr>
          <a:xfrm>
            <a:off x="2331720" y="4270248"/>
            <a:ext cx="7223760" cy="274320"/>
          </a:xfrm>
          <a:prstGeom prst="rect">
            <a:avLst/>
          </a:prstGeom>
          <a:noFill/>
        </p:spPr>
        <p:txBody>
          <a:bodyPr wrap="square" anchor="t" lIns="0" rIns="0" tIns="0" bIns="0">
            <a:spAutoFit/>
          </a:bodyPr>
          <a:lstStyle/>
          <a:p>
            <a:pPr algn="l"/>
            <a:r>
              <a:rPr sz="950" b="0">
                <a:solidFill>
                  <a:srgbClr val="526858"/>
                </a:solidFill>
                <a:latin typeface="맑은 고딕"/>
              </a:rPr>
              <a:t>보류 세트 Recall@3 63/68 로 목표 90% 달성 확인 · 제품은 아직 62.5%</a:t>
            </a:r>
          </a:p>
        </p:txBody>
      </p:sp>
      <p:sp>
        <p:nvSpPr>
          <p:cNvPr id="37" name="Rounded Rectangle 36"/>
          <p:cNvSpPr/>
          <p:nvPr/>
        </p:nvSpPr>
        <p:spPr>
          <a:xfrm>
            <a:off x="10131552" y="4069080"/>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31552" y="4069080"/>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RAG · cs</a:t>
            </a:r>
          </a:p>
        </p:txBody>
      </p:sp>
      <p:cxnSp>
        <p:nvCxnSpPr>
          <p:cNvPr id="39" name="Connector 38"/>
          <p:cNvCxnSpPr/>
          <p:nvPr/>
        </p:nvCxnSpPr>
        <p:spPr>
          <a:xfrm>
            <a:off x="685800" y="4507992"/>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 y="4562856"/>
            <a:ext cx="1554480" cy="457200"/>
          </a:xfrm>
          <a:prstGeom prst="rect">
            <a:avLst/>
          </a:prstGeom>
          <a:noFill/>
        </p:spPr>
        <p:txBody>
          <a:bodyPr wrap="square" anchor="t" lIns="0" rIns="0" tIns="0" bIns="0">
            <a:spAutoFit/>
          </a:bodyPr>
          <a:lstStyle/>
          <a:p>
            <a:pPr algn="l"/>
            <a:r>
              <a:rPr sz="2000" b="1" spc="-30">
                <a:solidFill>
                  <a:srgbClr val="965640"/>
                </a:solidFill>
                <a:latin typeface="맑은 고딕"/>
              </a:rPr>
              <a:t>1/172</a:t>
            </a:r>
          </a:p>
        </p:txBody>
      </p:sp>
      <p:sp>
        <p:nvSpPr>
          <p:cNvPr id="41" name="TextBox 40"/>
          <p:cNvSpPr txBox="1"/>
          <p:nvPr/>
        </p:nvSpPr>
        <p:spPr>
          <a:xfrm>
            <a:off x="2331720" y="4581144"/>
            <a:ext cx="7132320" cy="274320"/>
          </a:xfrm>
          <a:prstGeom prst="rect">
            <a:avLst/>
          </a:prstGeom>
          <a:noFill/>
        </p:spPr>
        <p:txBody>
          <a:bodyPr wrap="square" anchor="t" lIns="0" rIns="0" tIns="0" bIns="0">
            <a:spAutoFit/>
          </a:bodyPr>
          <a:lstStyle/>
          <a:p>
            <a:pPr algn="l"/>
            <a:r>
              <a:rPr sz="1250" b="1">
                <a:solidFill>
                  <a:srgbClr val="24392F"/>
                </a:solidFill>
                <a:latin typeface="맑은 고딕"/>
              </a:rPr>
              <a:t>엉뚱한 일정을 바꾸려 함</a:t>
            </a:r>
          </a:p>
        </p:txBody>
      </p:sp>
      <p:sp>
        <p:nvSpPr>
          <p:cNvPr id="42" name="TextBox 41"/>
          <p:cNvSpPr txBox="1"/>
          <p:nvPr/>
        </p:nvSpPr>
        <p:spPr>
          <a:xfrm>
            <a:off x="2331720" y="4837176"/>
            <a:ext cx="7223760" cy="274320"/>
          </a:xfrm>
          <a:prstGeom prst="rect">
            <a:avLst/>
          </a:prstGeom>
          <a:noFill/>
        </p:spPr>
        <p:txBody>
          <a:bodyPr wrap="square" anchor="t" lIns="0" rIns="0" tIns="0" bIns="0">
            <a:spAutoFit/>
          </a:bodyPr>
          <a:lstStyle/>
          <a:p>
            <a:pPr algn="l"/>
            <a:r>
              <a:rPr sz="950" b="0">
                <a:solidFill>
                  <a:srgbClr val="526858"/>
                </a:solidFill>
                <a:latin typeface="맑은 고딕"/>
              </a:rPr>
              <a:t>대상 확인 안전장치를 다른 세션이 만드는 중 · pass^3 91.3%</a:t>
            </a:r>
          </a:p>
        </p:txBody>
      </p:sp>
      <p:sp>
        <p:nvSpPr>
          <p:cNvPr id="43" name="Rounded Rectangle 42"/>
          <p:cNvSpPr/>
          <p:nvPr/>
        </p:nvSpPr>
        <p:spPr>
          <a:xfrm>
            <a:off x="10131552" y="4636008"/>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31552" y="4636008"/>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진행 중</a:t>
            </a:r>
          </a:p>
        </p:txBody>
      </p:sp>
      <p:cxnSp>
        <p:nvCxnSpPr>
          <p:cNvPr id="45" name="Connector 44"/>
          <p:cNvCxnSpPr/>
          <p:nvPr/>
        </p:nvCxnSpPr>
        <p:spPr>
          <a:xfrm>
            <a:off x="685800" y="5074920"/>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5800" y="5129783"/>
            <a:ext cx="1554480" cy="457200"/>
          </a:xfrm>
          <a:prstGeom prst="rect">
            <a:avLst/>
          </a:prstGeom>
          <a:noFill/>
        </p:spPr>
        <p:txBody>
          <a:bodyPr wrap="square" anchor="t" lIns="0" rIns="0" tIns="0" bIns="0">
            <a:spAutoFit/>
          </a:bodyPr>
          <a:lstStyle/>
          <a:p>
            <a:pPr algn="l"/>
            <a:r>
              <a:rPr sz="2000" b="1" spc="-30">
                <a:solidFill>
                  <a:srgbClr val="965640"/>
                </a:solidFill>
                <a:latin typeface="맑은 고딕"/>
              </a:rPr>
              <a:t>12/350</a:t>
            </a:r>
          </a:p>
        </p:txBody>
      </p:sp>
      <p:sp>
        <p:nvSpPr>
          <p:cNvPr id="47" name="TextBox 46"/>
          <p:cNvSpPr txBox="1"/>
          <p:nvPr/>
        </p:nvSpPr>
        <p:spPr>
          <a:xfrm>
            <a:off x="2331720" y="5148071"/>
            <a:ext cx="7132320" cy="274320"/>
          </a:xfrm>
          <a:prstGeom prst="rect">
            <a:avLst/>
          </a:prstGeom>
          <a:noFill/>
        </p:spPr>
        <p:txBody>
          <a:bodyPr wrap="square" anchor="t" lIns="0" rIns="0" tIns="0" bIns="0">
            <a:spAutoFit/>
          </a:bodyPr>
          <a:lstStyle/>
          <a:p>
            <a:pPr algn="l"/>
            <a:r>
              <a:rPr sz="1250" b="1">
                <a:solidFill>
                  <a:srgbClr val="24392F"/>
                </a:solidFill>
                <a:latin typeface="맑은 고딕"/>
              </a:rPr>
              <a:t>계획 읽기 글자 오독(사진 · 스캔)</a:t>
            </a:r>
          </a:p>
        </p:txBody>
      </p:sp>
      <p:sp>
        <p:nvSpPr>
          <p:cNvPr id="48" name="TextBox 47"/>
          <p:cNvSpPr txBox="1"/>
          <p:nvPr/>
        </p:nvSpPr>
        <p:spPr>
          <a:xfrm>
            <a:off x="2331720" y="5404103"/>
            <a:ext cx="7223760" cy="274320"/>
          </a:xfrm>
          <a:prstGeom prst="rect">
            <a:avLst/>
          </a:prstGeom>
          <a:noFill/>
        </p:spPr>
        <p:txBody>
          <a:bodyPr wrap="square" anchor="t" lIns="0" rIns="0" tIns="0" bIns="0">
            <a:spAutoFit/>
          </a:bodyPr>
          <a:lstStyle/>
          <a:p>
            <a:pPr algn="l"/>
            <a:r>
              <a:rPr sz="950" b="0">
                <a:solidFill>
                  <a:srgbClr val="526858"/>
                </a:solidFill>
                <a:latin typeface="맑은 고딕"/>
              </a:rPr>
              <a:t>창경궁 → 청경궁 같은 받아쓰기 오독 · 두 받아쓰기를 맞춰 보는 방식으로 고치는 중</a:t>
            </a:r>
          </a:p>
        </p:txBody>
      </p:sp>
      <p:sp>
        <p:nvSpPr>
          <p:cNvPr id="49" name="Rounded Rectangle 48"/>
          <p:cNvSpPr/>
          <p:nvPr/>
        </p:nvSpPr>
        <p:spPr>
          <a:xfrm>
            <a:off x="10131552" y="5202936"/>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31552" y="5202936"/>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진행 중</a:t>
            </a:r>
          </a:p>
        </p:txBody>
      </p:sp>
      <p:cxnSp>
        <p:nvCxnSpPr>
          <p:cNvPr id="51" name="Connector 50"/>
          <p:cNvCxnSpPr/>
          <p:nvPr/>
        </p:nvCxnSpPr>
        <p:spPr>
          <a:xfrm>
            <a:off x="685800" y="5641848"/>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85800" y="5696712"/>
            <a:ext cx="1554480" cy="457200"/>
          </a:xfrm>
          <a:prstGeom prst="rect">
            <a:avLst/>
          </a:prstGeom>
          <a:noFill/>
        </p:spPr>
        <p:txBody>
          <a:bodyPr wrap="square" anchor="t" lIns="0" rIns="0" tIns="0" bIns="0">
            <a:spAutoFit/>
          </a:bodyPr>
          <a:lstStyle/>
          <a:p>
            <a:pPr algn="l"/>
            <a:r>
              <a:rPr sz="2000" b="1" spc="-30">
                <a:solidFill>
                  <a:srgbClr val="965640"/>
                </a:solidFill>
                <a:latin typeface="맑은 고딕"/>
              </a:rPr>
              <a:t>일부</a:t>
            </a:r>
          </a:p>
        </p:txBody>
      </p:sp>
      <p:sp>
        <p:nvSpPr>
          <p:cNvPr id="53" name="TextBox 52"/>
          <p:cNvSpPr txBox="1"/>
          <p:nvPr/>
        </p:nvSpPr>
        <p:spPr>
          <a:xfrm>
            <a:off x="2331720" y="5715000"/>
            <a:ext cx="7132320" cy="274320"/>
          </a:xfrm>
          <a:prstGeom prst="rect">
            <a:avLst/>
          </a:prstGeom>
          <a:noFill/>
        </p:spPr>
        <p:txBody>
          <a:bodyPr wrap="square" anchor="t" lIns="0" rIns="0" tIns="0" bIns="0">
            <a:spAutoFit/>
          </a:bodyPr>
          <a:lstStyle/>
          <a:p>
            <a:pPr algn="l"/>
            <a:r>
              <a:rPr sz="1250" b="1">
                <a:solidFill>
                  <a:srgbClr val="24392F"/>
                </a:solidFill>
                <a:latin typeface="맑은 고딕"/>
              </a:rPr>
              <a:t>실서버: 실제 사용자 흐름</a:t>
            </a:r>
          </a:p>
        </p:txBody>
      </p:sp>
      <p:sp>
        <p:nvSpPr>
          <p:cNvPr id="54" name="TextBox 53"/>
          <p:cNvSpPr txBox="1"/>
          <p:nvPr/>
        </p:nvSpPr>
        <p:spPr>
          <a:xfrm>
            <a:off x="2331720" y="5971032"/>
            <a:ext cx="7223760" cy="274320"/>
          </a:xfrm>
          <a:prstGeom prst="rect">
            <a:avLst/>
          </a:prstGeom>
          <a:noFill/>
        </p:spPr>
        <p:txBody>
          <a:bodyPr wrap="square" anchor="t" lIns="0" rIns="0" tIns="0" bIns="0">
            <a:spAutoFit/>
          </a:bodyPr>
          <a:lstStyle/>
          <a:p>
            <a:pPr algn="l"/>
            <a:r>
              <a:rPr sz="950" b="0">
                <a:solidFill>
                  <a:srgbClr val="526858"/>
                </a:solidFill>
                <a:latin typeface="맑은 고딕"/>
              </a:rPr>
              <a:t>서버 응답 · 웹 경로 55개 · 재난 뒤 패널은 확인 · 로그인 · 여행 만들기는 시험 여행 허락 필요</a:t>
            </a:r>
          </a:p>
        </p:txBody>
      </p:sp>
      <p:sp>
        <p:nvSpPr>
          <p:cNvPr id="55" name="Rounded Rectangle 54"/>
          <p:cNvSpPr/>
          <p:nvPr/>
        </p:nvSpPr>
        <p:spPr>
          <a:xfrm>
            <a:off x="10131552" y="5769864"/>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131552" y="5769864"/>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결정 필요</a:t>
            </a:r>
          </a:p>
        </p:txBody>
      </p:sp>
      <p:sp>
        <p:nvSpPr>
          <p:cNvPr id="57" name="TextBox 56"/>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RAG = 측정 · 모델 담당 세션, cs = cs 프로젝트 구축 세션(제품 코드). 계획 읽기 12건은 모델이 지어낸 값이 아니라 글자 오독이었습니다(근거 없는 값은 0/1,828). 값은 AI 가 쓴 합성 시험 기준.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pic>
        <p:nvPicPr>
          <p:cNvPr id="2" name="Picture 1" descr="tripilot-home-03-journey.png"/>
          <p:cNvPicPr>
            <a:picLocks noChangeAspect="1"/>
          </p:cNvPicPr>
          <p:nvPr/>
        </p:nvPicPr>
        <p:blipFill>
          <a:blip r:embed="rId2"/>
          <a:stretch>
            <a:fillRect/>
          </a:stretch>
        </p:blipFill>
        <p:spPr>
          <a:xfrm>
            <a:off x="0" y="0"/>
            <a:ext cx="12191695" cy="6861474"/>
          </a:xfrm>
          <a:prstGeom prst="rect">
            <a:avLst/>
          </a:prstGeom>
        </p:spPr>
      </p:pic>
      <p:pic>
        <p:nvPicPr>
          <p:cNvPr id="3" name="Picture 2" descr="veil_full.png"/>
          <p:cNvPicPr>
            <a:picLocks noChangeAspect="1"/>
          </p:cNvPicPr>
          <p:nvPr/>
        </p:nvPicPr>
        <p:blipFill>
          <a:blip r:embed="rId3"/>
          <a:stretch>
            <a:fillRect/>
          </a:stretch>
        </p:blipFill>
        <p:spPr>
          <a:xfrm>
            <a:off x="0" y="0"/>
            <a:ext cx="12191695" cy="6857828"/>
          </a:xfrm>
          <a:prstGeom prst="rect">
            <a:avLst/>
          </a:prstGeom>
        </p:spPr>
      </p:pic>
      <p:sp>
        <p:nvSpPr>
          <p:cNvPr id="4" name="Rounded Rectangle 3"/>
          <p:cNvSpPr/>
          <p:nvPr/>
        </p:nvSpPr>
        <p:spPr>
          <a:xfrm>
            <a:off x="10500055" y="365760"/>
            <a:ext cx="950976"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00055" y="365760"/>
            <a:ext cx="950976" cy="274320"/>
          </a:xfrm>
          <a:prstGeom prst="rect">
            <a:avLst/>
          </a:prstGeom>
          <a:noFill/>
        </p:spPr>
        <p:txBody>
          <a:bodyPr wrap="square" anchor="ctr" lIns="0" rIns="0" tIns="0" bIns="0">
            <a:spAutoFit/>
          </a:bodyPr>
          <a:lstStyle/>
          <a:p>
            <a:pPr algn="ctr"/>
            <a:r>
              <a:rPr sz="950" b="1">
                <a:solidFill>
                  <a:srgbClr val="FFFFFF"/>
                </a:solidFill>
                <a:latin typeface="맑은 고딕"/>
              </a:rPr>
              <a:t>05 남은 일</a:t>
            </a:r>
          </a:p>
        </p:txBody>
      </p:sp>
      <p:sp>
        <p:nvSpPr>
          <p:cNvPr id="6" name="Rounded Rectangle 5"/>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8" name="Rounded Rectangle 7"/>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10" name="Rounded Rectangle 9"/>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2" name="Rounded Rectangle 11"/>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4" name="TextBox 13"/>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NEXT WEEK</a:t>
            </a:r>
          </a:p>
        </p:txBody>
      </p:sp>
      <p:sp>
        <p:nvSpPr>
          <p:cNvPr id="15" name="TextBox 14"/>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다음 주에는 오응답을 실제 경로에서 재고 모델로 줄입니다</a:t>
            </a:r>
          </a:p>
        </p:txBody>
      </p:sp>
      <p:sp>
        <p:nvSpPr>
          <p:cNvPr id="16" name="TextBox 15"/>
          <p:cNvSpPr txBox="1"/>
          <p:nvPr/>
        </p:nvSpPr>
        <p:spPr>
          <a:xfrm>
            <a:off x="685800" y="1600200"/>
            <a:ext cx="4572000" cy="274320"/>
          </a:xfrm>
          <a:prstGeom prst="rect">
            <a:avLst/>
          </a:prstGeom>
          <a:noFill/>
        </p:spPr>
        <p:txBody>
          <a:bodyPr wrap="square" anchor="t" lIns="0" rIns="0" tIns="0" bIns="0">
            <a:spAutoFit/>
          </a:bodyPr>
          <a:lstStyle/>
          <a:p>
            <a:pPr algn="l"/>
            <a:r>
              <a:rPr sz="1100" b="1" spc="100">
                <a:solidFill>
                  <a:srgbClr val="6D7C73"/>
                </a:solidFill>
                <a:latin typeface="맑은 고딕"/>
              </a:rPr>
              <a:t>지금 막힌 것</a:t>
            </a:r>
          </a:p>
        </p:txBody>
      </p:sp>
      <p:sp>
        <p:nvSpPr>
          <p:cNvPr id="17" name="TextBox 16"/>
          <p:cNvSpPr txBox="1"/>
          <p:nvPr/>
        </p:nvSpPr>
        <p:spPr>
          <a:xfrm>
            <a:off x="5806440" y="1600200"/>
            <a:ext cx="5486400" cy="274320"/>
          </a:xfrm>
          <a:prstGeom prst="rect">
            <a:avLst/>
          </a:prstGeom>
          <a:noFill/>
        </p:spPr>
        <p:txBody>
          <a:bodyPr wrap="square" anchor="t" lIns="0" rIns="0" tIns="0" bIns="0">
            <a:spAutoFit/>
          </a:bodyPr>
          <a:lstStyle/>
          <a:p>
            <a:pPr algn="l"/>
            <a:r>
              <a:rPr sz="1100" b="1" spc="100">
                <a:solidFill>
                  <a:srgbClr val="2E6047"/>
                </a:solidFill>
                <a:latin typeface="맑은 고딕"/>
              </a:rPr>
              <a:t>다음 주에 할 것</a:t>
            </a:r>
          </a:p>
        </p:txBody>
      </p:sp>
      <p:sp>
        <p:nvSpPr>
          <p:cNvPr id="18" name="Rounded Rectangle 17"/>
          <p:cNvSpPr/>
          <p:nvPr/>
        </p:nvSpPr>
        <p:spPr>
          <a:xfrm>
            <a:off x="685800" y="1965960"/>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1965960"/>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오응답: 실제 경로 미측정</a:t>
            </a:r>
          </a:p>
        </p:txBody>
      </p:sp>
      <p:sp>
        <p:nvSpPr>
          <p:cNvPr id="20" name="TextBox 19"/>
          <p:cNvSpPr txBox="1"/>
          <p:nvPr/>
        </p:nvSpPr>
        <p:spPr>
          <a:xfrm>
            <a:off x="5303520" y="1965960"/>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21" name="Rounded Rectangle 20"/>
          <p:cNvSpPr/>
          <p:nvPr/>
        </p:nvSpPr>
        <p:spPr>
          <a:xfrm>
            <a:off x="5806440" y="1965960"/>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1965960"/>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분류기를 거친 제품 경로로 정밀도 · 재현율 · 오응답률 측정  ·  RAG</a:t>
            </a:r>
          </a:p>
        </p:txBody>
      </p:sp>
      <p:sp>
        <p:nvSpPr>
          <p:cNvPr id="23" name="Rounded Rectangle 22"/>
          <p:cNvSpPr/>
          <p:nvPr/>
        </p:nvSpPr>
        <p:spPr>
          <a:xfrm>
            <a:off x="685800" y="2807208"/>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07208"/>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규정 답 전용 검증 단계 없음</a:t>
            </a:r>
          </a:p>
        </p:txBody>
      </p:sp>
      <p:sp>
        <p:nvSpPr>
          <p:cNvPr id="25" name="TextBox 24"/>
          <p:cNvSpPr txBox="1"/>
          <p:nvPr/>
        </p:nvSpPr>
        <p:spPr>
          <a:xfrm>
            <a:off x="5303520" y="2807208"/>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26" name="Rounded Rectangle 25"/>
          <p:cNvSpPr/>
          <p:nvPr/>
        </p:nvSpPr>
        <p:spPr>
          <a:xfrm>
            <a:off x="5806440" y="2807208"/>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2807208"/>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답 직전 관련성 판정 · 문장 모순 검사 추가  ·  RAG · cs</a:t>
            </a:r>
          </a:p>
        </p:txBody>
      </p:sp>
      <p:sp>
        <p:nvSpPr>
          <p:cNvPr id="28" name="Rounded Rectangle 27"/>
          <p:cNvSpPr/>
          <p:nvPr/>
        </p:nvSpPr>
        <p:spPr>
          <a:xfrm>
            <a:off x="685800" y="3648456"/>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648456"/>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규칙 · 문턱에 기대는 거름</a:t>
            </a:r>
          </a:p>
        </p:txBody>
      </p:sp>
      <p:sp>
        <p:nvSpPr>
          <p:cNvPr id="30" name="TextBox 29"/>
          <p:cNvSpPr txBox="1"/>
          <p:nvPr/>
        </p:nvSpPr>
        <p:spPr>
          <a:xfrm>
            <a:off x="5303520" y="3648456"/>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31" name="Rounded Rectangle 30"/>
          <p:cNvSpPr/>
          <p:nvPr/>
        </p:nvSpPr>
        <p:spPr>
          <a:xfrm>
            <a:off x="5806440" y="3648456"/>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35040" y="3648456"/>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음성 예시로 분류기 재학습 · 관련성 판정 모델 학습  ·  RAG</a:t>
            </a:r>
          </a:p>
        </p:txBody>
      </p:sp>
      <p:sp>
        <p:nvSpPr>
          <p:cNvPr id="33" name="Rounded Rectangle 32"/>
          <p:cNvSpPr/>
          <p:nvPr/>
        </p:nvSpPr>
        <p:spPr>
          <a:xfrm>
            <a:off x="685800" y="4489704"/>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489704"/>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개선 · 실서버 확인이 덜 끝남</a:t>
            </a:r>
          </a:p>
        </p:txBody>
      </p:sp>
      <p:sp>
        <p:nvSpPr>
          <p:cNvPr id="35" name="TextBox 34"/>
          <p:cNvSpPr txBox="1"/>
          <p:nvPr/>
        </p:nvSpPr>
        <p:spPr>
          <a:xfrm>
            <a:off x="5303520" y="4489704"/>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36" name="Rounded Rectangle 35"/>
          <p:cNvSpPr/>
          <p:nvPr/>
        </p:nvSpPr>
        <p:spPr>
          <a:xfrm>
            <a:off x="5806440" y="4489704"/>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0" y="4489704"/>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재순위 검색 제품 반영 · 대상 안전장치 · 받아쓰기 오독 · 사용자 흐름 확인  ·  cs</a:t>
            </a:r>
          </a:p>
        </p:txBody>
      </p:sp>
      <p:sp>
        <p:nvSpPr>
          <p:cNvPr id="38" name="Rounded Rectangle 37"/>
          <p:cNvSpPr/>
          <p:nvPr/>
        </p:nvSpPr>
        <p:spPr>
          <a:xfrm>
            <a:off x="685800" y="5330952"/>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330952"/>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D 시험 · 모델 순위 미정</a:t>
            </a:r>
          </a:p>
        </p:txBody>
      </p:sp>
      <p:sp>
        <p:nvSpPr>
          <p:cNvPr id="40" name="TextBox 39"/>
          <p:cNvSpPr txBox="1"/>
          <p:nvPr/>
        </p:nvSpPr>
        <p:spPr>
          <a:xfrm>
            <a:off x="5303520" y="5330952"/>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41" name="Rounded Rectangle 40"/>
          <p:cNvSpPr/>
          <p:nvPr/>
        </p:nvSpPr>
        <p:spPr>
          <a:xfrm>
            <a:off x="5806440" y="5330952"/>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5330952"/>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다른 모델 D 측정 · 시드 3개 이상 · Plumb-4B 등 비교  ·  RAG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TextBox 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APPENDIX</a:t>
            </a:r>
          </a:p>
        </p:txBody>
      </p:sp>
      <p:sp>
        <p:nvSpPr>
          <p:cNvPr id="3" name="TextBox 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이 발표의 시험 · 자료 · 구성 이름</a:t>
            </a:r>
          </a:p>
        </p:txBody>
      </p:sp>
      <p:sp>
        <p:nvSpPr>
          <p:cNvPr id="4" name="TextBox 3"/>
          <p:cNvSpPr txBox="1"/>
          <p:nvPr/>
        </p:nvSpPr>
        <p:spPr>
          <a:xfrm>
            <a:off x="685800" y="1371600"/>
            <a:ext cx="10817352" cy="365760"/>
          </a:xfrm>
          <a:prstGeom prst="rect">
            <a:avLst/>
          </a:prstGeom>
          <a:noFill/>
        </p:spPr>
        <p:txBody>
          <a:bodyPr wrap="square" anchor="t" lIns="0" rIns="0" tIns="0" bIns="0">
            <a:spAutoFit/>
          </a:bodyPr>
          <a:lstStyle/>
          <a:p>
            <a:pPr algn="l"/>
            <a:r>
              <a:rPr sz="1300" b="0">
                <a:solidFill>
                  <a:srgbClr val="6D7C73"/>
                </a:solidFill>
                <a:latin typeface="맑은 고딕"/>
              </a:rPr>
              <a:t>팀이 붙인 이름만 모았습니다. 표준 기술 용어는 풀지 않았습니다.</a:t>
            </a:r>
          </a:p>
        </p:txBody>
      </p:sp>
      <p:sp>
        <p:nvSpPr>
          <p:cNvPr id="5" name="TextBox 4"/>
          <p:cNvSpPr txBox="1"/>
          <p:nvPr/>
        </p:nvSpPr>
        <p:spPr>
          <a:xfrm>
            <a:off x="685800" y="1865376"/>
            <a:ext cx="1828800" cy="384048"/>
          </a:xfrm>
          <a:prstGeom prst="rect">
            <a:avLst/>
          </a:prstGeom>
          <a:noFill/>
        </p:spPr>
        <p:txBody>
          <a:bodyPr wrap="square" anchor="t" lIns="0" rIns="0" tIns="0" bIns="0">
            <a:spAutoFit/>
          </a:bodyPr>
          <a:lstStyle/>
          <a:p>
            <a:pPr algn="l"/>
            <a:r>
              <a:rPr sz="1150" b="1">
                <a:solidFill>
                  <a:srgbClr val="2E6047"/>
                </a:solidFill>
                <a:latin typeface="맑은 고딕"/>
              </a:rPr>
              <a:t>mock 서버</a:t>
            </a:r>
          </a:p>
        </p:txBody>
      </p:sp>
      <p:sp>
        <p:nvSpPr>
          <p:cNvPr id="6" name="TextBox 5"/>
          <p:cNvSpPr txBox="1"/>
          <p:nvPr/>
        </p:nvSpPr>
        <p:spPr>
          <a:xfrm>
            <a:off x="2560320" y="1865376"/>
            <a:ext cx="3383280" cy="411480"/>
          </a:xfrm>
          <a:prstGeom prst="rect">
            <a:avLst/>
          </a:prstGeom>
          <a:noFill/>
        </p:spPr>
        <p:txBody>
          <a:bodyPr wrap="square" anchor="t" lIns="0" rIns="0" tIns="0" bIns="0">
            <a:spAutoFit/>
          </a:bodyPr>
          <a:lstStyle/>
          <a:p>
            <a:pPr algn="l"/>
            <a:r>
              <a:rPr sz="1050" b="0">
                <a:solidFill>
                  <a:srgbClr val="24392F"/>
                </a:solidFill>
                <a:latin typeface="맑은 고딕"/>
              </a:rPr>
              <a:t>서버 응답 모양만 흉내 내는 시험용 대역 서버</a:t>
            </a:r>
          </a:p>
        </p:txBody>
      </p:sp>
      <p:cxnSp>
        <p:nvCxnSpPr>
          <p:cNvPr id="7" name="Connector 6"/>
          <p:cNvCxnSpPr/>
          <p:nvPr/>
        </p:nvCxnSpPr>
        <p:spPr>
          <a:xfrm>
            <a:off x="685800" y="2286000"/>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2377440"/>
            <a:ext cx="1828800" cy="384048"/>
          </a:xfrm>
          <a:prstGeom prst="rect">
            <a:avLst/>
          </a:prstGeom>
          <a:noFill/>
        </p:spPr>
        <p:txBody>
          <a:bodyPr wrap="square" anchor="t" lIns="0" rIns="0" tIns="0" bIns="0">
            <a:spAutoFit/>
          </a:bodyPr>
          <a:lstStyle/>
          <a:p>
            <a:pPr algn="l"/>
            <a:r>
              <a:rPr sz="1150" b="1">
                <a:solidFill>
                  <a:srgbClr val="2E6047"/>
                </a:solidFill>
                <a:latin typeface="맑은 고딕"/>
              </a:rPr>
              <a:t>cs 프로젝트 서버</a:t>
            </a:r>
          </a:p>
        </p:txBody>
      </p:sp>
      <p:sp>
        <p:nvSpPr>
          <p:cNvPr id="9" name="TextBox 8"/>
          <p:cNvSpPr txBox="1"/>
          <p:nvPr/>
        </p:nvSpPr>
        <p:spPr>
          <a:xfrm>
            <a:off x="2560320" y="2377440"/>
            <a:ext cx="3383280" cy="411480"/>
          </a:xfrm>
          <a:prstGeom prst="rect">
            <a:avLst/>
          </a:prstGeom>
          <a:noFill/>
        </p:spPr>
        <p:txBody>
          <a:bodyPr wrap="square" anchor="t" lIns="0" rIns="0" tIns="0" bIns="0">
            <a:spAutoFit/>
          </a:bodyPr>
          <a:lstStyle/>
          <a:p>
            <a:pPr algn="l"/>
            <a:r>
              <a:rPr sz="1050" b="0">
                <a:solidFill>
                  <a:srgbClr val="24392F"/>
                </a:solidFill>
                <a:latin typeface="맑은 고딕"/>
              </a:rPr>
              <a:t>고객 요청을 처리하는 triPilot 앱(api · worker · web · db)</a:t>
            </a:r>
          </a:p>
        </p:txBody>
      </p:sp>
      <p:cxnSp>
        <p:nvCxnSpPr>
          <p:cNvPr id="10" name="Connector 9"/>
          <p:cNvCxnSpPr/>
          <p:nvPr/>
        </p:nvCxnSpPr>
        <p:spPr>
          <a:xfrm>
            <a:off x="685800" y="2798064"/>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889504"/>
            <a:ext cx="1828800" cy="384048"/>
          </a:xfrm>
          <a:prstGeom prst="rect">
            <a:avLst/>
          </a:prstGeom>
          <a:noFill/>
        </p:spPr>
        <p:txBody>
          <a:bodyPr wrap="square" anchor="t" lIns="0" rIns="0" tIns="0" bIns="0">
            <a:spAutoFit/>
          </a:bodyPr>
          <a:lstStyle/>
          <a:p>
            <a:pPr algn="l"/>
            <a:r>
              <a:rPr sz="1150" b="1">
                <a:solidFill>
                  <a:srgbClr val="2E6047"/>
                </a:solidFill>
                <a:latin typeface="맑은 고딕"/>
              </a:rPr>
              <a:t>x600 서버</a:t>
            </a:r>
          </a:p>
        </p:txBody>
      </p:sp>
      <p:sp>
        <p:nvSpPr>
          <p:cNvPr id="12" name="TextBox 11"/>
          <p:cNvSpPr txBox="1"/>
          <p:nvPr/>
        </p:nvSpPr>
        <p:spPr>
          <a:xfrm>
            <a:off x="2560320" y="2889504"/>
            <a:ext cx="3383280" cy="411480"/>
          </a:xfrm>
          <a:prstGeom prst="rect">
            <a:avLst/>
          </a:prstGeom>
          <a:noFill/>
        </p:spPr>
        <p:txBody>
          <a:bodyPr wrap="square" anchor="t" lIns="0" rIns="0" tIns="0" bIns="0">
            <a:spAutoFit/>
          </a:bodyPr>
          <a:lstStyle/>
          <a:p>
            <a:pPr algn="l"/>
            <a:r>
              <a:rPr sz="1050" b="0">
                <a:solidFill>
                  <a:srgbClr val="24392F"/>
                </a:solidFill>
                <a:latin typeface="맑은 고딕"/>
              </a:rPr>
              <a:t>cs 프로젝트 서버가 올라가 있는 팀 기계</a:t>
            </a:r>
          </a:p>
        </p:txBody>
      </p:sp>
      <p:cxnSp>
        <p:nvCxnSpPr>
          <p:cNvPr id="13" name="Connector 12"/>
          <p:cNvCxnSpPr/>
          <p:nvPr/>
        </p:nvCxnSpPr>
        <p:spPr>
          <a:xfrm>
            <a:off x="685800" y="3310128"/>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401568"/>
            <a:ext cx="1828800" cy="384048"/>
          </a:xfrm>
          <a:prstGeom prst="rect">
            <a:avLst/>
          </a:prstGeom>
          <a:noFill/>
        </p:spPr>
        <p:txBody>
          <a:bodyPr wrap="square" anchor="t" lIns="0" rIns="0" tIns="0" bIns="0">
            <a:spAutoFit/>
          </a:bodyPr>
          <a:lstStyle/>
          <a:p>
            <a:pPr algn="l"/>
            <a:r>
              <a:rPr sz="1150" b="1">
                <a:solidFill>
                  <a:srgbClr val="2E6047"/>
                </a:solidFill>
                <a:latin typeface="맑은 고딕"/>
              </a:rPr>
              <a:t>GPU 서버 A · B · C</a:t>
            </a:r>
          </a:p>
        </p:txBody>
      </p:sp>
      <p:sp>
        <p:nvSpPr>
          <p:cNvPr id="15" name="TextBox 14"/>
          <p:cNvSpPr txBox="1"/>
          <p:nvPr/>
        </p:nvSpPr>
        <p:spPr>
          <a:xfrm>
            <a:off x="2560320" y="3401568"/>
            <a:ext cx="3383280" cy="411480"/>
          </a:xfrm>
          <a:prstGeom prst="rect">
            <a:avLst/>
          </a:prstGeom>
          <a:noFill/>
        </p:spPr>
        <p:txBody>
          <a:bodyPr wrap="square" anchor="t" lIns="0" rIns="0" tIns="0" bIns="0">
            <a:spAutoFit/>
          </a:bodyPr>
          <a:lstStyle/>
          <a:p>
            <a:pPr algn="l"/>
            <a:r>
              <a:rPr sz="1050" b="0">
                <a:solidFill>
                  <a:srgbClr val="24392F"/>
                </a:solidFill>
                <a:latin typeface="맑은 고딕"/>
              </a:rPr>
              <a:t>모델 학습 · 시험용으로 빌린 원격 GPU 기계</a:t>
            </a:r>
          </a:p>
        </p:txBody>
      </p:sp>
      <p:cxnSp>
        <p:nvCxnSpPr>
          <p:cNvPr id="16" name="Connector 15"/>
          <p:cNvCxnSpPr/>
          <p:nvPr/>
        </p:nvCxnSpPr>
        <p:spPr>
          <a:xfrm>
            <a:off x="685800" y="3822192"/>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913632"/>
            <a:ext cx="1828800" cy="384048"/>
          </a:xfrm>
          <a:prstGeom prst="rect">
            <a:avLst/>
          </a:prstGeom>
          <a:noFill/>
        </p:spPr>
        <p:txBody>
          <a:bodyPr wrap="square" anchor="t" lIns="0" rIns="0" tIns="0" bIns="0">
            <a:spAutoFit/>
          </a:bodyPr>
          <a:lstStyle/>
          <a:p>
            <a:pPr algn="l"/>
            <a:r>
              <a:rPr sz="1150" b="1">
                <a:solidFill>
                  <a:srgbClr val="2E6047"/>
                </a:solidFill>
                <a:latin typeface="맑은 고딕"/>
              </a:rPr>
              <a:t>항로 지킴이</a:t>
            </a:r>
          </a:p>
        </p:txBody>
      </p:sp>
      <p:sp>
        <p:nvSpPr>
          <p:cNvPr id="18" name="TextBox 17"/>
          <p:cNvSpPr txBox="1"/>
          <p:nvPr/>
        </p:nvSpPr>
        <p:spPr>
          <a:xfrm>
            <a:off x="2560320" y="3913632"/>
            <a:ext cx="3383280" cy="411480"/>
          </a:xfrm>
          <a:prstGeom prst="rect">
            <a:avLst/>
          </a:prstGeom>
          <a:noFill/>
        </p:spPr>
        <p:txBody>
          <a:bodyPr wrap="square" anchor="t" lIns="0" rIns="0" tIns="0" bIns="0">
            <a:spAutoFit/>
          </a:bodyPr>
          <a:lstStyle/>
          <a:p>
            <a:pPr algn="l"/>
            <a:r>
              <a:rPr sz="1050" b="0">
                <a:solidFill>
                  <a:srgbClr val="24392F"/>
                </a:solidFill>
                <a:latin typeface="맑은 고딕"/>
              </a:rPr>
              <a:t>문제가 생기면 서비스가 먼저 바꿔 두고 알릴지 고르는 스위치</a:t>
            </a:r>
          </a:p>
        </p:txBody>
      </p:sp>
      <p:cxnSp>
        <p:nvCxnSpPr>
          <p:cNvPr id="19" name="Connector 18"/>
          <p:cNvCxnSpPr/>
          <p:nvPr/>
        </p:nvCxnSpPr>
        <p:spPr>
          <a:xfrm>
            <a:off x="685800" y="4334256"/>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4425696"/>
            <a:ext cx="1828800" cy="384048"/>
          </a:xfrm>
          <a:prstGeom prst="rect">
            <a:avLst/>
          </a:prstGeom>
          <a:noFill/>
        </p:spPr>
        <p:txBody>
          <a:bodyPr wrap="square" anchor="t" lIns="0" rIns="0" tIns="0" bIns="0">
            <a:spAutoFit/>
          </a:bodyPr>
          <a:lstStyle/>
          <a:p>
            <a:pPr algn="l"/>
            <a:r>
              <a:rPr sz="1150" b="1">
                <a:solidFill>
                  <a:srgbClr val="2E6047"/>
                </a:solidFill>
                <a:latin typeface="맑은 고딕"/>
              </a:rPr>
              <a:t>Jev 계열 모델</a:t>
            </a:r>
          </a:p>
        </p:txBody>
      </p:sp>
      <p:sp>
        <p:nvSpPr>
          <p:cNvPr id="21" name="TextBox 20"/>
          <p:cNvSpPr txBox="1"/>
          <p:nvPr/>
        </p:nvSpPr>
        <p:spPr>
          <a:xfrm>
            <a:off x="2560320" y="4425696"/>
            <a:ext cx="3383280" cy="411480"/>
          </a:xfrm>
          <a:prstGeom prst="rect">
            <a:avLst/>
          </a:prstGeom>
          <a:noFill/>
        </p:spPr>
        <p:txBody>
          <a:bodyPr wrap="square" anchor="t" lIns="0" rIns="0" tIns="0" bIns="0">
            <a:spAutoFit/>
          </a:bodyPr>
          <a:lstStyle/>
          <a:p>
            <a:pPr algn="l"/>
            <a:r>
              <a:rPr sz="1050" b="0">
                <a:solidFill>
                  <a:srgbClr val="24392F"/>
                </a:solidFill>
                <a:latin typeface="맑은 고딕"/>
              </a:rPr>
              <a:t>선택지 중 하나를 고르는 결정 전용 공개 모델 묶음(Winnow-E4B 등)</a:t>
            </a:r>
          </a:p>
        </p:txBody>
      </p:sp>
      <p:cxnSp>
        <p:nvCxnSpPr>
          <p:cNvPr id="22" name="Connector 21"/>
          <p:cNvCxnSpPr/>
          <p:nvPr/>
        </p:nvCxnSpPr>
        <p:spPr>
          <a:xfrm>
            <a:off x="685800" y="4846320"/>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937760"/>
            <a:ext cx="1828800" cy="384048"/>
          </a:xfrm>
          <a:prstGeom prst="rect">
            <a:avLst/>
          </a:prstGeom>
          <a:noFill/>
        </p:spPr>
        <p:txBody>
          <a:bodyPr wrap="square" anchor="t" lIns="0" rIns="0" tIns="0" bIns="0">
            <a:spAutoFit/>
          </a:bodyPr>
          <a:lstStyle/>
          <a:p>
            <a:pPr algn="l"/>
            <a:r>
              <a:rPr sz="1150" b="1">
                <a:solidFill>
                  <a:srgbClr val="2E6047"/>
                </a:solidFill>
                <a:latin typeface="맑은 고딕"/>
              </a:rPr>
              <a:t>Jev API(유료)</a:t>
            </a:r>
          </a:p>
        </p:txBody>
      </p:sp>
      <p:sp>
        <p:nvSpPr>
          <p:cNvPr id="24" name="TextBox 23"/>
          <p:cNvSpPr txBox="1"/>
          <p:nvPr/>
        </p:nvSpPr>
        <p:spPr>
          <a:xfrm>
            <a:off x="2560320" y="4937760"/>
            <a:ext cx="3383280" cy="411480"/>
          </a:xfrm>
          <a:prstGeom prst="rect">
            <a:avLst/>
          </a:prstGeom>
          <a:noFill/>
        </p:spPr>
        <p:txBody>
          <a:bodyPr wrap="square" anchor="t" lIns="0" rIns="0" tIns="0" bIns="0">
            <a:spAutoFit/>
          </a:bodyPr>
          <a:lstStyle/>
          <a:p>
            <a:pPr algn="l"/>
            <a:r>
              <a:rPr sz="1050" b="0">
                <a:solidFill>
                  <a:srgbClr val="24392F"/>
                </a:solidFill>
                <a:latin typeface="맑은 고딕"/>
              </a:rPr>
              <a:t>같은 계열의 종량 과금 외부 결정 API</a:t>
            </a:r>
          </a:p>
        </p:txBody>
      </p:sp>
      <p:cxnSp>
        <p:nvCxnSpPr>
          <p:cNvPr id="25" name="Connector 24"/>
          <p:cNvCxnSpPr/>
          <p:nvPr/>
        </p:nvCxnSpPr>
        <p:spPr>
          <a:xfrm>
            <a:off x="685800" y="5358384"/>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5449824"/>
            <a:ext cx="1828800" cy="384048"/>
          </a:xfrm>
          <a:prstGeom prst="rect">
            <a:avLst/>
          </a:prstGeom>
          <a:noFill/>
        </p:spPr>
        <p:txBody>
          <a:bodyPr wrap="square" anchor="t" lIns="0" rIns="0" tIns="0" bIns="0">
            <a:spAutoFit/>
          </a:bodyPr>
          <a:lstStyle/>
          <a:p>
            <a:pPr algn="l"/>
            <a:r>
              <a:rPr sz="1150" b="1">
                <a:solidFill>
                  <a:srgbClr val="2E6047"/>
                </a:solidFill>
                <a:latin typeface="맑은 고딕"/>
              </a:rPr>
              <a:t>시험 세트 mix8~12</a:t>
            </a:r>
          </a:p>
        </p:txBody>
      </p:sp>
      <p:sp>
        <p:nvSpPr>
          <p:cNvPr id="27" name="TextBox 26"/>
          <p:cNvSpPr txBox="1"/>
          <p:nvPr/>
        </p:nvSpPr>
        <p:spPr>
          <a:xfrm>
            <a:off x="2560320" y="5449824"/>
            <a:ext cx="3383280" cy="411480"/>
          </a:xfrm>
          <a:prstGeom prst="rect">
            <a:avLst/>
          </a:prstGeom>
          <a:noFill/>
        </p:spPr>
        <p:txBody>
          <a:bodyPr wrap="square" anchor="t" lIns="0" rIns="0" tIns="0" bIns="0">
            <a:spAutoFit/>
          </a:bodyPr>
          <a:lstStyle/>
          <a:p>
            <a:pPr algn="l"/>
            <a:r>
              <a:rPr sz="1050" b="0">
                <a:solidFill>
                  <a:srgbClr val="24392F"/>
                </a:solidFill>
                <a:latin typeface="맑은 고딕"/>
              </a:rPr>
              <a:t>일정 항목 매칭 5묶음 835문제(AI 합성). mix8~11 Codex · mix12 Claude</a:t>
            </a:r>
          </a:p>
        </p:txBody>
      </p:sp>
      <p:cxnSp>
        <p:nvCxnSpPr>
          <p:cNvPr id="28" name="Connector 27"/>
          <p:cNvCxnSpPr/>
          <p:nvPr/>
        </p:nvCxnSpPr>
        <p:spPr>
          <a:xfrm>
            <a:off x="685800" y="5870448"/>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5961888"/>
            <a:ext cx="1828800" cy="384048"/>
          </a:xfrm>
          <a:prstGeom prst="rect">
            <a:avLst/>
          </a:prstGeom>
          <a:noFill/>
        </p:spPr>
        <p:txBody>
          <a:bodyPr wrap="square" anchor="t" lIns="0" rIns="0" tIns="0" bIns="0">
            <a:spAutoFit/>
          </a:bodyPr>
          <a:lstStyle/>
          <a:p>
            <a:pPr algn="l"/>
            <a:r>
              <a:rPr sz="1150" b="1">
                <a:solidFill>
                  <a:srgbClr val="2E6047"/>
                </a:solidFill>
                <a:latin typeface="맑은 고딕"/>
              </a:rPr>
              <a:t>769문제</a:t>
            </a:r>
          </a:p>
        </p:txBody>
      </p:sp>
      <p:sp>
        <p:nvSpPr>
          <p:cNvPr id="30" name="TextBox 29"/>
          <p:cNvSpPr txBox="1"/>
          <p:nvPr/>
        </p:nvSpPr>
        <p:spPr>
          <a:xfrm>
            <a:off x="2560320" y="5961888"/>
            <a:ext cx="3383280" cy="411480"/>
          </a:xfrm>
          <a:prstGeom prst="rect">
            <a:avLst/>
          </a:prstGeom>
          <a:noFill/>
        </p:spPr>
        <p:txBody>
          <a:bodyPr wrap="square" anchor="t" lIns="0" rIns="0" tIns="0" bIns="0">
            <a:spAutoFit/>
          </a:bodyPr>
          <a:lstStyle/>
          <a:p>
            <a:pPr algn="l"/>
            <a:r>
              <a:rPr sz="1050" b="0">
                <a:solidFill>
                  <a:srgbClr val="24392F"/>
                </a:solidFill>
                <a:latin typeface="맑은 고딕"/>
              </a:rPr>
              <a:t>835문제에서 복수 항목 질의 66문제를 뺀 주 지표 분모</a:t>
            </a:r>
          </a:p>
        </p:txBody>
      </p:sp>
      <p:sp>
        <p:nvSpPr>
          <p:cNvPr id="31" name="TextBox 30"/>
          <p:cNvSpPr txBox="1"/>
          <p:nvPr/>
        </p:nvSpPr>
        <p:spPr>
          <a:xfrm>
            <a:off x="6236208" y="1865376"/>
            <a:ext cx="1828800" cy="384048"/>
          </a:xfrm>
          <a:prstGeom prst="rect">
            <a:avLst/>
          </a:prstGeom>
          <a:noFill/>
        </p:spPr>
        <p:txBody>
          <a:bodyPr wrap="square" anchor="t" lIns="0" rIns="0" tIns="0" bIns="0">
            <a:spAutoFit/>
          </a:bodyPr>
          <a:lstStyle/>
          <a:p>
            <a:pPr algn="l"/>
            <a:r>
              <a:rPr sz="1150" b="1">
                <a:solidFill>
                  <a:srgbClr val="2E6047"/>
                </a:solidFill>
                <a:latin typeface="맑은 고딕"/>
              </a:rPr>
              <a:t>복수 항목 질의</a:t>
            </a:r>
          </a:p>
        </p:txBody>
      </p:sp>
      <p:sp>
        <p:nvSpPr>
          <p:cNvPr id="32" name="TextBox 31"/>
          <p:cNvSpPr txBox="1"/>
          <p:nvPr/>
        </p:nvSpPr>
        <p:spPr>
          <a:xfrm>
            <a:off x="8110728" y="1865376"/>
            <a:ext cx="3383280" cy="411480"/>
          </a:xfrm>
          <a:prstGeom prst="rect">
            <a:avLst/>
          </a:prstGeom>
          <a:noFill/>
        </p:spPr>
        <p:txBody>
          <a:bodyPr wrap="square" anchor="t" lIns="0" rIns="0" tIns="0" bIns="0">
            <a:spAutoFit/>
          </a:bodyPr>
          <a:lstStyle/>
          <a:p>
            <a:pPr algn="l"/>
            <a:r>
              <a:rPr sz="1050" b="0">
                <a:solidFill>
                  <a:srgbClr val="24392F"/>
                </a:solidFill>
                <a:latin typeface="맑은 고딕"/>
              </a:rPr>
              <a:t>한 문장에 일정 항목 두 개를 묻는 질문</a:t>
            </a:r>
          </a:p>
        </p:txBody>
      </p:sp>
      <p:cxnSp>
        <p:nvCxnSpPr>
          <p:cNvPr id="33" name="Connector 32"/>
          <p:cNvCxnSpPr/>
          <p:nvPr/>
        </p:nvCxnSpPr>
        <p:spPr>
          <a:xfrm>
            <a:off x="6236208" y="2286000"/>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36208" y="2377440"/>
            <a:ext cx="1828800" cy="384048"/>
          </a:xfrm>
          <a:prstGeom prst="rect">
            <a:avLst/>
          </a:prstGeom>
          <a:noFill/>
        </p:spPr>
        <p:txBody>
          <a:bodyPr wrap="square" anchor="t" lIns="0" rIns="0" tIns="0" bIns="0">
            <a:spAutoFit/>
          </a:bodyPr>
          <a:lstStyle/>
          <a:p>
            <a:pPr algn="l"/>
            <a:r>
              <a:rPr sz="1150" b="1">
                <a:solidFill>
                  <a:srgbClr val="2E6047"/>
                </a:solidFill>
                <a:latin typeface="맑은 고딕"/>
              </a:rPr>
              <a:t>B · C 채점</a:t>
            </a:r>
          </a:p>
        </p:txBody>
      </p:sp>
      <p:sp>
        <p:nvSpPr>
          <p:cNvPr id="35" name="TextBox 34"/>
          <p:cNvSpPr txBox="1"/>
          <p:nvPr/>
        </p:nvSpPr>
        <p:spPr>
          <a:xfrm>
            <a:off x="8110728" y="2377440"/>
            <a:ext cx="3383280" cy="411480"/>
          </a:xfrm>
          <a:prstGeom prst="rect">
            <a:avLst/>
          </a:prstGeom>
          <a:noFill/>
        </p:spPr>
        <p:txBody>
          <a:bodyPr wrap="square" anchor="t" lIns="0" rIns="0" tIns="0" bIns="0">
            <a:spAutoFit/>
          </a:bodyPr>
          <a:lstStyle/>
          <a:p>
            <a:pPr algn="l"/>
            <a:r>
              <a:rPr sz="1050" b="0">
                <a:solidFill>
                  <a:srgbClr val="24392F"/>
                </a:solidFill>
                <a:latin typeface="맑은 고딕"/>
              </a:rPr>
              <a:t>B: 복수 항목 질의는 하나라도 맞으면 정답 · C: 낸 묶음이 정답 묶음과 같아야 정답</a:t>
            </a:r>
          </a:p>
        </p:txBody>
      </p:sp>
      <p:cxnSp>
        <p:nvCxnSpPr>
          <p:cNvPr id="36" name="Connector 35"/>
          <p:cNvCxnSpPr/>
          <p:nvPr/>
        </p:nvCxnSpPr>
        <p:spPr>
          <a:xfrm>
            <a:off x="6236208" y="2798064"/>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36208" y="2889504"/>
            <a:ext cx="1828800" cy="384048"/>
          </a:xfrm>
          <a:prstGeom prst="rect">
            <a:avLst/>
          </a:prstGeom>
          <a:noFill/>
        </p:spPr>
        <p:txBody>
          <a:bodyPr wrap="square" anchor="t" lIns="0" rIns="0" tIns="0" bIns="0">
            <a:spAutoFit/>
          </a:bodyPr>
          <a:lstStyle/>
          <a:p>
            <a:pPr algn="l"/>
            <a:r>
              <a:rPr sz="1150" b="1">
                <a:solidFill>
                  <a:srgbClr val="2E6047"/>
                </a:solidFill>
                <a:latin typeface="맑은 고딕"/>
              </a:rPr>
              <a:t>E2E 파이프라인 테스트</a:t>
            </a:r>
          </a:p>
        </p:txBody>
      </p:sp>
      <p:sp>
        <p:nvSpPr>
          <p:cNvPr id="38" name="TextBox 37"/>
          <p:cNvSpPr txBox="1"/>
          <p:nvPr/>
        </p:nvSpPr>
        <p:spPr>
          <a:xfrm>
            <a:off x="8110728" y="2889504"/>
            <a:ext cx="3383280" cy="411480"/>
          </a:xfrm>
          <a:prstGeom prst="rect">
            <a:avLst/>
          </a:prstGeom>
          <a:noFill/>
        </p:spPr>
        <p:txBody>
          <a:bodyPr wrap="square" anchor="t" lIns="0" rIns="0" tIns="0" bIns="0">
            <a:spAutoFit/>
          </a:bodyPr>
          <a:lstStyle/>
          <a:p>
            <a:pPr algn="l"/>
            <a:r>
              <a:rPr sz="1050" b="0">
                <a:solidFill>
                  <a:srgbClr val="24392F"/>
                </a:solidFill>
                <a:latin typeface="맑은 고딕"/>
              </a:rPr>
              <a:t>규칙 → ML 사전 필터 → 라우터 → 파인튜닝 Gemma 4 E4B 를 문제마다 실제로 이어 부른 시험</a:t>
            </a:r>
          </a:p>
        </p:txBody>
      </p:sp>
      <p:cxnSp>
        <p:nvCxnSpPr>
          <p:cNvPr id="39" name="Connector 38"/>
          <p:cNvCxnSpPr/>
          <p:nvPr/>
        </p:nvCxnSpPr>
        <p:spPr>
          <a:xfrm>
            <a:off x="6236208" y="3310128"/>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236208" y="3401568"/>
            <a:ext cx="1828800" cy="384048"/>
          </a:xfrm>
          <a:prstGeom prst="rect">
            <a:avLst/>
          </a:prstGeom>
          <a:noFill/>
        </p:spPr>
        <p:txBody>
          <a:bodyPr wrap="square" anchor="t" lIns="0" rIns="0" tIns="0" bIns="0">
            <a:spAutoFit/>
          </a:bodyPr>
          <a:lstStyle/>
          <a:p>
            <a:pPr algn="l"/>
            <a:r>
              <a:rPr sz="1150" b="1">
                <a:solidFill>
                  <a:srgbClr val="2E6047"/>
                </a:solidFill>
                <a:latin typeface="맑은 고딕"/>
              </a:rPr>
              <a:t>ML 사전 필터</a:t>
            </a:r>
          </a:p>
        </p:txBody>
      </p:sp>
      <p:sp>
        <p:nvSpPr>
          <p:cNvPr id="41" name="TextBox 40"/>
          <p:cNvSpPr txBox="1"/>
          <p:nvPr/>
        </p:nvSpPr>
        <p:spPr>
          <a:xfrm>
            <a:off x="8110728" y="3401568"/>
            <a:ext cx="3383280" cy="411480"/>
          </a:xfrm>
          <a:prstGeom prst="rect">
            <a:avLst/>
          </a:prstGeom>
          <a:noFill/>
        </p:spPr>
        <p:txBody>
          <a:bodyPr wrap="square" anchor="t" lIns="0" rIns="0" tIns="0" bIns="0">
            <a:spAutoFit/>
          </a:bodyPr>
          <a:lstStyle/>
          <a:p>
            <a:pPr algn="l"/>
            <a:r>
              <a:rPr sz="1050" b="0">
                <a:solidFill>
                  <a:srgbClr val="24392F"/>
                </a:solidFill>
                <a:latin typeface="맑은 고딕"/>
              </a:rPr>
              <a:t>일정과 무관한 잡담을 먼저 거르는 작은 분류 모델</a:t>
            </a:r>
          </a:p>
        </p:txBody>
      </p:sp>
      <p:cxnSp>
        <p:nvCxnSpPr>
          <p:cNvPr id="42" name="Connector 41"/>
          <p:cNvCxnSpPr/>
          <p:nvPr/>
        </p:nvCxnSpPr>
        <p:spPr>
          <a:xfrm>
            <a:off x="6236208" y="3822192"/>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36208" y="3913632"/>
            <a:ext cx="1828800" cy="384048"/>
          </a:xfrm>
          <a:prstGeom prst="rect">
            <a:avLst/>
          </a:prstGeom>
          <a:noFill/>
        </p:spPr>
        <p:txBody>
          <a:bodyPr wrap="square" anchor="t" lIns="0" rIns="0" tIns="0" bIns="0">
            <a:spAutoFit/>
          </a:bodyPr>
          <a:lstStyle/>
          <a:p>
            <a:pPr algn="l"/>
            <a:r>
              <a:rPr sz="1150" b="1">
                <a:solidFill>
                  <a:srgbClr val="2E6047"/>
                </a:solidFill>
                <a:latin typeface="맑은 고딕"/>
              </a:rPr>
              <a:t>혼합 트래픽 테스트</a:t>
            </a:r>
          </a:p>
        </p:txBody>
      </p:sp>
      <p:sp>
        <p:nvSpPr>
          <p:cNvPr id="44" name="TextBox 43"/>
          <p:cNvSpPr txBox="1"/>
          <p:nvPr/>
        </p:nvSpPr>
        <p:spPr>
          <a:xfrm>
            <a:off x="8110728" y="3913632"/>
            <a:ext cx="3383280" cy="411480"/>
          </a:xfrm>
          <a:prstGeom prst="rect">
            <a:avLst/>
          </a:prstGeom>
          <a:noFill/>
        </p:spPr>
        <p:txBody>
          <a:bodyPr wrap="square" anchor="t" lIns="0" rIns="0" tIns="0" bIns="0">
            <a:spAutoFit/>
          </a:bodyPr>
          <a:lstStyle/>
          <a:p>
            <a:pPr algn="l"/>
            <a:r>
              <a:rPr sz="1050" b="0">
                <a:solidFill>
                  <a:srgbClr val="24392F"/>
                </a:solidFill>
                <a:latin typeface="맑은 고딕"/>
              </a:rPr>
              <a:t>일정 835 + 관광지 600 + 일상 대화 1,000 + 구어체 300 = 2,735문제</a:t>
            </a:r>
          </a:p>
        </p:txBody>
      </p:sp>
      <p:cxnSp>
        <p:nvCxnSpPr>
          <p:cNvPr id="45" name="Connector 44"/>
          <p:cNvCxnSpPr/>
          <p:nvPr/>
        </p:nvCxnSpPr>
        <p:spPr>
          <a:xfrm>
            <a:off x="6236208" y="4334256"/>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236208" y="4425696"/>
            <a:ext cx="1828800" cy="384048"/>
          </a:xfrm>
          <a:prstGeom prst="rect">
            <a:avLst/>
          </a:prstGeom>
          <a:noFill/>
        </p:spPr>
        <p:txBody>
          <a:bodyPr wrap="square" anchor="t" lIns="0" rIns="0" tIns="0" bIns="0">
            <a:spAutoFit/>
          </a:bodyPr>
          <a:lstStyle/>
          <a:p>
            <a:pPr algn="l"/>
            <a:r>
              <a:rPr sz="1150" b="1">
                <a:solidFill>
                  <a:srgbClr val="2E6047"/>
                </a:solidFill>
                <a:latin typeface="맑은 고딕"/>
              </a:rPr>
              <a:t>블라인드 평가셋 B</a:t>
            </a:r>
          </a:p>
        </p:txBody>
      </p:sp>
      <p:sp>
        <p:nvSpPr>
          <p:cNvPr id="47" name="TextBox 46"/>
          <p:cNvSpPr txBox="1"/>
          <p:nvPr/>
        </p:nvSpPr>
        <p:spPr>
          <a:xfrm>
            <a:off x="8110728" y="4425696"/>
            <a:ext cx="3383280" cy="411480"/>
          </a:xfrm>
          <a:prstGeom prst="rect">
            <a:avLst/>
          </a:prstGeom>
          <a:noFill/>
        </p:spPr>
        <p:txBody>
          <a:bodyPr wrap="square" anchor="t" lIns="0" rIns="0" tIns="0" bIns="0">
            <a:spAutoFit/>
          </a:bodyPr>
          <a:lstStyle/>
          <a:p>
            <a:pPr algn="l"/>
            <a:r>
              <a:rPr sz="1050" b="0">
                <a:solidFill>
                  <a:srgbClr val="24392F"/>
                </a:solidFill>
                <a:latin typeface="맑은 고딕"/>
              </a:rPr>
              <a:t>규정 문장을 보지 않고 따로 쓴 규정 질문 160문제(답 있는 48)</a:t>
            </a:r>
          </a:p>
        </p:txBody>
      </p:sp>
      <p:cxnSp>
        <p:nvCxnSpPr>
          <p:cNvPr id="48" name="Connector 47"/>
          <p:cNvCxnSpPr/>
          <p:nvPr/>
        </p:nvCxnSpPr>
        <p:spPr>
          <a:xfrm>
            <a:off x="6236208" y="4846320"/>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36208" y="4937760"/>
            <a:ext cx="1828800" cy="384048"/>
          </a:xfrm>
          <a:prstGeom prst="rect">
            <a:avLst/>
          </a:prstGeom>
          <a:noFill/>
        </p:spPr>
        <p:txBody>
          <a:bodyPr wrap="square" anchor="t" lIns="0" rIns="0" tIns="0" bIns="0">
            <a:spAutoFit/>
          </a:bodyPr>
          <a:lstStyle/>
          <a:p>
            <a:pPr algn="l"/>
            <a:r>
              <a:rPr sz="1150" b="1">
                <a:solidFill>
                  <a:srgbClr val="2E6047"/>
                </a:solidFill>
                <a:latin typeface="맑은 고딕"/>
              </a:rPr>
              <a:t>CX 400</a:t>
            </a:r>
          </a:p>
        </p:txBody>
      </p:sp>
      <p:sp>
        <p:nvSpPr>
          <p:cNvPr id="50" name="TextBox 49"/>
          <p:cNvSpPr txBox="1"/>
          <p:nvPr/>
        </p:nvSpPr>
        <p:spPr>
          <a:xfrm>
            <a:off x="8110728" y="4937760"/>
            <a:ext cx="3383280" cy="411480"/>
          </a:xfrm>
          <a:prstGeom prst="rect">
            <a:avLst/>
          </a:prstGeom>
          <a:noFill/>
        </p:spPr>
        <p:txBody>
          <a:bodyPr wrap="square" anchor="t" lIns="0" rIns="0" tIns="0" bIns="0">
            <a:spAutoFit/>
          </a:bodyPr>
          <a:lstStyle/>
          <a:p>
            <a:pPr algn="l"/>
            <a:r>
              <a:rPr sz="1050" b="0">
                <a:solidFill>
                  <a:srgbClr val="24392F"/>
                </a:solidFill>
                <a:latin typeface="맑은 고딕"/>
              </a:rPr>
              <a:t>고객 문장 분류 평가셋 400문장(Codex 작성 · Claude 교차 라벨)</a:t>
            </a:r>
          </a:p>
        </p:txBody>
      </p:sp>
      <p:cxnSp>
        <p:nvCxnSpPr>
          <p:cNvPr id="51" name="Connector 50"/>
          <p:cNvCxnSpPr/>
          <p:nvPr/>
        </p:nvCxnSpPr>
        <p:spPr>
          <a:xfrm>
            <a:off x="6236208" y="5358384"/>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36208" y="5449824"/>
            <a:ext cx="1828800" cy="384048"/>
          </a:xfrm>
          <a:prstGeom prst="rect">
            <a:avLst/>
          </a:prstGeom>
          <a:noFill/>
        </p:spPr>
        <p:txBody>
          <a:bodyPr wrap="square" anchor="t" lIns="0" rIns="0" tIns="0" bIns="0">
            <a:spAutoFit/>
          </a:bodyPr>
          <a:lstStyle/>
          <a:p>
            <a:pPr algn="l"/>
            <a:r>
              <a:rPr sz="1150" b="1">
                <a:solidFill>
                  <a:srgbClr val="2E6047"/>
                </a:solidFill>
                <a:latin typeface="맑은 고딕"/>
              </a:rPr>
              <a:t>인덱싱 텍스트</a:t>
            </a:r>
          </a:p>
        </p:txBody>
      </p:sp>
      <p:sp>
        <p:nvSpPr>
          <p:cNvPr id="53" name="TextBox 52"/>
          <p:cNvSpPr txBox="1"/>
          <p:nvPr/>
        </p:nvSpPr>
        <p:spPr>
          <a:xfrm>
            <a:off x="8110728" y="5449824"/>
            <a:ext cx="3383280" cy="411480"/>
          </a:xfrm>
          <a:prstGeom prst="rect">
            <a:avLst/>
          </a:prstGeom>
          <a:noFill/>
        </p:spPr>
        <p:txBody>
          <a:bodyPr wrap="square" anchor="t" lIns="0" rIns="0" tIns="0" bIns="0">
            <a:spAutoFit/>
          </a:bodyPr>
          <a:lstStyle/>
          <a:p>
            <a:pPr algn="l"/>
            <a:r>
              <a:rPr sz="1050" b="0">
                <a:solidFill>
                  <a:srgbClr val="24392F"/>
                </a:solidFill>
                <a:latin typeface="맑은 고딕"/>
              </a:rPr>
              <a:t>규정을 찾을 때 질문과 비교하는 글</a:t>
            </a:r>
          </a:p>
        </p:txBody>
      </p:sp>
      <p:cxnSp>
        <p:nvCxnSpPr>
          <p:cNvPr id="54" name="Connector 53"/>
          <p:cNvCxnSpPr/>
          <p:nvPr/>
        </p:nvCxnSpPr>
        <p:spPr>
          <a:xfrm>
            <a:off x="6236208" y="5870448"/>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36208" y="5961888"/>
            <a:ext cx="1828800" cy="384048"/>
          </a:xfrm>
          <a:prstGeom prst="rect">
            <a:avLst/>
          </a:prstGeom>
          <a:noFill/>
        </p:spPr>
        <p:txBody>
          <a:bodyPr wrap="square" anchor="t" lIns="0" rIns="0" tIns="0" bIns="0">
            <a:spAutoFit/>
          </a:bodyPr>
          <a:lstStyle/>
          <a:p>
            <a:pPr algn="l"/>
            <a:r>
              <a:rPr sz="1150" b="1">
                <a:solidFill>
                  <a:srgbClr val="2E6047"/>
                </a:solidFill>
                <a:latin typeface="맑은 고딕"/>
              </a:rPr>
              <a:t>합성 문제</a:t>
            </a:r>
          </a:p>
        </p:txBody>
      </p:sp>
      <p:sp>
        <p:nvSpPr>
          <p:cNvPr id="56" name="TextBox 55"/>
          <p:cNvSpPr txBox="1"/>
          <p:nvPr/>
        </p:nvSpPr>
        <p:spPr>
          <a:xfrm>
            <a:off x="8110728" y="5961888"/>
            <a:ext cx="3383280" cy="411480"/>
          </a:xfrm>
          <a:prstGeom prst="rect">
            <a:avLst/>
          </a:prstGeom>
          <a:noFill/>
        </p:spPr>
        <p:txBody>
          <a:bodyPr wrap="square" anchor="t" lIns="0" rIns="0" tIns="0" bIns="0">
            <a:spAutoFit/>
          </a:bodyPr>
          <a:lstStyle/>
          <a:p>
            <a:pPr algn="l"/>
            <a:r>
              <a:rPr sz="1050" b="0">
                <a:solidFill>
                  <a:srgbClr val="24392F"/>
                </a:solidFill>
                <a:latin typeface="맑은 고딕"/>
              </a:rPr>
              <a:t>사람이 아니라 AI 모델(Codex · Claude)이 쓴 시험 문장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