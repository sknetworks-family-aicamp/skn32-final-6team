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5주차에는 자유여행자의 계획 접수부터 여행 중 이용까지 화면과 기능을 확장했습니다. 작은 모델 학습과 규정 검색도 검증했지만, 바뀐 화면의 실제 응답과 가르친 모델의 제품 연결은 남아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화면을 cs 프로젝트 서버에 붙였고 cs 프로젝트 전체 자동 시험은 4,245개가 통과했습니다. 모델 시험 문제는 모두 합성이며 사람 평가는 아직 없으므로, 높은 시험 성적을 실제 사용 성능으로 단정하지 않겠습니다.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계획 올리기, 항로 지킴이 카드, 여행 화면을 포함해 화면 12개를 cs 프로젝트 서버에 붙였습니다. 여기 보이는 캡처는 모두 mock 서버 화면이며, 실제 응답은 10월 3일 계획 확인 화면의 읽기·결과·수정·등록만 확인했습니다. 그 뒤 바뀐 화면은 실제 응답을 다시 확인해야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 AI용 MCP 여행 도구와 웹 실시간 진행 시험은 각각 모두 통과했습니다. 팀 재배분은 mock 서버에서 확인했고, 여행 삭제와 디스코드·텔레그램 연결은 cs 프로젝트 서버 코드에 구현했습니다. 이 기능들의 x600 서버 반영과 실제 연결은 아직 확인하지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Gemma 4 E4B를 QLoRA로 가르치자 같은 769문제에서 정답이 688개에서 750개로 늘었습니다. 시드만 바꾼 재시험에서는 760개를 맞혔지만, 문제는 모두 모델이 만든 합성입니다. 아래 그림은 주간 사실에 있는 전체 시험 묶음만 발췌했습니다.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가르친 E4B는 같은 769문제에서 학습 없는 큰 로컬 모델들보다 높은 정답 수를 보였습니다. 같은 방법으로 가르친 Winnow-E4B는 Jev 계열 모델이며 756개를 맞혔지만, E4B와 순위를 구분하려면 시드 3개 이상이 필요합니다. 상용 CLI 결과는 출제자 편향 때문에 이 비교에서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서버 C에서 문제마다 실제 호출한 시험에서는 가르친 E4B 하나가 748개를 맞혔습니다. 규칙과 ML로 거르면 745개로 구분되지 않았고 E4B 호출은 19% 줄었습니다. 학습 없는 Winnow-E4B를 판정에 넣은 구성은 학습 조건이 달라 공정한 모델 비교가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학습한 e5-base 분류 인코더의 긴급도는 CX 400에서 88.4%였습니다. 제품 코드 그대로의 규정 검색은 10월 6일 독립 질문 48문제에서 정답 규정을 상위 3개 안에 30번 넣어 목표에 미달했습니다. 고객용 색인은 정답 노출을 늘렸지만 불필요한 규정 노출도 늘려 운영 반영을 결정하지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 산출물 4종과 6주차 서비스 테스트 문서 1종을 만들었습니다. 요구사항 85개 중 구현 끝은 24개이고 일부 구현은 58개, 결정 대기는 3개입니다. 산출물은 모두 코덱스와 교차 검증하고 지적을 반영했습니다.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 평가가 없고 가르친 모델도 제품에 아직 연결하지 않았습니다. 계획 읽기 값 변조와 일정 항목의 빈 답은 원인을 더 확인해야 하며, 엉뚱한 대상 변경과 일본어 알림의 금액 단위 변조도 발견했습니다. 바뀐 화면 대부분은 실제 응답을 확인하지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주에는 바뀐 화면의 실제 응답을 확인하고 준비한 시트로 사람 평가를 진행합니다. 가르친 모델의 제품 연결을 검토하고 시드 3개 이상으로 순위를 확인하며, 규정 색인 개선도 분류기 뒤에서 다시 측정합니다. GPU 서버 B 대기열에 있는 다른 Jev 계열 후보도 같은 방법으로 가르쳐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화면과 검증을 늘렸고, 제품 연결은 다음 주에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CBD7DE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CBD7D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5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triPilot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95728"/>
            <a:ext cx="107899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0" lang="ko-KR">
                <a:solidFill>
                  <a:srgbClr val="D8E5ED"/>
                </a:solidFill>
                <a:latin typeface="맑은 고딕"/>
                <a:ea typeface="맑은 고딕"/>
                <a:cs typeface="맑은 고딕"/>
              </a:rPr>
              <a:t>5주차 진행경과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0" lang="ko-KR">
                <a:solidFill>
                  <a:srgbClr val="D8E5ED"/>
                </a:solidFill>
                <a:latin typeface="맑은 고딕"/>
                <a:ea typeface="맑은 고딕"/>
                <a:cs typeface="맑은 고딕"/>
              </a:rPr>
              <a:t>2026-09-29 ~ 2026-10-06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56432"/>
            <a:ext cx="5367528" cy="2468880"/>
          </a:xfrm>
          <a:prstGeom prst="rect">
            <a:avLst/>
          </a:prstGeom>
          <a:solidFill>
            <a:srgbClr val="20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50017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브랜치 커밋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33672"/>
            <a:ext cx="50017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402건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9783"/>
            <a:ext cx="500176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role-manager · git log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2026-09-29 ~ 10-06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3456432"/>
            <a:ext cx="5367528" cy="2468880"/>
          </a:xfrm>
          <a:prstGeom prst="rect">
            <a:avLst/>
          </a:prstGeom>
          <a:solidFill>
            <a:srgbClr val="20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3621024"/>
            <a:ext cx="50017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브랜치 커밋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4233672"/>
            <a:ext cx="50017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531건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5129783"/>
            <a:ext cx="500176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팀원 커밋 포함 · git log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2026-09-29 ~ 10-06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화면 구현과 자동 시험은 늘었고, 사람 평가는 아직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3520440" cy="438912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웹 화면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12개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3154680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화면설계서 5주차 · 2026-10-06 기준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cs 프로젝트 서버 연결 · 캡처는 mock 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417320"/>
            <a:ext cx="3520440" cy="438912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81912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cs 프로젝트 자동 시험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194560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286BA0"/>
                </a:solidFill>
                <a:latin typeface="맑은 고딕"/>
                <a:ea typeface="맑은 고딕"/>
                <a:cs typeface="맑은 고딕"/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090672"/>
            <a:ext cx="3154680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4,245 / 4,251 · 2026-10-06 18:09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실제 모델 시험 238개 제외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1417320"/>
            <a:ext cx="3520440" cy="438912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81912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사람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94560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A56A20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090672"/>
            <a:ext cx="3154680" cy="2615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기준 · 평가 시트 35행 준비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모델 시험 문제는 전부 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구현, 자동 시험, 사람 평가는 서로 다른 확인 범위다.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자유여행자의 계획 접수부터 여행 중 이용까지 화면을 붙였다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3182112" cy="45537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trips_new_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51" y="1371600"/>
            <a:ext cx="1964768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69280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0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계획 올리기 · mock 서버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1325880"/>
            <a:ext cx="3182112" cy="45537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d_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805" y="1371600"/>
            <a:ext cx="2042197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98848" y="5669280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0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항로 지킴이 카드 · mock 서버 화면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7616" y="1325880"/>
            <a:ext cx="3182112" cy="45537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trip_home_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87" y="1371600"/>
            <a:ext cx="1964768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7616" y="5669280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0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여행 중 이용 · mock 서버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실제 응답 확인: 계획 확인의 읽기·결과·수정·등록만 · 2026-10-03. 이후 변경 화면은 미확인.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개인 AI 입구와 실시간 진행을 구현했고, 실제 연결 확인은 남았다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3520440" cy="443484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MCP 여행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8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154680" cy="26609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통과 / 시험 · 2026-10-02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읽기 5 · 쓰기 7 · 쓰기는 기본 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389888"/>
            <a:ext cx="3520440" cy="443484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54480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웹 실시간 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167128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800" b="1" lang="ko-KR">
                <a:solidFill>
                  <a:srgbClr val="286BA0"/>
                </a:solidFill>
                <a:latin typeface="맑은 고딕"/>
                <a:ea typeface="맑은 고딕"/>
                <a:cs typeface="맑은 고딕"/>
              </a:rPr>
              <a:t>21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063240"/>
            <a:ext cx="3154680" cy="26609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통과 / 시험 · 2026-10-02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SSE · 채팅·일정 짜기·접수 읽기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1389888"/>
            <a:ext cx="3520440" cy="443484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54480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팀 재배분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67128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800" b="1" lang="ko-KR">
                <a:solidFill>
                  <a:srgbClr val="A56A20"/>
                </a:solidFill>
                <a:latin typeface="맑은 고딕"/>
                <a:ea typeface="맑은 고딕"/>
                <a:cs typeface="맑은 고딕"/>
              </a:rPr>
              <a:t>10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063240"/>
            <a:ext cx="3154680" cy="26609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통과 / mock 서버 시험 · 2026-10-06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받는 팀이 없으면 등록 팀에서 한 번 재선택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여행 삭제·디스코드·텔레그램: cs 프로젝트 서버 코드 구현. x600 서버 반영·실제 연결 미확인.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Gemma 4 E4B를 가르치니 같은 시험의 정답이 늘었다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5" name="Picture 4" descr="파인튜닝_전후.png"/>
          <p:cNvPicPr>
            <a:picLocks noChangeAspect="1"/>
          </p:cNvPicPr>
          <p:nvPr/>
        </p:nvPicPr>
        <p:blipFill>
          <a:blip r:embed="rId2"/>
          <a:srcRect r="65278"/>
          <a:stretch>
            <a:fillRect/>
          </a:stretch>
        </p:blipFill>
        <p:spPr>
          <a:xfrm>
            <a:off x="2156459" y="1325880"/>
            <a:ext cx="37338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35240" y="1389888"/>
            <a:ext cx="3931920" cy="2395728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554480"/>
            <a:ext cx="3566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QLoRA 학습 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2167128"/>
            <a:ext cx="35661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4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750 / 769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3063240"/>
            <a:ext cx="35661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정답 / 합성 시험 · 97.5%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mix8~12 · 요청 둘 66문제 제외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학습 전 688 / 769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3950208"/>
            <a:ext cx="3931920" cy="2029968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4114800"/>
            <a:ext cx="3566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시드를 바꾼 재시험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4727448"/>
            <a:ext cx="35661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4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760 / 769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5623560"/>
            <a:ext cx="3566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정답 / 같은 합성 시험 · 98.8%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학습 전 대비 이쪽만 정답 69 : 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p=6.4e-14 · 제품 연결 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원본 파인튜닝_전후.png의 주 지표 부분 발췌. 비교는 같은 769문제이며 사람 평가가 아니다.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가르친 작은 모델이 큰 로컬 모델을 넘었지만, 모델 순위는 미정이다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같은 합성 시험에서의 정답 수</a:t>
            </a:r>
          </a:p>
        </p:txBody>
      </p:sp>
      <p:pic>
        <p:nvPicPr>
          <p:cNvPr id="6" name="Picture 5" descr="모델별_769_비교.png"/>
          <p:cNvPicPr>
            <a:picLocks noChangeAspect="1"/>
          </p:cNvPicPr>
          <p:nvPr/>
        </p:nvPicPr>
        <p:blipFill>
          <a:blip r:embed="rId2"/>
          <a:srcRect t="25741" b="69630"/>
          <a:stretch>
            <a:fillRect/>
          </a:stretch>
        </p:blipFill>
        <p:spPr>
          <a:xfrm>
            <a:off x="594360" y="1876837"/>
            <a:ext cx="10927080" cy="379412"/>
          </a:xfrm>
          <a:prstGeom prst="rect">
            <a:avLst/>
          </a:prstGeom>
        </p:spPr>
      </p:pic>
      <p:pic>
        <p:nvPicPr>
          <p:cNvPr id="7" name="Picture 6" descr="모델별_769_비교.png"/>
          <p:cNvPicPr>
            <a:picLocks noChangeAspect="1"/>
          </p:cNvPicPr>
          <p:nvPr/>
        </p:nvPicPr>
        <p:blipFill>
          <a:blip r:embed="rId2"/>
          <a:srcRect t="29722" b="65648"/>
          <a:stretch>
            <a:fillRect/>
          </a:stretch>
        </p:blipFill>
        <p:spPr>
          <a:xfrm>
            <a:off x="594360" y="2471197"/>
            <a:ext cx="10927080" cy="379412"/>
          </a:xfrm>
          <a:prstGeom prst="rect">
            <a:avLst/>
          </a:prstGeom>
        </p:spPr>
      </p:pic>
      <p:pic>
        <p:nvPicPr>
          <p:cNvPr id="8" name="Picture 7" descr="모델별_769_비교.png"/>
          <p:cNvPicPr>
            <a:picLocks noChangeAspect="1"/>
          </p:cNvPicPr>
          <p:nvPr/>
        </p:nvPicPr>
        <p:blipFill>
          <a:blip r:embed="rId2"/>
          <a:srcRect t="33704" b="61667"/>
          <a:stretch>
            <a:fillRect/>
          </a:stretch>
        </p:blipFill>
        <p:spPr>
          <a:xfrm>
            <a:off x="594360" y="3065557"/>
            <a:ext cx="10927080" cy="379412"/>
          </a:xfrm>
          <a:prstGeom prst="rect">
            <a:avLst/>
          </a:prstGeom>
        </p:spPr>
      </p:pic>
      <p:pic>
        <p:nvPicPr>
          <p:cNvPr id="9" name="Picture 8" descr="모델별_769_비교.png"/>
          <p:cNvPicPr>
            <a:picLocks noChangeAspect="1"/>
          </p:cNvPicPr>
          <p:nvPr/>
        </p:nvPicPr>
        <p:blipFill>
          <a:blip r:embed="rId2"/>
          <a:srcRect t="45648" b="49722"/>
          <a:stretch>
            <a:fillRect/>
          </a:stretch>
        </p:blipFill>
        <p:spPr>
          <a:xfrm>
            <a:off x="594360" y="3659917"/>
            <a:ext cx="10927080" cy="379412"/>
          </a:xfrm>
          <a:prstGeom prst="rect">
            <a:avLst/>
          </a:prstGeom>
        </p:spPr>
      </p:pic>
      <p:pic>
        <p:nvPicPr>
          <p:cNvPr id="10" name="Picture 9" descr="모델별_769_비교.png"/>
          <p:cNvPicPr>
            <a:picLocks noChangeAspect="1"/>
          </p:cNvPicPr>
          <p:nvPr/>
        </p:nvPicPr>
        <p:blipFill>
          <a:blip r:embed="rId2"/>
          <a:srcRect t="57593" b="37778"/>
          <a:stretch>
            <a:fillRect/>
          </a:stretch>
        </p:blipFill>
        <p:spPr>
          <a:xfrm>
            <a:off x="594360" y="4254277"/>
            <a:ext cx="10927080" cy="3794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4937760"/>
            <a:ext cx="10972800" cy="96012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84064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9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756 / 769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5074920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정답 / 같은 합성 시험 · 가르친 Winnow-E4B(Jev 계열 모델) · 시드 1개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468112"/>
            <a:ext cx="7452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E4B와 구분 안 됨 · 모델 사이 순위는 시드 3개 이상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모델별_769_비교.png에서 확인된 로컬 비교 행만 발췌. 큰 로컬 모델은 학습 없음.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규칙과 ML은 호출을 줄였지만, 단계를 늘려도 정답은 늘지 않았다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5" name="Picture 4" descr="한줄연결_시험.png"/>
          <p:cNvPicPr>
            <a:picLocks noChangeAspect="1"/>
          </p:cNvPicPr>
          <p:nvPr/>
        </p:nvPicPr>
        <p:blipFill>
          <a:blip r:embed="rId2"/>
          <a:srcRect r="18056" b="64167"/>
          <a:stretch>
            <a:fillRect/>
          </a:stretch>
        </p:blipFill>
        <p:spPr>
          <a:xfrm>
            <a:off x="853085" y="1417320"/>
            <a:ext cx="10455348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3794760"/>
            <a:ext cx="5358384" cy="196596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5935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가르친 E4B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4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19% 감소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68112"/>
            <a:ext cx="4992624" cy="1920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규칙 + ML 거름 대 E4B 단독 · 정답 745 대 748 /769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GPU 서버 C · 2026-10-06 · 구분 안 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794760"/>
            <a:ext cx="5358384" cy="196596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95935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학습 없는 Winnow-E4B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57200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400" b="1" lang="ko-KR">
                <a:solidFill>
                  <a:srgbClr val="A56A20"/>
                </a:solidFill>
                <a:latin typeface="맑은 고딕"/>
                <a:ea typeface="맑은 고딕"/>
                <a:cs typeface="맑은 고딕"/>
              </a:rPr>
              <a:t>697 / 769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5468112"/>
            <a:ext cx="4992624" cy="1920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Jev 계열 모델 · 학습 조건 달라 공정 비교 아님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사후 개선 판 · 사전 등록 판은 472 / 769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한줄연결_시험.png의 확인된 기준 구성만 발췌. 일정과 무관한 말이 섞인 흐름에서는 앞단이 이득.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분류는 개선됐지만, 규정 검색은 목표에 못 미쳤다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5358384" cy="2414016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학습한 분류 인코더의 긴급도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88.4%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44952"/>
            <a:ext cx="49926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CX 400 · Codex 작성 · Claude 교차 라벨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학습 없는 E4B 60.9% 대 학습 후 88.4%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371600"/>
            <a:ext cx="5358384" cy="2414016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3619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정답 규정이 상위 3개 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A56A20"/>
                </a:solidFill>
                <a:latin typeface="맑은 고딕"/>
                <a:ea typeface="맑은 고딕"/>
                <a:cs typeface="맑은 고딕"/>
              </a:rPr>
              <a:t>30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044952"/>
            <a:ext cx="49926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62.5% · 제품 코드 그대로 · 독립 질문 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· 양식 목표 0.90 미달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977639"/>
            <a:ext cx="10972800" cy="1965960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160520"/>
            <a:ext cx="10561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1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고객용 색인은 정답 노출과 불필요한 노출을 함께 늘렸다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82312"/>
            <a:ext cx="5029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5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정답 노출 21/48 → 31/48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782312"/>
            <a:ext cx="5394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 lang="ko-KR">
                <a:solidFill>
                  <a:srgbClr val="AB403A"/>
                </a:solidFill>
                <a:latin typeface="맑은 고딕"/>
                <a:ea typeface="맑은 고딕"/>
                <a:cs typeface="맑은 고딕"/>
              </a:rPr>
              <a:t>불필요한 노출 22.3% → 36.7%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58384"/>
            <a:ext cx="4800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독립 질문 B · 2026-10-06 · 운영 반영 결정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5358384"/>
            <a:ext cx="5349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규정이 아닌 여행 대화에 규정을 붙인 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발표 수치는 2026-10-06 제품 코드 그대로 잰 규정 검색 결과(독립 질문 B 48문제, 합성).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5주차 산출물과 6주차 시험 문서를 만들고 지적을 반영했다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7406640" cy="6675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9616"/>
            <a:ext cx="5623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벡터DB·GraphDB 구축 결과서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4808" y="1463040"/>
            <a:ext cx="12984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23쪽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57984"/>
            <a:ext cx="7406640" cy="6675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5623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멀티 에이전트 테스트 계획 및 결과 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2267712"/>
            <a:ext cx="12984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50쪽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62656"/>
            <a:ext cx="7406640" cy="6675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623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요구사항 정의서 업데이트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072384"/>
            <a:ext cx="12984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85개 요구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767328"/>
            <a:ext cx="7406640" cy="6675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5623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화면설계서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877056"/>
            <a:ext cx="12984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25쪽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72000"/>
            <a:ext cx="7406640" cy="6675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18304"/>
            <a:ext cx="5623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6주차 서비스 테스트 계획 및 결과 보고서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4681728"/>
            <a:ext cx="12984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10쪽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53312"/>
            <a:ext cx="3337560" cy="4562856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17904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요구사항 구현 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30552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500" b="1" lang="ko-KR">
                <a:solidFill>
                  <a:srgbClr val="2C614E"/>
                </a:solidFill>
                <a:latin typeface="맑은 고딕"/>
                <a:ea typeface="맑은 고딕"/>
                <a:cs typeface="맑은 고딕"/>
              </a:rPr>
              <a:t>24 / 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26664"/>
            <a:ext cx="2971800" cy="2788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업데이트 기준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일부 구현 58 · 결정 대기 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구현 상태이며 시험 통과율이 아님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산출물 분량·요구사항 상태: 주간_사실.md의 산출물 기록. 모두 교차 검증 후 지적 반영.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152C40"/>
                </a:solidFill>
                <a:latin typeface="맑은 고딕"/>
                <a:ea typeface="맑은 고딕"/>
                <a:cs typeface="맑은 고딕"/>
              </a:rPr>
              <a:t>합성 시험의 성과와 별개로, 데이터 변조와 실제 응답 확인이 남았다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3520440" cy="3081528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사람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A56A20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26664"/>
            <a:ext cx="3154680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기준 · 시트 35행만 준비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합성 시험 결과의 실제 사용 검증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353312"/>
            <a:ext cx="3520440" cy="3081528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17904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계획 읽기 값 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130552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600" b="1" lang="ko-KR">
                <a:solidFill>
                  <a:srgbClr val="AB403A"/>
                </a:solidFill>
                <a:latin typeface="맑은 고딕"/>
                <a:ea typeface="맑은 고딕"/>
                <a:cs typeface="맑은 고딕"/>
              </a:rPr>
              <a:t>12 / 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026664"/>
            <a:ext cx="3154680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변조 / 시험 · 3.4%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주간 사실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1353312"/>
            <a:ext cx="3520440" cy="3081528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17904"/>
            <a:ext cx="3154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203345"/>
                </a:solidFill>
                <a:latin typeface="맑은 고딕"/>
                <a:ea typeface="맑은 고딕"/>
                <a:cs typeface="맑은 고딕"/>
              </a:rPr>
              <a:t>일정 항목 짚기 빈 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30552"/>
            <a:ext cx="31546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200" b="1" lang="ko-KR">
                <a:solidFill>
                  <a:srgbClr val="AB403A"/>
                </a:solidFill>
                <a:latin typeface="맑은 고딕"/>
                <a:ea typeface="맑은 고딕"/>
                <a:cs typeface="맑은 고딕"/>
              </a:rPr>
              <a:t>85 / 2,735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026664"/>
            <a:ext cx="3154680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빈 답 / 흐름 시험 · 3.1%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2026-10-06 기준 · 원인 미확인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626864"/>
            <a:ext cx="10972800" cy="130759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 lang="ko-KR">
                <a:solidFill>
                  <a:srgbClr val="AB403A"/>
                </a:solidFill>
                <a:latin typeface="맑은 고딕"/>
                <a:ea typeface="맑은 고딕"/>
                <a:cs typeface="맑은 고딕"/>
              </a:rPr>
              <a:t>엉뚱한 대상 변경 1/172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837176"/>
            <a:ext cx="5394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 lang="ko-KR">
                <a:solidFill>
                  <a:srgbClr val="AB403A"/>
                </a:solidFill>
                <a:latin typeface="맑은 고딕"/>
                <a:ea typeface="맑은 고딕"/>
                <a:cs typeface="맑은 고딕"/>
              </a:rPr>
              <a:t>금액 단위 변조 1건 통과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31536"/>
            <a:ext cx="4846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발생 / 결정 단위 · 주간 사실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543153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일본어 알림 번역 · 원을 엔으로 변경 · 주간 사실 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10642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586B79"/>
                </a:solidFill>
                <a:latin typeface="맑은 고딕"/>
                <a:ea typeface="맑은 고딕"/>
                <a:cs typeface="맑은 고딕"/>
              </a:rPr>
              <a:t>규정 검색 목표 미달도 미해결. 변경 화면 대부분 실제 응답 미확인 · 가르친 모델 제품 연결 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09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주에는 실제 응답과 사람 평가를 확인하고 제품 반영을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01384"/>
            <a:ext cx="9692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CBD7DE"/>
                </a:solidFill>
                <a:latin typeface="맑은 고딕"/>
                <a:ea typeface="맑은 고딕"/>
                <a:cs typeface="맑은 고딕"/>
              </a:rPr>
              <a:t>triPilot  ·  5주차  ·  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 lang="ko-KR">
                <a:solidFill>
                  <a:srgbClr val="CBD7DE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358384" cy="2761488"/>
          </a:xfrm>
          <a:prstGeom prst="rect">
            <a:avLst/>
          </a:prstGeom>
          <a:solidFill>
            <a:srgbClr val="20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 평가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5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35행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499262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이미 준비한 평가 시트 행 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6주차 예정 · 완료한 평가 수가 아님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17320"/>
            <a:ext cx="5358384" cy="2761488"/>
          </a:xfrm>
          <a:prstGeom prst="rect">
            <a:avLst/>
          </a:prstGeom>
          <a:solidFill>
            <a:srgbClr val="20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81912"/>
            <a:ext cx="499262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순위 재확인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4992624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시드 3개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090672"/>
            <a:ext cx="499262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가르친 모델 제품 연결 검토와 함께 진행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6주차 예정 · 현재 순위 확정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8"/>
            <a:ext cx="10652760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화면의 실제 응답 확인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규정 색인 개선을 분류기 뒤에서 다시 측정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13832"/>
            <a:ext cx="1065276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Jev 계열 후보: Plumb-4B · spark-s1-4b-v6 · jevify-gemma4-e4b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0" lang="ko-KR">
                <a:solidFill>
                  <a:srgbClr val="D4E1E8"/>
                </a:solidFill>
                <a:latin typeface="맑은 고딕"/>
                <a:ea typeface="맑은 고딕"/>
                <a:cs typeface="맑은 고딕"/>
              </a:rPr>
              <a:t>같은 방법으로 가르쳐 비교 예정 · GPU 서버 B 대기열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triPilot 5주차 진행경과</dc:title>
  <dc:subject>2026-09-29 ~ 2026-10-06 스탠드업</dc:subject>
  <dc:creator>triPilot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